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say that this deck holds the parts of the project that are about evidence and honesty rather than code. State the two claims the deck settles immediately: the step splitter is rule-based rather than a language model, and no child was recorded. Say that the register of unbuilt work is a slide in this deck rather than a footnote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out the four sections and say that the register at the end is the part the supervisor asked for directly. Mention that every claim in the deck is traceable either to a published NHS source or to a figure in the report. Say the deck deliberately spends as much time on what is missing as on what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say what you owned: sourcing the exercise content, documenting the method, the ethics position and the honest register. Explain that documentation work here meant checking claims against the code rather than describing intentions. The peer contribution split shown here is the one agreed for the individual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without dramatising it: this is a translation problem, not a diagnosis problem. Say that the NHS guidance is thorough and that the difficulty is in its form rather than its content. The platform intervenes at exactly that translation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parent's task concretely, because it is the whole justification for the project. Emphasise that the source text is never hidden — the original description is always shown alongside the generated steps. State the boundary clearly: no diagnosis, no prescription, no replacement of clinical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platform in one pass, then make the architectural point: the privacy properties come from having no backend rather than from a policy document. Note that resting positions such as the thirty-minute prone lie are never scaled by the difficulty setting, because scaling a rest is not meaningful. Be honest about the cost of that choice — no saved history and no therapist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provenance rule: an exercise either cites a published leaflet or is labelled as general practice, with nothing in between. Point out that the four general-practice programmes are marked in the interface as well as in the report, so a parent can see the difference. Say that the source text is stored verbatim and shown alongside the generated steps, which was a direct response to supervisor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splitter as the component that does the translation the parent would otherwise do by hand. Say the answer to the obvious question first: it is not a language model. The rest of the section explains how it works and how well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supervisor's question in one sentence and then evidence it: no weights, no network call, deterministic output, and a parity test suite across two implementations. Be explicit that the adapter seam returns null, because a reader who finds the class name in the code deserves that explanation up front. Mention that 90 tests pass in total across the splitter, the pose coach and the Python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stages in order and highlight the two that do the most work: preserving existing structure, and only splitting on a connective when both halves are genuinely instructions. Explain the safety classification, because separating a warning from a step is a safety property rather than a formatting choice. Say that the same seven stages exist in both the JavaScript and the Python implementations and are tested for 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result without softening it: two exact matches out of ten. Then explain the disagreement, which is a difference in granularity rather than a difference in content — the leaflets cover several sub-exercises and a reviewed step often covers a whole one. Finish on the design response: the confidence score and the original text are shown in the interface rather than hidden behind a clean-looking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a specification rather than a wish list, because the supervisor asked for a clear next step for anything unimplemented. The clinical safety review is the requirement that dominates: a fabricated instruction is a safety failure, not a quality failure. Say that keeping the rule engine as a fallback is what would make the feature safe to attempt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final section as the evidence audit. Say that it covers the data the classifier was trained on, the ethics position behind it, and the register of unbuilt work. This is the section that answers the supervisor's request for an honest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sentence plainly and early: the dataset is synthetic and no child was recorded. Explain that the generator is seeded and derived from published descriptions, which makes it reproducible and defensible, but not evidence about children. Then give the list of claims the project refuses to make, because the refusals are the useful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documentation lead cares about this figure: it is the difference between a reported number and an auditable one. Give the three counts and note that the removals are dominated by frames missing a critical joint. Say that the decision not to impute is recorded with its reasoning, so a reviewer can disagree with it explicitly rather than discover it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table as the reference version of the numbers, since this deck is the documentation view. Point out the generalisation gap column as the reason the Random Forest was selected rather than the accuracy column. Insist on the wording rule: these numbers are always quoted with the synthetic-data qualifier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coach is consistent by construction — it checks the position the picture shows — and that consistency is not the same as clinical correctness. Give the tolerance range and immediately classify it as engineering judgement. Note that the graceful degradation behaviour is covered by the pose-coach tests, so the failure paths are tested even though the thresholds are unvalidated.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reasoning in the order a reviewer would ask for it: what would have been required, what we did instead, and what the platform does with data today. Emphasise that the privacy properties are architectural — there is no backend that could store anything. Close on the safety design: warnings are never presented as exercises to perform.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this table exists because the supervisor asked for an honest description with a clear next step for anything unimplemented. Read two or three rows aloud rather than all eight, and let the audience read the rest. Make the point that naming the next step is what turns a limitation into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statements of fact and do not add reassurance to any of them. The splitter figure is the one most likely to be challenged, so give it plainly and refer back to the granularity explanation. Close on the backend limitation, which is a design consequence rather than a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order and the reason for it: everything else is worth more once real data exists. Note that step three is the least expensive and disproportionately valuable, because it converts judgement into reviewed content. Finish on step five, which is the only step that tests whether the project achieves what it set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two answers the supervisor asked for directly: no language model, and a written register of unimplemented work with next steps. Offer to walk through the register or the source list in questions. Thank the supervisor for the feedback, which changed both the interface and the shape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566928" y="822960"/>
            <a:ext cx="11055096" cy="274320"/>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PROJECT A60  ·  MODULE 55-708252</a:t>
            </a:r>
            <a:endParaRPr lang="en-US" sz="1200" dirty="0"/>
          </a:p>
        </p:txBody>
      </p:sp>
      <p:sp>
        <p:nvSpPr>
          <p:cNvPr id="7" name="Text 4"/>
          <p:cNvSpPr/>
          <p:nvPr/>
        </p:nvSpPr>
        <p:spPr>
          <a:xfrm>
            <a:off x="566928" y="1207008"/>
            <a:ext cx="1042416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AI4Mobility</a:t>
            </a:r>
            <a:endParaRPr lang="en-US" sz="4200" dirty="0"/>
          </a:p>
        </p:txBody>
      </p:sp>
      <p:sp>
        <p:nvSpPr>
          <p:cNvPr id="8" name="Text 5"/>
          <p:cNvSpPr/>
          <p:nvPr/>
        </p:nvSpPr>
        <p:spPr>
          <a:xfrm>
            <a:off x="566928" y="2615184"/>
            <a:ext cx="9692640" cy="822960"/>
          </a:xfrm>
          <a:prstGeom prst="rect">
            <a:avLst/>
          </a:prstGeom>
          <a:noFill/>
          <a:ln/>
        </p:spPr>
        <p:txBody>
          <a:bodyPr wrap="square" lIns="0" tIns="0" rIns="0" bIns="0" rtlCol="0" anchor="t"/>
          <a:lstStyle/>
          <a:p>
            <a:pPr indent="0" marL="0">
              <a:lnSpc>
                <a:spcPct val="110000"/>
              </a:lnSpc>
              <a:buNone/>
            </a:pPr>
            <a:r>
              <a:rPr lang="en-US" sz="1500" dirty="0">
                <a:solidFill>
                  <a:srgbClr val="B9CEDD"/>
                </a:solidFill>
                <a:latin typeface="Calibri" pitchFamily="34" charset="0"/>
                <a:ea typeface="Calibri" pitchFamily="34" charset="-122"/>
                <a:cs typeface="Calibri" pitchFamily="34" charset="-120"/>
              </a:rPr>
              <a:t>A multimodal assistive platform for parents supporting children with mobility difficulties. This deck covers the problem, the sources, the step splitter, the ethics and the honest register of what is not built.</a:t>
            </a:r>
            <a:endParaRPr lang="en-US" sz="1500" dirty="0"/>
          </a:p>
        </p:txBody>
      </p:sp>
      <p:sp>
        <p:nvSpPr>
          <p:cNvPr id="9" name="Shape 6"/>
          <p:cNvSpPr/>
          <p:nvPr/>
        </p:nvSpPr>
        <p:spPr>
          <a:xfrm>
            <a:off x="566928" y="3611880"/>
            <a:ext cx="5852160" cy="1572768"/>
          </a:xfrm>
          <a:prstGeom prst="roundRect">
            <a:avLst>
              <a:gd name="adj" fmla="val 4070"/>
            </a:avLst>
          </a:prstGeom>
          <a:solidFill>
            <a:srgbClr val="2F6690"/>
          </a:solidFill>
          <a:ln w="9525">
            <a:solidFill>
              <a:srgbClr val="2F6690"/>
            </a:solidFill>
            <a:prstDash val="solid"/>
          </a:ln>
        </p:spPr>
      </p:sp>
      <p:sp>
        <p:nvSpPr>
          <p:cNvPr id="10" name="Text 7"/>
          <p:cNvSpPr/>
          <p:nvPr/>
        </p:nvSpPr>
        <p:spPr>
          <a:xfrm>
            <a:off x="841248" y="3785616"/>
            <a:ext cx="5303520" cy="237744"/>
          </a:xfrm>
          <a:prstGeom prst="rect">
            <a:avLst/>
          </a:prstGeom>
          <a:noFill/>
          <a:ln/>
        </p:spPr>
        <p:txBody>
          <a:bodyPr wrap="square" lIns="0" tIns="0" rIns="0" bIns="0" rtlCol="0" anchor="ctr"/>
          <a:lstStyle/>
          <a:p>
            <a:pPr indent="0" marL="0">
              <a:buNone/>
            </a:pPr>
            <a:r>
              <a:rPr lang="en-US" sz="950" b="1" spc="140" kern="0" dirty="0">
                <a:solidFill>
                  <a:srgbClr val="B9CEDD"/>
                </a:solidFill>
                <a:latin typeface="Calibri" pitchFamily="34" charset="0"/>
                <a:ea typeface="Calibri" pitchFamily="34" charset="-122"/>
                <a:cs typeface="Calibri" pitchFamily="34" charset="-120"/>
              </a:rPr>
              <a:t>PRESENTED BY</a:t>
            </a:r>
            <a:endParaRPr lang="en-US" sz="950" dirty="0"/>
          </a:p>
        </p:txBody>
      </p:sp>
      <p:sp>
        <p:nvSpPr>
          <p:cNvPr id="11" name="Text 8"/>
          <p:cNvSpPr/>
          <p:nvPr/>
        </p:nvSpPr>
        <p:spPr>
          <a:xfrm>
            <a:off x="841248" y="4041648"/>
            <a:ext cx="5303520" cy="42062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Dhanush Sanjay</a:t>
            </a:r>
            <a:endParaRPr lang="en-US" sz="2100" dirty="0"/>
          </a:p>
        </p:txBody>
      </p:sp>
      <p:sp>
        <p:nvSpPr>
          <p:cNvPr id="12" name="Text 9"/>
          <p:cNvSpPr/>
          <p:nvPr/>
        </p:nvSpPr>
        <p:spPr>
          <a:xfrm>
            <a:off x="841248" y="4498848"/>
            <a:ext cx="5303520" cy="457200"/>
          </a:xfrm>
          <a:prstGeom prst="rect">
            <a:avLst/>
          </a:prstGeom>
          <a:noFill/>
          <a:ln/>
        </p:spPr>
        <p:txBody>
          <a:bodyPr wrap="square" lIns="0" tIns="0" rIns="0" bIns="0" rtlCol="0" anchor="t"/>
          <a:lstStyle/>
          <a:p>
            <a:pPr indent="0" marL="0">
              <a:buNone/>
            </a:pPr>
            <a:r>
              <a:rPr lang="en-US" sz="1300" dirty="0">
                <a:solidFill>
                  <a:srgbClr val="B9CEDD"/>
                </a:solidFill>
                <a:latin typeface="Calibri" pitchFamily="34" charset="0"/>
                <a:ea typeface="Calibri" pitchFamily="34" charset="-122"/>
                <a:cs typeface="Calibri" pitchFamily="34" charset="-120"/>
              </a:rPr>
              <a:t>Research and documentation lead</a:t>
            </a:r>
            <a:endParaRPr lang="en-US" sz="1300" dirty="0"/>
          </a:p>
        </p:txBody>
      </p:sp>
      <p:sp>
        <p:nvSpPr>
          <p:cNvPr id="13" name="Shape 10"/>
          <p:cNvSpPr/>
          <p:nvPr/>
        </p:nvSpPr>
        <p:spPr>
          <a:xfrm>
            <a:off x="6720840" y="3611880"/>
            <a:ext cx="4901184" cy="1572768"/>
          </a:xfrm>
          <a:prstGeom prst="roundRect">
            <a:avLst>
              <a:gd name="adj" fmla="val 4070"/>
            </a:avLst>
          </a:prstGeom>
          <a:solidFill>
            <a:srgbClr val="1F4A68"/>
          </a:solidFill>
          <a:ln w="9525">
            <a:solidFill>
              <a:srgbClr val="355F7C"/>
            </a:solidFill>
            <a:prstDash val="solid"/>
          </a:ln>
        </p:spPr>
      </p:sp>
      <p:sp>
        <p:nvSpPr>
          <p:cNvPr id="14" name="Text 11"/>
          <p:cNvSpPr/>
          <p:nvPr/>
        </p:nvSpPr>
        <p:spPr>
          <a:xfrm>
            <a:off x="6995160" y="3785616"/>
            <a:ext cx="4352544" cy="1225296"/>
          </a:xfrm>
          <a:prstGeom prst="rect">
            <a:avLst/>
          </a:prstGeom>
          <a:noFill/>
          <a:ln/>
        </p:spPr>
        <p:txBody>
          <a:bodyPr wrap="square" lIns="0" tIns="0" rIns="0" bIns="0" rtlCol="0" anchor="ctr"/>
          <a:lstStyle/>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Sheffield Hallam University — MSc</a:t>
            </a:r>
            <a:endParaRPr lang="en-US" sz="1250" dirty="0"/>
          </a:p>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AI Research and Development Project</a:t>
            </a:r>
            <a:endParaRPr lang="en-US" sz="1250" dirty="0"/>
          </a:p>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Team Deepminds  ·  Supervisor: Alejandro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AGENDA</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deck covers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Background, method, evidence, and a register of what has not been built.</a:t>
            </a:r>
            <a:endParaRPr lang="en-US" sz="1350" dirty="0"/>
          </a:p>
        </p:txBody>
      </p:sp>
      <p:sp>
        <p:nvSpPr>
          <p:cNvPr id="9" name="Shape 6"/>
          <p:cNvSpPr/>
          <p:nvPr/>
        </p:nvSpPr>
        <p:spPr>
          <a:xfrm>
            <a:off x="566928" y="218541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1854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1488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Problem and background</a:t>
            </a:r>
            <a:endParaRPr lang="en-US" sz="1500" dirty="0"/>
          </a:p>
        </p:txBody>
      </p:sp>
      <p:sp>
        <p:nvSpPr>
          <p:cNvPr id="12" name="Text 9"/>
          <p:cNvSpPr/>
          <p:nvPr/>
        </p:nvSpPr>
        <p:spPr>
          <a:xfrm>
            <a:off x="1097280" y="2441448"/>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Why parents need this, and where the ten exercise programmes come from.</a:t>
            </a:r>
            <a:endParaRPr lang="en-US" sz="1200" dirty="0"/>
          </a:p>
        </p:txBody>
      </p:sp>
      <p:sp>
        <p:nvSpPr>
          <p:cNvPr id="13" name="Shape 10"/>
          <p:cNvSpPr/>
          <p:nvPr/>
        </p:nvSpPr>
        <p:spPr>
          <a:xfrm>
            <a:off x="566928" y="3118104"/>
            <a:ext cx="365760" cy="365760"/>
          </a:xfrm>
          <a:prstGeom prst="ellipse">
            <a:avLst/>
          </a:prstGeom>
          <a:solidFill>
            <a:srgbClr val="2F6690"/>
          </a:solidFill>
          <a:ln w="6350">
            <a:solidFill>
              <a:srgbClr val="2F6690"/>
            </a:solidFill>
            <a:prstDash val="solid"/>
          </a:ln>
        </p:spPr>
      </p:sp>
      <p:sp>
        <p:nvSpPr>
          <p:cNvPr id="14" name="Text 11"/>
          <p:cNvSpPr/>
          <p:nvPr/>
        </p:nvSpPr>
        <p:spPr>
          <a:xfrm>
            <a:off x="566928" y="311810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30815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step splitter</a:t>
            </a:r>
            <a:endParaRPr lang="en-US" sz="1500" dirty="0"/>
          </a:p>
        </p:txBody>
      </p:sp>
      <p:sp>
        <p:nvSpPr>
          <p:cNvPr id="16" name="Text 13"/>
          <p:cNvSpPr/>
          <p:nvPr/>
        </p:nvSpPr>
        <p:spPr>
          <a:xfrm>
            <a:off x="1097280" y="3374136"/>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seven-stage rule-based pipeline — not a language model — and how well it does.</a:t>
            </a:r>
            <a:endParaRPr lang="en-US" sz="1200" dirty="0"/>
          </a:p>
        </p:txBody>
      </p:sp>
      <p:sp>
        <p:nvSpPr>
          <p:cNvPr id="17" name="Shape 14"/>
          <p:cNvSpPr/>
          <p:nvPr/>
        </p:nvSpPr>
        <p:spPr>
          <a:xfrm>
            <a:off x="566928" y="4050792"/>
            <a:ext cx="365760" cy="365760"/>
          </a:xfrm>
          <a:prstGeom prst="ellipse">
            <a:avLst/>
          </a:prstGeom>
          <a:solidFill>
            <a:srgbClr val="2F6690"/>
          </a:solidFill>
          <a:ln w="6350">
            <a:solidFill>
              <a:srgbClr val="2F6690"/>
            </a:solidFill>
            <a:prstDash val="solid"/>
          </a:ln>
        </p:spPr>
      </p:sp>
      <p:sp>
        <p:nvSpPr>
          <p:cNvPr id="18" name="Text 15"/>
          <p:cNvSpPr/>
          <p:nvPr/>
        </p:nvSpPr>
        <p:spPr>
          <a:xfrm>
            <a:off x="566928" y="40507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40142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Evidence and ethics</a:t>
            </a:r>
            <a:endParaRPr lang="en-US" sz="1500" dirty="0"/>
          </a:p>
        </p:txBody>
      </p:sp>
      <p:sp>
        <p:nvSpPr>
          <p:cNvPr id="20" name="Text 17"/>
          <p:cNvSpPr/>
          <p:nvPr/>
        </p:nvSpPr>
        <p:spPr>
          <a:xfrm>
            <a:off x="1097280" y="4306824"/>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Synthetic data, the results it supports, and why no children were recorded.</a:t>
            </a:r>
            <a:endParaRPr lang="en-US" sz="1200" dirty="0"/>
          </a:p>
        </p:txBody>
      </p:sp>
      <p:sp>
        <p:nvSpPr>
          <p:cNvPr id="21" name="Shape 18"/>
          <p:cNvSpPr/>
          <p:nvPr/>
        </p:nvSpPr>
        <p:spPr>
          <a:xfrm>
            <a:off x="566928" y="4983480"/>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94690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honest register</a:t>
            </a:r>
            <a:endParaRPr lang="en-US" sz="1500" dirty="0"/>
          </a:p>
        </p:txBody>
      </p:sp>
      <p:sp>
        <p:nvSpPr>
          <p:cNvPr id="24" name="Text 21"/>
          <p:cNvSpPr/>
          <p:nvPr/>
        </p:nvSpPr>
        <p:spPr>
          <a:xfrm>
            <a:off x="1097280" y="5239512"/>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Built, partly built and not built, each with a stated next step.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TEAM</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Team Deepminds — four roles, one platform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members, four defined responsibilities. This deck presents the research and documentation work.</a:t>
            </a:r>
            <a:endParaRPr lang="en-US" sz="1350" dirty="0"/>
          </a:p>
        </p:txBody>
      </p:sp>
      <p:sp>
        <p:nvSpPr>
          <p:cNvPr id="9" name="Shape 6"/>
          <p:cNvSpPr/>
          <p:nvPr/>
        </p:nvSpPr>
        <p:spPr>
          <a:xfrm>
            <a:off x="566928" y="2093976"/>
            <a:ext cx="5390388" cy="1783080"/>
          </a:xfrm>
          <a:prstGeom prst="roundRect">
            <a:avLst>
              <a:gd name="adj" fmla="val 3590"/>
            </a:avLst>
          </a:prstGeom>
          <a:solidFill>
            <a:srgbClr val="F4F7FA"/>
          </a:solidFill>
          <a:ln w="9525">
            <a:solidFill>
              <a:srgbClr val="DDE6EC"/>
            </a:solidFill>
            <a:prstDash val="solid"/>
          </a:ln>
        </p:spPr>
      </p:sp>
      <p:sp>
        <p:nvSpPr>
          <p:cNvPr id="10" name="Text 7"/>
          <p:cNvSpPr/>
          <p:nvPr/>
        </p:nvSpPr>
        <p:spPr>
          <a:xfrm>
            <a:off x="822960"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Krushna Sai Teja Adhala</a:t>
            </a:r>
            <a:endParaRPr lang="en-US" sz="1700" dirty="0"/>
          </a:p>
        </p:txBody>
      </p:sp>
      <p:sp>
        <p:nvSpPr>
          <p:cNvPr id="11" name="Text 8"/>
          <p:cNvSpPr/>
          <p:nvPr/>
        </p:nvSpPr>
        <p:spPr>
          <a:xfrm>
            <a:off x="822960"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Data engineering and pipeline lead</a:t>
            </a:r>
            <a:endParaRPr lang="en-US" sz="1250" dirty="0"/>
          </a:p>
        </p:txBody>
      </p:sp>
      <p:sp>
        <p:nvSpPr>
          <p:cNvPr id="12" name="Text 9"/>
          <p:cNvSpPr/>
          <p:nvPr/>
        </p:nvSpPr>
        <p:spPr>
          <a:xfrm>
            <a:off x="822960"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28%</a:t>
            </a:r>
            <a:endParaRPr lang="en-US" sz="1100" dirty="0"/>
          </a:p>
        </p:txBody>
      </p:sp>
      <p:sp>
        <p:nvSpPr>
          <p:cNvPr id="13" name="Shape 10"/>
          <p:cNvSpPr/>
          <p:nvPr/>
        </p:nvSpPr>
        <p:spPr>
          <a:xfrm>
            <a:off x="6231636" y="2093976"/>
            <a:ext cx="5390388" cy="1783080"/>
          </a:xfrm>
          <a:prstGeom prst="roundRect">
            <a:avLst>
              <a:gd name="adj" fmla="val 3590"/>
            </a:avLst>
          </a:prstGeom>
          <a:solidFill>
            <a:srgbClr val="F4F7FA"/>
          </a:solidFill>
          <a:ln w="9525">
            <a:solidFill>
              <a:srgbClr val="DDE6EC"/>
            </a:solidFill>
            <a:prstDash val="solid"/>
          </a:ln>
        </p:spPr>
      </p:sp>
      <p:sp>
        <p:nvSpPr>
          <p:cNvPr id="14" name="Text 11"/>
          <p:cNvSpPr/>
          <p:nvPr/>
        </p:nvSpPr>
        <p:spPr>
          <a:xfrm>
            <a:off x="6487668"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Ailuri Rupa Sri</a:t>
            </a:r>
            <a:endParaRPr lang="en-US" sz="1700" dirty="0"/>
          </a:p>
        </p:txBody>
      </p:sp>
      <p:sp>
        <p:nvSpPr>
          <p:cNvPr id="15" name="Text 12"/>
          <p:cNvSpPr/>
          <p:nvPr/>
        </p:nvSpPr>
        <p:spPr>
          <a:xfrm>
            <a:off x="6487668"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Model development and evaluation lead</a:t>
            </a:r>
            <a:endParaRPr lang="en-US" sz="1250" dirty="0"/>
          </a:p>
        </p:txBody>
      </p:sp>
      <p:sp>
        <p:nvSpPr>
          <p:cNvPr id="16" name="Text 13"/>
          <p:cNvSpPr/>
          <p:nvPr/>
        </p:nvSpPr>
        <p:spPr>
          <a:xfrm>
            <a:off x="6487668"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26%</a:t>
            </a:r>
            <a:endParaRPr lang="en-US" sz="1100" dirty="0"/>
          </a:p>
        </p:txBody>
      </p:sp>
      <p:sp>
        <p:nvSpPr>
          <p:cNvPr id="17" name="Shape 14"/>
          <p:cNvSpPr/>
          <p:nvPr/>
        </p:nvSpPr>
        <p:spPr>
          <a:xfrm>
            <a:off x="566928" y="4151376"/>
            <a:ext cx="5390388" cy="1783080"/>
          </a:xfrm>
          <a:prstGeom prst="roundRect">
            <a:avLst>
              <a:gd name="adj" fmla="val 3590"/>
            </a:avLst>
          </a:prstGeom>
          <a:solidFill>
            <a:srgbClr val="F4F7FA"/>
          </a:solidFill>
          <a:ln w="9525">
            <a:solidFill>
              <a:srgbClr val="DDE6EC"/>
            </a:solidFill>
            <a:prstDash val="solid"/>
          </a:ln>
        </p:spPr>
      </p:sp>
      <p:sp>
        <p:nvSpPr>
          <p:cNvPr id="18" name="Text 15"/>
          <p:cNvSpPr/>
          <p:nvPr/>
        </p:nvSpPr>
        <p:spPr>
          <a:xfrm>
            <a:off x="822960"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Nandi Reddy Shashidhar Reddy</a:t>
            </a:r>
            <a:endParaRPr lang="en-US" sz="1700" dirty="0"/>
          </a:p>
        </p:txBody>
      </p:sp>
      <p:sp>
        <p:nvSpPr>
          <p:cNvPr id="19" name="Text 16"/>
          <p:cNvSpPr/>
          <p:nvPr/>
        </p:nvSpPr>
        <p:spPr>
          <a:xfrm>
            <a:off x="822960"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Pose estimation and visualisation lead</a:t>
            </a:r>
            <a:endParaRPr lang="en-US" sz="1250" dirty="0"/>
          </a:p>
        </p:txBody>
      </p:sp>
      <p:sp>
        <p:nvSpPr>
          <p:cNvPr id="20" name="Text 17"/>
          <p:cNvSpPr/>
          <p:nvPr/>
        </p:nvSpPr>
        <p:spPr>
          <a:xfrm>
            <a:off x="822960"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24%</a:t>
            </a:r>
            <a:endParaRPr lang="en-US" sz="1100" dirty="0"/>
          </a:p>
        </p:txBody>
      </p:sp>
      <p:sp>
        <p:nvSpPr>
          <p:cNvPr id="21" name="Shape 18"/>
          <p:cNvSpPr/>
          <p:nvPr/>
        </p:nvSpPr>
        <p:spPr>
          <a:xfrm>
            <a:off x="6231636" y="4151376"/>
            <a:ext cx="5390388" cy="1783080"/>
          </a:xfrm>
          <a:prstGeom prst="roundRect">
            <a:avLst>
              <a:gd name="adj" fmla="val 3590"/>
            </a:avLst>
          </a:prstGeom>
          <a:solidFill>
            <a:srgbClr val="2F6690"/>
          </a:solidFill>
          <a:ln w="9525">
            <a:solidFill>
              <a:srgbClr val="2F6690"/>
            </a:solidFill>
            <a:prstDash val="solid"/>
          </a:ln>
          <a:effectLst>
            <a:outerShdw sx="100000" sy="100000" kx="0" ky="0" algn="bl" rotWithShape="0" blurRad="101600" dist="25400" dir="5400000">
              <a:srgbClr val="9FB3C2">
                <a:alpha val="25000"/>
              </a:srgbClr>
            </a:outerShdw>
          </a:effectLst>
        </p:spPr>
      </p:sp>
      <p:sp>
        <p:nvSpPr>
          <p:cNvPr id="22" name="Text 19"/>
          <p:cNvSpPr/>
          <p:nvPr/>
        </p:nvSpPr>
        <p:spPr>
          <a:xfrm>
            <a:off x="6487668" y="4401007"/>
            <a:ext cx="3653028"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Dhanush Sanjay</a:t>
            </a:r>
            <a:endParaRPr lang="en-US" sz="1700" dirty="0"/>
          </a:p>
        </p:txBody>
      </p:sp>
      <p:sp>
        <p:nvSpPr>
          <p:cNvPr id="23" name="Text 20"/>
          <p:cNvSpPr/>
          <p:nvPr/>
        </p:nvSpPr>
        <p:spPr>
          <a:xfrm>
            <a:off x="6487668" y="4864608"/>
            <a:ext cx="4878324"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Research and documentation lead</a:t>
            </a:r>
            <a:endParaRPr lang="en-US" sz="1250" dirty="0"/>
          </a:p>
        </p:txBody>
      </p:sp>
      <p:sp>
        <p:nvSpPr>
          <p:cNvPr id="24" name="Text 21"/>
          <p:cNvSpPr/>
          <p:nvPr/>
        </p:nvSpPr>
        <p:spPr>
          <a:xfrm>
            <a:off x="6487668" y="5328209"/>
            <a:ext cx="4878324" cy="310896"/>
          </a:xfrm>
          <a:prstGeom prst="rect">
            <a:avLst/>
          </a:prstGeom>
          <a:noFill/>
          <a:ln/>
        </p:spPr>
        <p:txBody>
          <a:bodyPr wrap="square" lIns="0" tIns="0" rIns="0" bIns="0" rtlCol="0" anchor="ctr"/>
          <a:lstStyle/>
          <a:p>
            <a:pPr indent="0" marL="0">
              <a:buNone/>
            </a:pPr>
            <a:r>
              <a:rPr lang="en-US" sz="1100" dirty="0">
                <a:solidFill>
                  <a:srgbClr val="B9CEDD"/>
                </a:solidFill>
                <a:latin typeface="Calibri" pitchFamily="34" charset="0"/>
                <a:ea typeface="Calibri" pitchFamily="34" charset="-122"/>
                <a:cs typeface="Calibri" pitchFamily="34" charset="-120"/>
              </a:rPr>
              <a:t>Peer contribution split: 22%</a:t>
            </a:r>
            <a:endParaRPr lang="en-US" sz="1100" dirty="0"/>
          </a:p>
        </p:txBody>
      </p:sp>
      <p:sp>
        <p:nvSpPr>
          <p:cNvPr id="25" name="Text 22"/>
          <p:cNvSpPr/>
          <p:nvPr/>
        </p:nvSpPr>
        <p:spPr>
          <a:xfrm>
            <a:off x="10204704" y="4465015"/>
            <a:ext cx="1161288" cy="256032"/>
          </a:xfrm>
          <a:prstGeom prst="rect">
            <a:avLst/>
          </a:prstGeom>
          <a:solidFill>
            <a:srgbClr val="FFFFFF"/>
          </a:solidFill>
          <a:ln/>
        </p:spPr>
        <p:txBody>
          <a:bodyPr wrap="square" lIns="0" tIns="0" rIns="0" bIns="0" rtlCol="0" anchor="ctr"/>
          <a:lstStyle/>
          <a:p>
            <a:pPr algn="ctr" indent="0" marL="0">
              <a:buNone/>
            </a:pPr>
            <a:r>
              <a:rPr lang="en-US" sz="900" b="1" spc="120" kern="0" dirty="0">
                <a:solidFill>
                  <a:srgbClr val="1F4A68"/>
                </a:solidFill>
                <a:latin typeface="Calibri" pitchFamily="34" charset="0"/>
                <a:ea typeface="Calibri" pitchFamily="34" charset="-122"/>
                <a:cs typeface="Calibri" pitchFamily="34" charset="-120"/>
              </a:rPr>
              <a:t>THIS DECK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Problem and background</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Home physiotherapy arrives as continuous prose. A parent has to turn it into a sequence of correctly performed movements, unsupervised.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PROBLEM</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From prose to practice, at home, every day</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Who this is for</a:t>
            </a:r>
            <a:endParaRPr lang="en-US" sz="1500" dirty="0"/>
          </a:p>
        </p:txBody>
      </p:sp>
      <p:sp>
        <p:nvSpPr>
          <p:cNvPr id="11" name="Text 8"/>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Children with cerebral palsy, developmental delay, or recovering from injury, who are prescribed home physiotherapy.</a:t>
            </a:r>
            <a:endParaRPr lang="en-US" sz="1200" dirty="0"/>
          </a:p>
        </p:txBody>
      </p:sp>
      <p:sp>
        <p:nvSpPr>
          <p:cNvPr id="12" name="Shape 9"/>
          <p:cNvSpPr/>
          <p:nvPr/>
        </p:nvSpPr>
        <p:spPr>
          <a:xfrm>
            <a:off x="566928" y="2439619"/>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43961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What the parent receives</a:t>
            </a:r>
            <a:endParaRPr lang="en-US" sz="1500" dirty="0"/>
          </a:p>
        </p:txBody>
      </p:sp>
      <p:sp>
        <p:nvSpPr>
          <p:cNvPr id="15" name="Text 12"/>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Thorough but text-heavy guidance: continuous prose describing a whole set of exercises.</a:t>
            </a:r>
            <a:endParaRPr lang="en-US" sz="1200" dirty="0"/>
          </a:p>
        </p:txBody>
      </p:sp>
      <p:sp>
        <p:nvSpPr>
          <p:cNvPr id="16" name="Shape 13"/>
          <p:cNvSpPr/>
          <p:nvPr/>
        </p:nvSpPr>
        <p:spPr>
          <a:xfrm>
            <a:off x="566928" y="3343046"/>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3430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What the parent has to do with it</a:t>
            </a:r>
            <a:endParaRPr lang="en-US" sz="1500" dirty="0"/>
          </a:p>
        </p:txBody>
      </p:sp>
      <p:sp>
        <p:nvSpPr>
          <p:cNvPr id="19" name="Text 16"/>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Translate it into a sequence of correctly performed movements, unsupervised, often daily.</a:t>
            </a:r>
            <a:endParaRPr lang="en-US" sz="1200" dirty="0"/>
          </a:p>
        </p:txBody>
      </p:sp>
      <p:sp>
        <p:nvSpPr>
          <p:cNvPr id="20" name="Shape 17"/>
          <p:cNvSpPr/>
          <p:nvPr/>
        </p:nvSpPr>
        <p:spPr>
          <a:xfrm>
            <a:off x="566928" y="4246474"/>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24647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Where the platform intervenes</a:t>
            </a:r>
            <a:endParaRPr lang="en-US" sz="1500" dirty="0"/>
          </a:p>
        </p:txBody>
      </p:sp>
      <p:sp>
        <p:nvSpPr>
          <p:cNvPr id="23" name="Text 20"/>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At the translation step: steps, a picture per step, adjustable repetitions and holds, and read-aloud support.</a:t>
            </a:r>
            <a:endParaRPr lang="en-US" sz="1200" dirty="0"/>
          </a:p>
        </p:txBody>
      </p:sp>
      <p:sp>
        <p:nvSpPr>
          <p:cNvPr id="24" name="Shape 21"/>
          <p:cNvSpPr/>
          <p:nvPr/>
        </p:nvSpPr>
        <p:spPr>
          <a:xfrm>
            <a:off x="566928" y="5149901"/>
            <a:ext cx="365760" cy="365760"/>
          </a:xfrm>
          <a:prstGeom prst="ellipse">
            <a:avLst/>
          </a:prstGeom>
          <a:solidFill>
            <a:srgbClr val="2F6690"/>
          </a:solidFill>
          <a:ln w="6350">
            <a:solidFill>
              <a:srgbClr val="2F6690"/>
            </a:solidFill>
            <a:prstDash val="solid"/>
          </a:ln>
        </p:spPr>
      </p:sp>
      <p:sp>
        <p:nvSpPr>
          <p:cNvPr id="25" name="Text 22"/>
          <p:cNvSpPr/>
          <p:nvPr/>
        </p:nvSpPr>
        <p:spPr>
          <a:xfrm>
            <a:off x="566928" y="514990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What it deliberately does not do</a:t>
            </a:r>
            <a:endParaRPr lang="en-US" sz="1500" dirty="0"/>
          </a:p>
        </p:txBody>
      </p:sp>
      <p:sp>
        <p:nvSpPr>
          <p:cNvPr id="27" name="Text 24"/>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It does not diagnose, prescribe or replace a physiotherapist, and the source text stays visible throughout.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WHAT WAS BUILT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A single self-contained page, with no backend at all</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No server, no accounts, no storage, no tracking. The privacy position is a consequence of the architecture.</a:t>
            </a:r>
            <a:endParaRPr lang="en-US" sz="1350" dirty="0"/>
          </a:p>
        </p:txBody>
      </p:sp>
      <p:sp>
        <p:nvSpPr>
          <p:cNvPr id="9" name="Shape 6"/>
          <p:cNvSpPr/>
          <p:nvPr/>
        </p:nvSpPr>
        <p:spPr>
          <a:xfrm>
            <a:off x="566928" y="2233452"/>
            <a:ext cx="5372100" cy="3352800"/>
          </a:xfrm>
          <a:prstGeom prst="roundRect">
            <a:avLst>
              <a:gd name="adj" fmla="val 1909"/>
            </a:avLst>
          </a:prstGeom>
          <a:solidFill>
            <a:srgbClr val="F4F7FA"/>
          </a:solidFill>
          <a:ln w="9525">
            <a:solidFill>
              <a:srgbClr val="DDE6EC"/>
            </a:solidFill>
            <a:prstDash val="solid"/>
          </a:ln>
        </p:spPr>
      </p:sp>
      <p:sp>
        <p:nvSpPr>
          <p:cNvPr id="10" name="Text 7"/>
          <p:cNvSpPr/>
          <p:nvPr/>
        </p:nvSpPr>
        <p:spPr>
          <a:xfrm>
            <a:off x="822960" y="241633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 platform offers</a:t>
            </a:r>
            <a:endParaRPr lang="en-US" sz="1500" dirty="0"/>
          </a:p>
        </p:txBody>
      </p:sp>
      <p:sp>
        <p:nvSpPr>
          <p:cNvPr id="11" name="Text 8"/>
          <p:cNvSpPr/>
          <p:nvPr/>
        </p:nvSpPr>
        <p:spPr>
          <a:xfrm>
            <a:off x="822960" y="2836956"/>
            <a:ext cx="4860036" cy="2566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Ten exercise programmes with the original source description always displayed.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 editable description box: Convert to steps rebuilds the step list from any text.</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Personalisation by focus area, with difficulty scaling repetitions and holds.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Read this step and Read full guide, using the browser speech interface.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Accessibility: larger text, high contrast, reduced motion, keyboard navigation and ARIA labelling.</a:t>
            </a:r>
            <a:endParaRPr lang="en-US" sz="1250" dirty="0"/>
          </a:p>
        </p:txBody>
      </p:sp>
      <p:sp>
        <p:nvSpPr>
          <p:cNvPr id="12" name="Shape 9"/>
          <p:cNvSpPr/>
          <p:nvPr/>
        </p:nvSpPr>
        <p:spPr>
          <a:xfrm>
            <a:off x="6249924" y="2233452"/>
            <a:ext cx="5372100" cy="3352800"/>
          </a:xfrm>
          <a:prstGeom prst="roundRect">
            <a:avLst>
              <a:gd name="adj" fmla="val 1909"/>
            </a:avLst>
          </a:prstGeom>
          <a:solidFill>
            <a:srgbClr val="F4F7FA"/>
          </a:solidFill>
          <a:ln w="9525">
            <a:solidFill>
              <a:srgbClr val="DDE6EC"/>
            </a:solidFill>
            <a:prstDash val="solid"/>
          </a:ln>
        </p:spPr>
      </p:sp>
      <p:sp>
        <p:nvSpPr>
          <p:cNvPr id="13" name="Text 10"/>
          <p:cNvSpPr/>
          <p:nvPr/>
        </p:nvSpPr>
        <p:spPr>
          <a:xfrm>
            <a:off x="6505956" y="241633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that architecture means</a:t>
            </a:r>
            <a:endParaRPr lang="en-US" sz="1500" dirty="0"/>
          </a:p>
        </p:txBody>
      </p:sp>
      <p:sp>
        <p:nvSpPr>
          <p:cNvPr id="14" name="Text 11"/>
          <p:cNvSpPr/>
          <p:nvPr/>
        </p:nvSpPr>
        <p:spPr>
          <a:xfrm>
            <a:off x="6505956" y="2836956"/>
            <a:ext cx="4860036" cy="2566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Nothing a family types or performs leaves their device.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There is no account to create and no history to leak.</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pose coach runs on-device, so no video is uploaded or recorded.</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trade-off is real: no saved progress and no therapist dashboard.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PROVENANCE</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Ten programmes, and where each one comes from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Five are sourced from published NHS leaflets. The rest are labelled as general practice.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3749040"/>
                <a:gridCol w="914400"/>
                <a:gridCol w="6391656"/>
              </a:tblGrid>
              <a:tr h="32918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Programme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Steps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Lower Limb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Sheffield Children's NHS — General lower limb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Core and Hip Stability</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Sheffield Children's NHS — Core and hip stability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Glute Strengthening</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Sheffield Children's NHS — Glute strengthening</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Calf Control</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Sheffield Children's NHS — Calf control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Wrist and Hand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Sheffield Children's NHS — Wrist exercises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Thread the Needle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Yoga Basics — Threading the Needle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Child's Pose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General practice (labelled as such)</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Cat–Cow Stretch</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General practice (labelled as such)</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Standing Balance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General practice (labelled as such)</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Seated Upper Body</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General practice (labelled as such)</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bl>
          </a:graphicData>
        </a:graphic>
      </p:graphicFrame>
      <p:sp>
        <p:nvSpPr>
          <p:cNvPr id="10" name="Text 6"/>
          <p:cNvSpPr/>
          <p:nvPr/>
        </p:nvSpPr>
        <p:spPr>
          <a:xfrm>
            <a:off x="566928" y="5650992"/>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Source URLs are listed in the report and in the About and sources section of the platform itself.</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step splitter</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A rule-based linguistic pipeline that turns a description into steps. No model weights, no network call.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9</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ANSWERING THE QUESTION DIRECTLY</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splitter is NOT a language model</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The supervisor asked whether an LLM splits the exercises into steps. It does not, and the report says so explicitly.</a:t>
            </a:r>
            <a:endParaRPr lang="en-US" sz="1350" dirty="0"/>
          </a:p>
        </p:txBody>
      </p:sp>
      <p:sp>
        <p:nvSpPr>
          <p:cNvPr id="9" name="Shape 6"/>
          <p:cNvSpPr/>
          <p:nvPr/>
        </p:nvSpPr>
        <p:spPr>
          <a:xfrm>
            <a:off x="566928" y="2475260"/>
            <a:ext cx="5372100" cy="2641600"/>
          </a:xfrm>
          <a:prstGeom prst="roundRect">
            <a:avLst>
              <a:gd name="adj" fmla="val 2423"/>
            </a:avLst>
          </a:prstGeom>
          <a:solidFill>
            <a:srgbClr val="F4F7FA"/>
          </a:solidFill>
          <a:ln w="9525">
            <a:solidFill>
              <a:srgbClr val="DDE6EC"/>
            </a:solidFill>
            <a:prstDash val="solid"/>
          </a:ln>
        </p:spPr>
      </p:sp>
      <p:sp>
        <p:nvSpPr>
          <p:cNvPr id="10" name="Text 7"/>
          <p:cNvSpPr/>
          <p:nvPr/>
        </p:nvSpPr>
        <p:spPr>
          <a:xfrm>
            <a:off x="822960" y="265814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it is</a:t>
            </a:r>
            <a:endParaRPr lang="en-US" sz="1500" dirty="0"/>
          </a:p>
        </p:txBody>
      </p:sp>
      <p:sp>
        <p:nvSpPr>
          <p:cNvPr id="11" name="Text 8"/>
          <p:cNvSpPr/>
          <p:nvPr/>
        </p:nvSpPr>
        <p:spPr>
          <a:xfrm>
            <a:off x="822960" y="307876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rule-based linguistic splitter, implemented in JavaScript for the platform and mirrored in Python for the notebook.</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model weights are loaded and no network call is made.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Deterministic and inspectable: the same text always produces the same steps.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Verified by 24 JavaScript splitter tests and 41 Python checks including full parity between the two implementations.</a:t>
            </a:r>
            <a:endParaRPr lang="en-US" sz="1250" dirty="0"/>
          </a:p>
        </p:txBody>
      </p:sp>
      <p:sp>
        <p:nvSpPr>
          <p:cNvPr id="12" name="Shape 9"/>
          <p:cNvSpPr/>
          <p:nvPr/>
        </p:nvSpPr>
        <p:spPr>
          <a:xfrm>
            <a:off x="6249924" y="2475260"/>
            <a:ext cx="5372100" cy="2641600"/>
          </a:xfrm>
          <a:prstGeom prst="roundRect">
            <a:avLst>
              <a:gd name="adj" fmla="val 2423"/>
            </a:avLst>
          </a:prstGeom>
          <a:solidFill>
            <a:srgbClr val="FBEDE6"/>
          </a:solidFill>
          <a:ln w="9525">
            <a:solidFill>
              <a:srgbClr val="F0C9B6"/>
            </a:solidFill>
            <a:prstDash val="solid"/>
          </a:ln>
        </p:spPr>
      </p:sp>
      <p:sp>
        <p:nvSpPr>
          <p:cNvPr id="13" name="Text 10"/>
          <p:cNvSpPr/>
          <p:nvPr/>
        </p:nvSpPr>
        <p:spPr>
          <a:xfrm>
            <a:off x="6505956" y="265814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 adapter seam is</a:t>
            </a:r>
            <a:endParaRPr lang="en-US" sz="1500" dirty="0"/>
          </a:p>
        </p:txBody>
      </p:sp>
      <p:sp>
        <p:nvSpPr>
          <p:cNvPr id="14" name="Text 11"/>
          <p:cNvSpPr/>
          <p:nvPr/>
        </p:nvSpPr>
        <p:spPr>
          <a:xfrm>
            <a:off x="6505956" y="307876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 LLMSplitterAdapter exists in both implementations and returns null.</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It is not connected to any model or provider.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It is a seam for future work, not a hidden feature.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rule engine is the only thing that has ever produced a step in this project.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METHOD</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A seven-stage rule-based pipeline</a:t>
            </a:r>
            <a:endParaRPr lang="en-US" sz="2800" dirty="0"/>
          </a:p>
        </p:txBody>
      </p:sp>
      <p:sp>
        <p:nvSpPr>
          <p:cNvPr id="8" name="Shape 5"/>
          <p:cNvSpPr/>
          <p:nvPr/>
        </p:nvSpPr>
        <p:spPr>
          <a:xfrm>
            <a:off x="621792" y="1645920"/>
            <a:ext cx="146304" cy="146304"/>
          </a:xfrm>
          <a:prstGeom prst="ellipse">
            <a:avLst/>
          </a:prstGeom>
          <a:solidFill>
            <a:srgbClr val="E8734A"/>
          </a:solidFill>
          <a:ln w="6350">
            <a:solidFill>
              <a:srgbClr val="E8734A"/>
            </a:solidFill>
            <a:prstDash val="solid"/>
          </a:ln>
        </p:spPr>
      </p:sp>
      <p:sp>
        <p:nvSpPr>
          <p:cNvPr id="9" name="Text 6"/>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1. Normalise, then 2. detect existing structure</a:t>
            </a:r>
            <a:endParaRPr lang="en-US" sz="1500" dirty="0"/>
          </a:p>
        </p:txBody>
      </p:sp>
      <p:sp>
        <p:nvSpPr>
          <p:cNvPr id="10" name="Text 7"/>
          <p:cNvSpPr/>
          <p:nvPr/>
        </p:nvSpPr>
        <p:spPr>
          <a:xfrm>
            <a:off x="1097280" y="1792224"/>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Numbered or bulleted lists are preserved and never re-split, because the author already did the splitting.</a:t>
            </a:r>
            <a:endParaRPr lang="en-US" sz="1200" dirty="0"/>
          </a:p>
        </p:txBody>
      </p:sp>
      <p:sp>
        <p:nvSpPr>
          <p:cNvPr id="11" name="Shape 8"/>
          <p:cNvSpPr/>
          <p:nvPr/>
        </p:nvSpPr>
        <p:spPr>
          <a:xfrm>
            <a:off x="621792" y="2398776"/>
            <a:ext cx="146304" cy="146304"/>
          </a:xfrm>
          <a:prstGeom prst="ellipse">
            <a:avLst/>
          </a:prstGeom>
          <a:solidFill>
            <a:srgbClr val="E8734A"/>
          </a:solidFill>
          <a:ln w="6350">
            <a:solidFill>
              <a:srgbClr val="E8734A"/>
            </a:solidFill>
            <a:prstDash val="solid"/>
          </a:ln>
        </p:spPr>
      </p:sp>
      <p:sp>
        <p:nvSpPr>
          <p:cNvPr id="12" name="Text 9"/>
          <p:cNvSpPr/>
          <p:nvPr/>
        </p:nvSpPr>
        <p:spPr>
          <a:xfrm>
            <a:off x="1097280" y="2252472"/>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3. Segment into sentences</a:t>
            </a:r>
            <a:endParaRPr lang="en-US" sz="1500" dirty="0"/>
          </a:p>
        </p:txBody>
      </p:sp>
      <p:sp>
        <p:nvSpPr>
          <p:cNvPr id="13" name="Text 10"/>
          <p:cNvSpPr/>
          <p:nvPr/>
        </p:nvSpPr>
        <p:spPr>
          <a:xfrm>
            <a:off x="1097280" y="2545080"/>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With abbreviation and decimal protection, so "approx." and "1.5" do not end a sentence.</a:t>
            </a:r>
            <a:endParaRPr lang="en-US" sz="1200" dirty="0"/>
          </a:p>
        </p:txBody>
      </p:sp>
      <p:sp>
        <p:nvSpPr>
          <p:cNvPr id="14" name="Shape 11"/>
          <p:cNvSpPr/>
          <p:nvPr/>
        </p:nvSpPr>
        <p:spPr>
          <a:xfrm>
            <a:off x="621792" y="3151632"/>
            <a:ext cx="146304" cy="146304"/>
          </a:xfrm>
          <a:prstGeom prst="ellipse">
            <a:avLst/>
          </a:prstGeom>
          <a:solidFill>
            <a:srgbClr val="E8734A"/>
          </a:solidFill>
          <a:ln w="6350">
            <a:solidFill>
              <a:srgbClr val="E8734A"/>
            </a:solidFill>
            <a:prstDash val="solid"/>
          </a:ln>
        </p:spPr>
      </p:sp>
      <p:sp>
        <p:nvSpPr>
          <p:cNvPr id="15" name="Text 12"/>
          <p:cNvSpPr/>
          <p:nvPr/>
        </p:nvSpPr>
        <p:spPr>
          <a:xfrm>
            <a:off x="1097280" y="30053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4. Split on connectives</a:t>
            </a:r>
            <a:endParaRPr lang="en-US" sz="1500" dirty="0"/>
          </a:p>
        </p:txBody>
      </p:sp>
      <p:sp>
        <p:nvSpPr>
          <p:cNvPr id="16" name="Text 13"/>
          <p:cNvSpPr/>
          <p:nvPr/>
        </p:nvSpPr>
        <p:spPr>
          <a:xfrm>
            <a:off x="1097280" y="3297936"/>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On then, next, after that and semicolons — but only when both halves read as instructions.</a:t>
            </a:r>
            <a:endParaRPr lang="en-US" sz="1200" dirty="0"/>
          </a:p>
        </p:txBody>
      </p:sp>
      <p:sp>
        <p:nvSpPr>
          <p:cNvPr id="17" name="Shape 14"/>
          <p:cNvSpPr/>
          <p:nvPr/>
        </p:nvSpPr>
        <p:spPr>
          <a:xfrm>
            <a:off x="621792" y="3904488"/>
            <a:ext cx="146304" cy="146304"/>
          </a:xfrm>
          <a:prstGeom prst="ellipse">
            <a:avLst/>
          </a:prstGeom>
          <a:solidFill>
            <a:srgbClr val="E8734A"/>
          </a:solidFill>
          <a:ln w="6350">
            <a:solidFill>
              <a:srgbClr val="E8734A"/>
            </a:solidFill>
            <a:prstDash val="solid"/>
          </a:ln>
        </p:spPr>
      </p:sp>
      <p:sp>
        <p:nvSpPr>
          <p:cNvPr id="18" name="Text 15"/>
          <p:cNvSpPr/>
          <p:nvPr/>
        </p:nvSpPr>
        <p:spPr>
          <a:xfrm>
            <a:off x="1097280" y="375818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5. Classify each fragment</a:t>
            </a:r>
            <a:endParaRPr lang="en-US" sz="1500" dirty="0"/>
          </a:p>
        </p:txBody>
      </p:sp>
      <p:sp>
        <p:nvSpPr>
          <p:cNvPr id="19" name="Text 16"/>
          <p:cNvSpPr/>
          <p:nvPr/>
        </p:nvSpPr>
        <p:spPr>
          <a:xfrm>
            <a:off x="1097280" y="4050792"/>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As action, position, hold, reps, safety or context. Safety sentences are separated and never shown as steps to perform.</a:t>
            </a:r>
            <a:endParaRPr lang="en-US" sz="1200" dirty="0"/>
          </a:p>
        </p:txBody>
      </p:sp>
      <p:sp>
        <p:nvSpPr>
          <p:cNvPr id="20" name="Shape 17"/>
          <p:cNvSpPr/>
          <p:nvPr/>
        </p:nvSpPr>
        <p:spPr>
          <a:xfrm>
            <a:off x="621792" y="4657344"/>
            <a:ext cx="146304" cy="146304"/>
          </a:xfrm>
          <a:prstGeom prst="ellipse">
            <a:avLst/>
          </a:prstGeom>
          <a:solidFill>
            <a:srgbClr val="E8734A"/>
          </a:solidFill>
          <a:ln w="6350">
            <a:solidFill>
              <a:srgbClr val="E8734A"/>
            </a:solidFill>
            <a:prstDash val="solid"/>
          </a:ln>
        </p:spPr>
      </p:sp>
      <p:sp>
        <p:nvSpPr>
          <p:cNvPr id="21" name="Text 18"/>
          <p:cNvSpPr/>
          <p:nvPr/>
        </p:nvSpPr>
        <p:spPr>
          <a:xfrm>
            <a:off x="1097280" y="45110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6. Extract holds and repetitions</a:t>
            </a:r>
            <a:endParaRPr lang="en-US" sz="1500" dirty="0"/>
          </a:p>
        </p:txBody>
      </p:sp>
      <p:sp>
        <p:nvSpPr>
          <p:cNvPr id="22" name="Text 19"/>
          <p:cNvSpPr/>
          <p:nvPr/>
        </p:nvSpPr>
        <p:spPr>
          <a:xfrm>
            <a:off x="1097280" y="4803648"/>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Including word numerals such as "ten times" and ranges such as "5 to 10 seconds", which becomes an 8 second hold.</a:t>
            </a:r>
            <a:endParaRPr lang="en-US" sz="1200" dirty="0"/>
          </a:p>
        </p:txBody>
      </p:sp>
      <p:sp>
        <p:nvSpPr>
          <p:cNvPr id="23" name="Shape 20"/>
          <p:cNvSpPr/>
          <p:nvPr/>
        </p:nvSpPr>
        <p:spPr>
          <a:xfrm>
            <a:off x="621792" y="5410200"/>
            <a:ext cx="146304" cy="146304"/>
          </a:xfrm>
          <a:prstGeom prst="ellipse">
            <a:avLst/>
          </a:prstGeom>
          <a:solidFill>
            <a:srgbClr val="E8734A"/>
          </a:solidFill>
          <a:ln w="6350">
            <a:solidFill>
              <a:srgbClr val="E8734A"/>
            </a:solidFill>
            <a:prstDash val="solid"/>
          </a:ln>
        </p:spPr>
      </p:sp>
      <p:sp>
        <p:nvSpPr>
          <p:cNvPr id="24" name="Text 21"/>
          <p:cNvSpPr/>
          <p:nvPr/>
        </p:nvSpPr>
        <p:spPr>
          <a:xfrm>
            <a:off x="1097280" y="526389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7. Score confidence per step</a:t>
            </a:r>
            <a:endParaRPr lang="en-US" sz="1500" dirty="0"/>
          </a:p>
        </p:txBody>
      </p:sp>
      <p:sp>
        <p:nvSpPr>
          <p:cNvPr id="25" name="Text 22"/>
          <p:cNvSpPr/>
          <p:nvPr/>
        </p:nvSpPr>
        <p:spPr>
          <a:xfrm>
            <a:off x="1097280" y="5556504"/>
            <a:ext cx="10524744" cy="40538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Low-confidence context fragments are dropped, and the mean confidence is reported in the interface.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11</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How well the splitter does, stated plainly</a:t>
            </a:r>
            <a:endParaRPr lang="en-US" sz="2800" dirty="0"/>
          </a:p>
        </p:txBody>
      </p:sp>
      <p:sp>
        <p:nvSpPr>
          <p:cNvPr id="8" name="Shape 5"/>
          <p:cNvSpPr/>
          <p:nvPr/>
        </p:nvSpPr>
        <p:spPr>
          <a:xfrm>
            <a:off x="928785" y="1444752"/>
            <a:ext cx="6088565"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11_splitter.png">    </p:cNvPr>
          <p:cNvPicPr>
            <a:picLocks noChangeAspect="1"/>
          </p:cNvPicPr>
          <p:nvPr/>
        </p:nvPicPr>
        <p:blipFill>
          <a:blip r:embed="rId1"/>
          <a:stretch>
            <a:fillRect/>
          </a:stretch>
        </p:blipFill>
        <p:spPr>
          <a:xfrm>
            <a:off x="1038513" y="1554480"/>
            <a:ext cx="5869109"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11 — splitter output against reviewed step counts for the ten programmes.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The honest result</a:t>
            </a:r>
            <a:endParaRPr lang="en-US" sz="1400" dirty="0"/>
          </a:p>
        </p:txBody>
      </p:sp>
      <p:sp>
        <p:nvSpPr>
          <p:cNvPr id="12" name="Text 8"/>
          <p:cNvSpPr/>
          <p:nvPr/>
        </p:nvSpPr>
        <p:spPr>
          <a:xfrm>
            <a:off x="7726680" y="1938528"/>
            <a:ext cx="3895344" cy="2777109"/>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Exact match with the reviewed step list on 2 of 10 programmes.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Mean confidence across all programmes is 0.78.</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Mismatches are on multi-exercise NHS leaflets, where one reviewed step covers a whole sub-exercise.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splitter produces more steps in those cases, not different instructions.</a:t>
            </a:r>
            <a:endParaRPr lang="en-US" sz="1250" dirty="0"/>
          </a:p>
        </p:txBody>
      </p:sp>
      <p:sp>
        <p:nvSpPr>
          <p:cNvPr id="13" name="Shape 9"/>
          <p:cNvSpPr/>
          <p:nvPr/>
        </p:nvSpPr>
        <p:spPr>
          <a:xfrm>
            <a:off x="7726680" y="4916805"/>
            <a:ext cx="3895344" cy="1099947"/>
          </a:xfrm>
          <a:prstGeom prst="roundRect">
            <a:avLst>
              <a:gd name="adj" fmla="val 5819"/>
            </a:avLst>
          </a:prstGeom>
          <a:solidFill>
            <a:srgbClr val="FBEDE6"/>
          </a:solidFill>
          <a:ln w="9525">
            <a:solidFill>
              <a:srgbClr val="F0C9B6"/>
            </a:solidFill>
            <a:prstDash val="solid"/>
          </a:ln>
        </p:spPr>
      </p:sp>
      <p:sp>
        <p:nvSpPr>
          <p:cNvPr id="14" name="Text 10"/>
          <p:cNvSpPr/>
          <p:nvPr/>
        </p:nvSpPr>
        <p:spPr>
          <a:xfrm>
            <a:off x="7946136" y="5044821"/>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SHOWN, NOT HIDDEN</a:t>
            </a:r>
            <a:endParaRPr lang="en-US" sz="950" dirty="0"/>
          </a:p>
        </p:txBody>
      </p:sp>
      <p:sp>
        <p:nvSpPr>
          <p:cNvPr id="15" name="Text 11"/>
          <p:cNvSpPr/>
          <p:nvPr/>
        </p:nvSpPr>
        <p:spPr>
          <a:xfrm>
            <a:off x="7946136" y="5300853"/>
            <a:ext cx="3456432" cy="606171"/>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The interface displays the confidence and the original source text alongside the steps, so a parent can always see and check what was split.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FUTURE WORK</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connecting a language model would require</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things, none of them optional, before the adapter could be switched on.</a:t>
            </a:r>
            <a:endParaRPr lang="en-US" sz="1350" dirty="0"/>
          </a:p>
        </p:txBody>
      </p:sp>
      <p:sp>
        <p:nvSpPr>
          <p:cNvPr id="9" name="Shape 6"/>
          <p:cNvSpPr/>
          <p:nvPr/>
        </p:nvSpPr>
        <p:spPr>
          <a:xfrm>
            <a:off x="566928" y="204825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048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01168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server-side proxy holding the API key</a:t>
            </a:r>
            <a:endParaRPr lang="en-US" sz="1500" dirty="0"/>
          </a:p>
        </p:txBody>
      </p:sp>
      <p:sp>
        <p:nvSpPr>
          <p:cNvPr id="12" name="Text 9"/>
          <p:cNvSpPr/>
          <p:nvPr/>
        </p:nvSpPr>
        <p:spPr>
          <a:xfrm>
            <a:off x="1097280" y="2304288"/>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platform is a static page, so a key cannot live in the client. That means a backend, which the project deliberately does not have today.</a:t>
            </a:r>
            <a:endParaRPr lang="en-US" sz="1200" dirty="0"/>
          </a:p>
        </p:txBody>
      </p:sp>
      <p:sp>
        <p:nvSpPr>
          <p:cNvPr id="13" name="Shape 10"/>
          <p:cNvSpPr/>
          <p:nvPr/>
        </p:nvSpPr>
        <p:spPr>
          <a:xfrm>
            <a:off x="566928" y="2758885"/>
            <a:ext cx="365760" cy="365760"/>
          </a:xfrm>
          <a:prstGeom prst="ellipse">
            <a:avLst/>
          </a:prstGeom>
          <a:solidFill>
            <a:srgbClr val="2F6690"/>
          </a:solidFill>
          <a:ln w="6350">
            <a:solidFill>
              <a:srgbClr val="2F6690"/>
            </a:solidFill>
            <a:prstDash val="solid"/>
          </a:ln>
        </p:spPr>
      </p:sp>
      <p:sp>
        <p:nvSpPr>
          <p:cNvPr id="14" name="Text 11"/>
          <p:cNvSpPr/>
          <p:nvPr/>
        </p:nvSpPr>
        <p:spPr>
          <a:xfrm>
            <a:off x="566928" y="275888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272230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schema-constrained prompt and JSON validation</a:t>
            </a:r>
            <a:endParaRPr lang="en-US" sz="1500" dirty="0"/>
          </a:p>
        </p:txBody>
      </p:sp>
      <p:sp>
        <p:nvSpPr>
          <p:cNvPr id="16" name="Text 13"/>
          <p:cNvSpPr/>
          <p:nvPr/>
        </p:nvSpPr>
        <p:spPr>
          <a:xfrm>
            <a:off x="1097280" y="3014916"/>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With the rule engine kept as the fallback whenever validation fails.</a:t>
            </a:r>
            <a:endParaRPr lang="en-US" sz="1200" dirty="0"/>
          </a:p>
        </p:txBody>
      </p:sp>
      <p:sp>
        <p:nvSpPr>
          <p:cNvPr id="17" name="Shape 14"/>
          <p:cNvSpPr/>
          <p:nvPr/>
        </p:nvSpPr>
        <p:spPr>
          <a:xfrm>
            <a:off x="566928" y="3469513"/>
            <a:ext cx="365760" cy="365760"/>
          </a:xfrm>
          <a:prstGeom prst="ellipse">
            <a:avLst/>
          </a:prstGeom>
          <a:solidFill>
            <a:srgbClr val="2F6690"/>
          </a:solidFill>
          <a:ln w="6350">
            <a:solidFill>
              <a:srgbClr val="2F6690"/>
            </a:solidFill>
            <a:prstDash val="solid"/>
          </a:ln>
        </p:spPr>
      </p:sp>
      <p:sp>
        <p:nvSpPr>
          <p:cNvPr id="18" name="Text 15"/>
          <p:cNvSpPr/>
          <p:nvPr/>
        </p:nvSpPr>
        <p:spPr>
          <a:xfrm>
            <a:off x="566928" y="346951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3432937"/>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Rate limiting</a:t>
            </a:r>
            <a:endParaRPr lang="en-US" sz="1500" dirty="0"/>
          </a:p>
        </p:txBody>
      </p:sp>
      <p:sp>
        <p:nvSpPr>
          <p:cNvPr id="20" name="Text 17"/>
          <p:cNvSpPr/>
          <p:nvPr/>
        </p:nvSpPr>
        <p:spPr>
          <a:xfrm>
            <a:off x="1097280" y="3725545"/>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public page calling a paid model needs a limit before it is exposed to anyone.</a:t>
            </a:r>
            <a:endParaRPr lang="en-US" sz="1200" dirty="0"/>
          </a:p>
        </p:txBody>
      </p:sp>
      <p:sp>
        <p:nvSpPr>
          <p:cNvPr id="21" name="Shape 18"/>
          <p:cNvSpPr/>
          <p:nvPr/>
        </p:nvSpPr>
        <p:spPr>
          <a:xfrm>
            <a:off x="566928" y="4180142"/>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18014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14356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clinical safety review</a:t>
            </a:r>
            <a:endParaRPr lang="en-US" sz="1500" dirty="0"/>
          </a:p>
        </p:txBody>
      </p:sp>
      <p:sp>
        <p:nvSpPr>
          <p:cNvPr id="24" name="Text 21"/>
          <p:cNvSpPr/>
          <p:nvPr/>
        </p:nvSpPr>
        <p:spPr>
          <a:xfrm>
            <a:off x="1097280" y="4436174"/>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model can invent an instruction that was not in the source text. For physiotherapy instructions given to a child, that is the risk that matters.</a:t>
            </a:r>
            <a:endParaRPr lang="en-US" sz="1200" dirty="0"/>
          </a:p>
        </p:txBody>
      </p:sp>
      <p:sp>
        <p:nvSpPr>
          <p:cNvPr id="25" name="Shape 22"/>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26" name="Text 23"/>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STATUS</a:t>
            </a:r>
            <a:endParaRPr lang="en-US" sz="950" dirty="0"/>
          </a:p>
        </p:txBody>
      </p:sp>
      <p:sp>
        <p:nvSpPr>
          <p:cNvPr id="27" name="Text 24"/>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LLM-based step splitting is recorded as NOT built. The seam exists, the requirements are documented, and nothing in the platform pretends otherwise.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Evidence, ethics and honesty</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What the numbers rest on, why no children were recorded, and a register of everything that is not built.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14</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HONEST STATEMENT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dataset is synthetic</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Seeded, reproducible, and derived from published exercise descriptions — but not recorded video of children.</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it licenses us to claim</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pipeline is complete, runs end to end, and reproduces exactly under random_state=42.</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classes were constructed from published NHS descriptions, so they differ as the real exercises differ.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evaluation protocol is sound and would transfer unchanged to recorded data.</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project can describe precisely what it would do with real data.</a:t>
            </a:r>
            <a:endParaRPr lang="en-US" sz="1250" dirty="0"/>
          </a:p>
        </p:txBody>
      </p:sp>
      <p:sp>
        <p:nvSpPr>
          <p:cNvPr id="12" name="Shape 9"/>
          <p:cNvSpPr/>
          <p:nvPr/>
        </p:nvSpPr>
        <p:spPr>
          <a:xfrm>
            <a:off x="6249924" y="2406172"/>
            <a:ext cx="5372100" cy="2844800"/>
          </a:xfrm>
          <a:prstGeom prst="roundRect">
            <a:avLst>
              <a:gd name="adj" fmla="val 2250"/>
            </a:avLst>
          </a:prstGeom>
          <a:solidFill>
            <a:srgbClr val="FBEDE6"/>
          </a:solidFill>
          <a:ln w="9525">
            <a:solidFill>
              <a:srgbClr val="F0C9B6"/>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it does not license</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about accuracy on real children performing real physiotherapy.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clinical claim, and no claim of readiness for clinical use.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that the platform improves adherence, technique or outcomes.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No comparison against published results on recorded datasets.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3</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evidence trail: every removal is counted</a:t>
            </a:r>
            <a:endParaRPr lang="en-US" sz="2800" dirty="0"/>
          </a:p>
        </p:txBody>
      </p:sp>
      <p:sp>
        <p:nvSpPr>
          <p:cNvPr id="8" name="Shape 5"/>
          <p:cNvSpPr/>
          <p:nvPr/>
        </p:nvSpPr>
        <p:spPr>
          <a:xfrm>
            <a:off x="457200" y="1888231"/>
            <a:ext cx="7031736" cy="3355858"/>
          </a:xfrm>
          <a:prstGeom prst="roundRect">
            <a:avLst>
              <a:gd name="adj" fmla="val 1907"/>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3_cleaning.png">    </p:cNvPr>
          <p:cNvPicPr>
            <a:picLocks noChangeAspect="1"/>
          </p:cNvPicPr>
          <p:nvPr/>
        </p:nvPicPr>
        <p:blipFill>
          <a:blip r:embed="rId1"/>
          <a:stretch>
            <a:fillRect/>
          </a:stretch>
        </p:blipFill>
        <p:spPr>
          <a:xfrm>
            <a:off x="566928" y="1997959"/>
            <a:ext cx="6812280" cy="3136402"/>
          </a:xfrm>
          <a:prstGeom prst="rect">
            <a:avLst/>
          </a:prstGeom>
        </p:spPr>
      </p:pic>
      <p:sp>
        <p:nvSpPr>
          <p:cNvPr id="10" name="Text 6"/>
          <p:cNvSpPr/>
          <p:nvPr/>
        </p:nvSpPr>
        <p:spPr>
          <a:xfrm>
            <a:off x="566928" y="5317241"/>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3 — 11.3% of raw frames removed, broken down by reason.</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Why this belongs in a documentation deck</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1,358 raw frames, 153 removed, 1,205 usable.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Every removal is attributed to one of four stated rules.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landmark is imputed, because occlusion is pose-dependent and filling would manufacture samples for the hardest classes.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 reader can reconstruct the dataset from the report without reading the code.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RESULTS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classifier results, in full</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Three model families, identical data and identical splits. Measured on synthetic data.</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606040"/>
                <a:gridCol w="1600200"/>
                <a:gridCol w="1600200"/>
                <a:gridCol w="2423160"/>
                <a:gridCol w="1463040"/>
                <a:gridCol w="1362456"/>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macro F1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macro F1 (5-fold, train only)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Generalisation gap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66928">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0.928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0.935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0.955 ± 0.017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+0.037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Neural Network (MLP)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0.932</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389120"/>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Cross-validation is five-fold on the training partition only. The test set was scored once, after all model selection was complete.</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HOW TO QUOTE THESE NUMBERS</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Random Forest is the best model at 0.928 accuracy and 0.935 macro F1, with the smallest generalisation gap at +0.037. Every quotation of these figures must carry the phrase "measured on synthetic data".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12</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pose coach, and the limit of its authority</a:t>
            </a:r>
            <a:endParaRPr lang="en-US" sz="2800" dirty="0"/>
          </a:p>
        </p:txBody>
      </p:sp>
      <p:sp>
        <p:nvSpPr>
          <p:cNvPr id="8" name="Shape 5"/>
          <p:cNvSpPr/>
          <p:nvPr/>
        </p:nvSpPr>
        <p:spPr>
          <a:xfrm>
            <a:off x="779501" y="1444752"/>
            <a:ext cx="6387134"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12_coach_targets.png">    </p:cNvPr>
          <p:cNvPicPr>
            <a:picLocks noChangeAspect="1"/>
          </p:cNvPicPr>
          <p:nvPr/>
        </p:nvPicPr>
        <p:blipFill>
          <a:blip r:embed="rId1"/>
          <a:stretch>
            <a:fillRect/>
          </a:stretch>
        </p:blipFill>
        <p:spPr>
          <a:xfrm>
            <a:off x="889229" y="1554480"/>
            <a:ext cx="6167678"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12 — target joint angles per pose family, derived from the hand-authored pose bank.</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What is and is not established</a:t>
            </a:r>
            <a:endParaRPr lang="en-US" sz="1400" dirty="0"/>
          </a:p>
        </p:txBody>
      </p:sp>
      <p:sp>
        <p:nvSpPr>
          <p:cNvPr id="12" name="Text 8"/>
          <p:cNvSpPr/>
          <p:nvPr/>
        </p:nvSpPr>
        <p:spPr>
          <a:xfrm>
            <a:off x="7726680" y="1938528"/>
            <a:ext cx="3895344" cy="2777109"/>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Targets are derived from the same hand-authored pose bank the illustrations are drawn from.</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Four joints are checked: elbow, knee, hip and trunk.</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Tolerances of 20 to 24 degrees are engineering judgement, not clinical thresholds.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coach runs on-device and degrades cleanly if there is no camera, no permission, or no model.</a:t>
            </a:r>
            <a:endParaRPr lang="en-US" sz="1250" dirty="0"/>
          </a:p>
        </p:txBody>
      </p:sp>
      <p:sp>
        <p:nvSpPr>
          <p:cNvPr id="13" name="Shape 9"/>
          <p:cNvSpPr/>
          <p:nvPr/>
        </p:nvSpPr>
        <p:spPr>
          <a:xfrm>
            <a:off x="7726680" y="4916805"/>
            <a:ext cx="3895344" cy="1099947"/>
          </a:xfrm>
          <a:prstGeom prst="roundRect">
            <a:avLst>
              <a:gd name="adj" fmla="val 5819"/>
            </a:avLst>
          </a:prstGeom>
          <a:solidFill>
            <a:srgbClr val="FBEDE6"/>
          </a:solidFill>
          <a:ln w="9525">
            <a:solidFill>
              <a:srgbClr val="F0C9B6"/>
            </a:solidFill>
            <a:prstDash val="solid"/>
          </a:ln>
        </p:spPr>
      </p:sp>
      <p:sp>
        <p:nvSpPr>
          <p:cNvPr id="14" name="Text 10"/>
          <p:cNvSpPr/>
          <p:nvPr/>
        </p:nvSpPr>
        <p:spPr>
          <a:xfrm>
            <a:off x="7946136" y="5044821"/>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RECORDED AS NOT VALIDATED</a:t>
            </a:r>
            <a:endParaRPr lang="en-US" sz="950" dirty="0"/>
          </a:p>
        </p:txBody>
      </p:sp>
      <p:sp>
        <p:nvSpPr>
          <p:cNvPr id="15" name="Text 11"/>
          <p:cNvSpPr/>
          <p:nvPr/>
        </p:nvSpPr>
        <p:spPr>
          <a:xfrm>
            <a:off x="7946136" y="5300853"/>
            <a:ext cx="3456432" cy="606171"/>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Pose coach calibration is listed as NOT VALIDATED. No physiotherapist has reviewed the tolerances or the pose bank they come from.</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ETHICS AND SAFEGUARDING</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Why no children were recorded</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Recording children requires approval this project does not have</a:t>
            </a:r>
            <a:endParaRPr lang="en-US" sz="1500" dirty="0"/>
          </a:p>
        </p:txBody>
      </p:sp>
      <p:sp>
        <p:nvSpPr>
          <p:cNvPr id="11" name="Text 8"/>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Ethical approval, parental consent and safeguarding arrangements would all be needed before a single frame could be captured.</a:t>
            </a:r>
            <a:endParaRPr lang="en-US" sz="1200" dirty="0"/>
          </a:p>
        </p:txBody>
      </p:sp>
      <p:sp>
        <p:nvSpPr>
          <p:cNvPr id="12" name="Shape 9"/>
          <p:cNvSpPr/>
          <p:nvPr/>
        </p:nvSpPr>
        <p:spPr>
          <a:xfrm>
            <a:off x="566928" y="2439619"/>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43961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synthetic generator was the honest alternative</a:t>
            </a:r>
            <a:endParaRPr lang="en-US" sz="1500" dirty="0"/>
          </a:p>
        </p:txBody>
      </p:sp>
      <p:sp>
        <p:nvSpPr>
          <p:cNvPr id="15" name="Text 12"/>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It allows the whole pipeline to be built and tested without asking a child to be filmed for a taught project.</a:t>
            </a:r>
            <a:endParaRPr lang="en-US" sz="1200" dirty="0"/>
          </a:p>
        </p:txBody>
      </p:sp>
      <p:sp>
        <p:nvSpPr>
          <p:cNvPr id="16" name="Shape 13"/>
          <p:cNvSpPr/>
          <p:nvPr/>
        </p:nvSpPr>
        <p:spPr>
          <a:xfrm>
            <a:off x="566928" y="3343046"/>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3430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platform stores nothing</a:t>
            </a:r>
            <a:endParaRPr lang="en-US" sz="1500" dirty="0"/>
          </a:p>
        </p:txBody>
      </p:sp>
      <p:sp>
        <p:nvSpPr>
          <p:cNvPr id="19" name="Text 16"/>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server, no accounts, no storage, no tracking. Nothing a family types or performs leaves the device.</a:t>
            </a:r>
            <a:endParaRPr lang="en-US" sz="1200" dirty="0"/>
          </a:p>
        </p:txBody>
      </p:sp>
      <p:sp>
        <p:nvSpPr>
          <p:cNvPr id="20" name="Shape 17"/>
          <p:cNvSpPr/>
          <p:nvPr/>
        </p:nvSpPr>
        <p:spPr>
          <a:xfrm>
            <a:off x="566928" y="4246474"/>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24647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pose coach never uploads a frame</a:t>
            </a:r>
            <a:endParaRPr lang="en-US" sz="1500" dirty="0"/>
          </a:p>
        </p:txBody>
      </p:sp>
      <p:sp>
        <p:nvSpPr>
          <p:cNvPr id="23" name="Text 20"/>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Pose estimation runs on-device, and the video element is the only place the image exists.</a:t>
            </a:r>
            <a:endParaRPr lang="en-US" sz="1200" dirty="0"/>
          </a:p>
        </p:txBody>
      </p:sp>
      <p:sp>
        <p:nvSpPr>
          <p:cNvPr id="24" name="Shape 21"/>
          <p:cNvSpPr/>
          <p:nvPr/>
        </p:nvSpPr>
        <p:spPr>
          <a:xfrm>
            <a:off x="566928" y="5149901"/>
            <a:ext cx="365760" cy="365760"/>
          </a:xfrm>
          <a:prstGeom prst="ellipse">
            <a:avLst/>
          </a:prstGeom>
          <a:solidFill>
            <a:srgbClr val="2F6690"/>
          </a:solidFill>
          <a:ln w="6350">
            <a:solidFill>
              <a:srgbClr val="2F6690"/>
            </a:solidFill>
            <a:prstDash val="solid"/>
          </a:ln>
        </p:spPr>
      </p:sp>
      <p:sp>
        <p:nvSpPr>
          <p:cNvPr id="25" name="Text 22"/>
          <p:cNvSpPr/>
          <p:nvPr/>
        </p:nvSpPr>
        <p:spPr>
          <a:xfrm>
            <a:off x="566928" y="514990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interface stays inside its competence</a:t>
            </a:r>
            <a:endParaRPr lang="en-US" sz="1500" dirty="0"/>
          </a:p>
        </p:txBody>
      </p:sp>
      <p:sp>
        <p:nvSpPr>
          <p:cNvPr id="27" name="Text 24"/>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Safety sentences are separated from steps, the source text is always shown, and the platform does not diagnose or prescribe.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19</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HONEST REGISTER</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is not built, and what the next step would be</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Requested by the supervisor, and reproduced in the report as its own section.</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3200400"/>
                <a:gridCol w="1737360"/>
                <a:gridCol w="6117336"/>
              </a:tblGrid>
              <a:tr h="4450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Next step</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LLM-based step splitting</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built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Server-side key, schema validation, rate limiting, clinical safety review</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Real recorded dataset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obtained</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Ethical approval, consent and safeguarding, then record a small consented set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Temporal / sequence modelling</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built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Add sliding-window features and re-run the same model comparison</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Clinical validation</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done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Physiotherapist review of step lists, illustrations and coach tolerances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User evaluation</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done</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Evaluate with families: is the exercise done, and done correctly</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Accounts, history, therapist view</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built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Requires a backend, which brings data protection obligations with it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Generative illustrations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built</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46 hand-authored poses stand in for a generative vision model</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45008">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Pose coach calibration</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100" dirty="0">
                          <a:solidFill>
                            <a:srgbClr val="1C2B3A"/>
                          </a:solidFill>
                          <a:latin typeface="Calibri" pitchFamily="34" charset="0"/>
                          <a:ea typeface="Calibri" pitchFamily="34" charset="-122"/>
                          <a:cs typeface="Calibri" pitchFamily="34" charset="-120"/>
                        </a:rPr>
                        <a:t>NOT validated</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00" dirty="0">
                          <a:solidFill>
                            <a:srgbClr val="1C2B3A"/>
                          </a:solidFill>
                          <a:latin typeface="Calibri" pitchFamily="34" charset="0"/>
                          <a:ea typeface="Calibri" pitchFamily="34" charset="-122"/>
                          <a:cs typeface="Calibri" pitchFamily="34" charset="-120"/>
                        </a:rPr>
                        <a:t>20 to 24 degree tolerances are engineering judgement, not clinical thresholds</a:t>
                      </a:r>
                      <a:endParaRPr lang="en-US" sz="11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LIMITATIONS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the evidence cannot support</a:t>
            </a:r>
            <a:endParaRPr lang="en-US" sz="2800" dirty="0"/>
          </a:p>
        </p:txBody>
      </p:sp>
      <p:sp>
        <p:nvSpPr>
          <p:cNvPr id="8" name="Shape 5"/>
          <p:cNvSpPr/>
          <p:nvPr/>
        </p:nvSpPr>
        <p:spPr>
          <a:xfrm>
            <a:off x="621792" y="1645920"/>
            <a:ext cx="146304" cy="146304"/>
          </a:xfrm>
          <a:prstGeom prst="ellipse">
            <a:avLst/>
          </a:prstGeom>
          <a:solidFill>
            <a:srgbClr val="E8734A"/>
          </a:solidFill>
          <a:ln w="6350">
            <a:solidFill>
              <a:srgbClr val="E8734A"/>
            </a:solidFill>
            <a:prstDash val="solid"/>
          </a:ln>
        </p:spPr>
      </p:sp>
      <p:sp>
        <p:nvSpPr>
          <p:cNvPr id="9" name="Text 6"/>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result here describes a real child.</a:t>
            </a:r>
            <a:endParaRPr lang="en-US" sz="1500" dirty="0"/>
          </a:p>
        </p:txBody>
      </p:sp>
      <p:sp>
        <p:nvSpPr>
          <p:cNvPr id="10" name="Text 7"/>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dataset is synthetic, so every metric is a property of a seeded generator.</a:t>
            </a:r>
            <a:endParaRPr lang="en-US" sz="1200" dirty="0"/>
          </a:p>
        </p:txBody>
      </p:sp>
      <p:sp>
        <p:nvSpPr>
          <p:cNvPr id="11" name="Shape 8"/>
          <p:cNvSpPr/>
          <p:nvPr/>
        </p:nvSpPr>
        <p:spPr>
          <a:xfrm>
            <a:off x="621792" y="2549347"/>
            <a:ext cx="146304" cy="146304"/>
          </a:xfrm>
          <a:prstGeom prst="ellipse">
            <a:avLst/>
          </a:prstGeom>
          <a:solidFill>
            <a:srgbClr val="E8734A"/>
          </a:solidFill>
          <a:ln w="6350">
            <a:solidFill>
              <a:srgbClr val="E8734A"/>
            </a:solidFill>
            <a:prstDash val="solid"/>
          </a:ln>
        </p:spPr>
      </p:sp>
      <p:sp>
        <p:nvSpPr>
          <p:cNvPr id="12" name="Text 9"/>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clinician has reviewed the content.</a:t>
            </a:r>
            <a:endParaRPr lang="en-US" sz="1500" dirty="0"/>
          </a:p>
        </p:txBody>
      </p:sp>
      <p:sp>
        <p:nvSpPr>
          <p:cNvPr id="13" name="Text 10"/>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Step lists, illustrations and coach tolerances are unreviewed by a physiotherapist.</a:t>
            </a:r>
            <a:endParaRPr lang="en-US" sz="1200" dirty="0"/>
          </a:p>
        </p:txBody>
      </p:sp>
      <p:sp>
        <p:nvSpPr>
          <p:cNvPr id="14" name="Shape 11"/>
          <p:cNvSpPr/>
          <p:nvPr/>
        </p:nvSpPr>
        <p:spPr>
          <a:xfrm>
            <a:off x="621792" y="3452774"/>
            <a:ext cx="146304" cy="146304"/>
          </a:xfrm>
          <a:prstGeom prst="ellipse">
            <a:avLst/>
          </a:prstGeom>
          <a:solidFill>
            <a:srgbClr val="E8734A"/>
          </a:solidFill>
          <a:ln w="6350">
            <a:solidFill>
              <a:srgbClr val="E8734A"/>
            </a:solidFill>
            <a:prstDash val="solid"/>
          </a:ln>
        </p:spPr>
      </p:sp>
      <p:sp>
        <p:nvSpPr>
          <p:cNvPr id="15" name="Text 12"/>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family has used the platform.</a:t>
            </a:r>
            <a:endParaRPr lang="en-US" sz="1500" dirty="0"/>
          </a:p>
        </p:txBody>
      </p:sp>
      <p:sp>
        <p:nvSpPr>
          <p:cNvPr id="16" name="Text 13"/>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Usability, comprehension and adherence are all untested.</a:t>
            </a:r>
            <a:endParaRPr lang="en-US" sz="1200" dirty="0"/>
          </a:p>
        </p:txBody>
      </p:sp>
      <p:sp>
        <p:nvSpPr>
          <p:cNvPr id="17" name="Shape 14"/>
          <p:cNvSpPr/>
          <p:nvPr/>
        </p:nvSpPr>
        <p:spPr>
          <a:xfrm>
            <a:off x="621792" y="4356202"/>
            <a:ext cx="146304" cy="146304"/>
          </a:xfrm>
          <a:prstGeom prst="ellipse">
            <a:avLst/>
          </a:prstGeom>
          <a:solidFill>
            <a:srgbClr val="E8734A"/>
          </a:solidFill>
          <a:ln w="6350">
            <a:solidFill>
              <a:srgbClr val="E8734A"/>
            </a:solidFill>
            <a:prstDash val="solid"/>
          </a:ln>
        </p:spPr>
      </p:sp>
      <p:sp>
        <p:nvSpPr>
          <p:cNvPr id="18" name="Text 15"/>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splitter agrees exactly with the reviewed lists on 2 of 10 programmes.</a:t>
            </a:r>
            <a:endParaRPr lang="en-US" sz="1500" dirty="0"/>
          </a:p>
        </p:txBody>
      </p:sp>
      <p:sp>
        <p:nvSpPr>
          <p:cNvPr id="19" name="Text 16"/>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Mean confidence 0.78, with granularity differences on multi-exercise leaflets.</a:t>
            </a:r>
            <a:endParaRPr lang="en-US" sz="1200" dirty="0"/>
          </a:p>
        </p:txBody>
      </p:sp>
      <p:sp>
        <p:nvSpPr>
          <p:cNvPr id="20" name="Shape 17"/>
          <p:cNvSpPr/>
          <p:nvPr/>
        </p:nvSpPr>
        <p:spPr>
          <a:xfrm>
            <a:off x="621792" y="5259629"/>
            <a:ext cx="146304" cy="146304"/>
          </a:xfrm>
          <a:prstGeom prst="ellipse">
            <a:avLst/>
          </a:prstGeom>
          <a:solidFill>
            <a:srgbClr val="E8734A"/>
          </a:solidFill>
          <a:ln w="6350">
            <a:solidFill>
              <a:srgbClr val="E8734A"/>
            </a:solidFill>
            <a:prstDash val="solid"/>
          </a:ln>
        </p:spPr>
      </p:sp>
      <p:sp>
        <p:nvSpPr>
          <p:cNvPr id="21" name="Text 18"/>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There is no backend, so there is no continuity.</a:t>
            </a:r>
            <a:endParaRPr lang="en-US" sz="1500" dirty="0"/>
          </a:p>
        </p:txBody>
      </p:sp>
      <p:sp>
        <p:nvSpPr>
          <p:cNvPr id="22" name="Text 19"/>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saved history, no progress over time, and no therapist view of what happened.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NEXT STEPS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Future work, in priority order</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The five steps recorded in the report, in the order they should be taken.</a:t>
            </a:r>
            <a:endParaRPr lang="en-US" sz="1350" dirty="0"/>
          </a:p>
        </p:txBody>
      </p:sp>
      <p:sp>
        <p:nvSpPr>
          <p:cNvPr id="9" name="Shape 6"/>
          <p:cNvSpPr/>
          <p:nvPr/>
        </p:nvSpPr>
        <p:spPr>
          <a:xfrm>
            <a:off x="566928" y="204825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048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01168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1. Obtain ethical approval and record a consented dataset</a:t>
            </a:r>
            <a:endParaRPr lang="en-US" sz="1500" dirty="0"/>
          </a:p>
        </p:txBody>
      </p:sp>
      <p:sp>
        <p:nvSpPr>
          <p:cNvPr id="12" name="Text 9"/>
          <p:cNvSpPr/>
          <p:nvPr/>
        </p:nvSpPr>
        <p:spPr>
          <a:xfrm>
            <a:off x="1097280" y="2304288"/>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Even 20 participants would let every number in this project be re-derived from reality.</a:t>
            </a:r>
            <a:endParaRPr lang="en-US" sz="1200" dirty="0"/>
          </a:p>
        </p:txBody>
      </p:sp>
      <p:sp>
        <p:nvSpPr>
          <p:cNvPr id="13" name="Shape 10"/>
          <p:cNvSpPr/>
          <p:nvPr/>
        </p:nvSpPr>
        <p:spPr>
          <a:xfrm>
            <a:off x="566928" y="2849270"/>
            <a:ext cx="365760" cy="365760"/>
          </a:xfrm>
          <a:prstGeom prst="ellipse">
            <a:avLst/>
          </a:prstGeom>
          <a:solidFill>
            <a:srgbClr val="2F6690"/>
          </a:solidFill>
          <a:ln w="6350">
            <a:solidFill>
              <a:srgbClr val="2F6690"/>
            </a:solidFill>
            <a:prstDash val="solid"/>
          </a:ln>
        </p:spPr>
      </p:sp>
      <p:sp>
        <p:nvSpPr>
          <p:cNvPr id="14" name="Text 11"/>
          <p:cNvSpPr/>
          <p:nvPr/>
        </p:nvSpPr>
        <p:spPr>
          <a:xfrm>
            <a:off x="566928" y="284927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281269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2. Add temporal features and re-run the comparison</a:t>
            </a:r>
            <a:endParaRPr lang="en-US" sz="1500" dirty="0"/>
          </a:p>
        </p:txBody>
      </p:sp>
      <p:sp>
        <p:nvSpPr>
          <p:cNvPr id="16" name="Text 13"/>
          <p:cNvSpPr/>
          <p:nvPr/>
        </p:nvSpPr>
        <p:spPr>
          <a:xfrm>
            <a:off x="1097280" y="3105302"/>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confusion structure predicts exactly where the gain would appear.</a:t>
            </a:r>
            <a:endParaRPr lang="en-US" sz="1200" dirty="0"/>
          </a:p>
        </p:txBody>
      </p:sp>
      <p:sp>
        <p:nvSpPr>
          <p:cNvPr id="17" name="Shape 14"/>
          <p:cNvSpPr/>
          <p:nvPr/>
        </p:nvSpPr>
        <p:spPr>
          <a:xfrm>
            <a:off x="566928" y="3650285"/>
            <a:ext cx="365760" cy="365760"/>
          </a:xfrm>
          <a:prstGeom prst="ellipse">
            <a:avLst/>
          </a:prstGeom>
          <a:solidFill>
            <a:srgbClr val="2F6690"/>
          </a:solidFill>
          <a:ln w="6350">
            <a:solidFill>
              <a:srgbClr val="2F6690"/>
            </a:solidFill>
            <a:prstDash val="solid"/>
          </a:ln>
        </p:spPr>
      </p:sp>
      <p:sp>
        <p:nvSpPr>
          <p:cNvPr id="18" name="Text 15"/>
          <p:cNvSpPr/>
          <p:nvPr/>
        </p:nvSpPr>
        <p:spPr>
          <a:xfrm>
            <a:off x="566928" y="365028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361370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3. Have a physiotherapist review the step lists and tolerances</a:t>
            </a:r>
            <a:endParaRPr lang="en-US" sz="1500" dirty="0"/>
          </a:p>
        </p:txBody>
      </p:sp>
      <p:sp>
        <p:nvSpPr>
          <p:cNvPr id="20" name="Text 17"/>
          <p:cNvSpPr/>
          <p:nvPr/>
        </p:nvSpPr>
        <p:spPr>
          <a:xfrm>
            <a:off x="1097280" y="3906317"/>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cheapest step that changes what the project is allowed to claim.</a:t>
            </a:r>
            <a:endParaRPr lang="en-US" sz="1200" dirty="0"/>
          </a:p>
        </p:txBody>
      </p:sp>
      <p:sp>
        <p:nvSpPr>
          <p:cNvPr id="21" name="Shape 18"/>
          <p:cNvSpPr/>
          <p:nvPr/>
        </p:nvSpPr>
        <p:spPr>
          <a:xfrm>
            <a:off x="566928" y="4451299"/>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45129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41472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4. Connect a language model behind a validating proxy</a:t>
            </a:r>
            <a:endParaRPr lang="en-US" sz="1500" dirty="0"/>
          </a:p>
        </p:txBody>
      </p:sp>
      <p:sp>
        <p:nvSpPr>
          <p:cNvPr id="24" name="Text 21"/>
          <p:cNvSpPr/>
          <p:nvPr/>
        </p:nvSpPr>
        <p:spPr>
          <a:xfrm>
            <a:off x="1097280" y="4707331"/>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Keeping the rule engine as the fallback, with schema validation and a safety review.</a:t>
            </a:r>
            <a:endParaRPr lang="en-US" sz="1200" dirty="0"/>
          </a:p>
        </p:txBody>
      </p:sp>
      <p:sp>
        <p:nvSpPr>
          <p:cNvPr id="25" name="Shape 22"/>
          <p:cNvSpPr/>
          <p:nvPr/>
        </p:nvSpPr>
        <p:spPr>
          <a:xfrm>
            <a:off x="566928" y="5252314"/>
            <a:ext cx="365760" cy="365760"/>
          </a:xfrm>
          <a:prstGeom prst="ellipse">
            <a:avLst/>
          </a:prstGeom>
          <a:solidFill>
            <a:srgbClr val="2F6690"/>
          </a:solidFill>
          <a:ln w="6350">
            <a:solidFill>
              <a:srgbClr val="2F6690"/>
            </a:solidFill>
            <a:prstDash val="solid"/>
          </a:ln>
        </p:spPr>
      </p:sp>
      <p:sp>
        <p:nvSpPr>
          <p:cNvPr id="26" name="Text 23"/>
          <p:cNvSpPr/>
          <p:nvPr/>
        </p:nvSpPr>
        <p:spPr>
          <a:xfrm>
            <a:off x="566928" y="525231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4"/>
          <p:cNvSpPr/>
          <p:nvPr/>
        </p:nvSpPr>
        <p:spPr>
          <a:xfrm>
            <a:off x="1097280" y="521573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5. Evaluate with families</a:t>
            </a:r>
            <a:endParaRPr lang="en-US" sz="1500" dirty="0"/>
          </a:p>
        </p:txBody>
      </p:sp>
      <p:sp>
        <p:nvSpPr>
          <p:cNvPr id="28" name="Text 25"/>
          <p:cNvSpPr/>
          <p:nvPr/>
        </p:nvSpPr>
        <p:spPr>
          <a:xfrm>
            <a:off x="1097280" y="5508346"/>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Does the platform change whether the exercises get done, and done correctly?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Dhanush Sanjay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6" name="Text 3"/>
          <p:cNvSpPr/>
          <p:nvPr/>
        </p:nvSpPr>
        <p:spPr>
          <a:xfrm>
            <a:off x="566928" y="786384"/>
            <a:ext cx="11055096" cy="274320"/>
          </a:xfrm>
          <a:prstGeom prst="rect">
            <a:avLst/>
          </a:prstGeom>
          <a:noFill/>
          <a:ln/>
        </p:spPr>
        <p:txBody>
          <a:bodyPr wrap="square" lIns="0" tIns="0" rIns="0" bIns="0" rtlCol="0" anchor="ctr"/>
          <a:lstStyle/>
          <a:p>
            <a:pPr indent="0" marL="0">
              <a:buNone/>
            </a:pPr>
            <a:r>
              <a:rPr lang="en-US" sz="1100" b="1" spc="200" kern="0" dirty="0">
                <a:solidFill>
                  <a:srgbClr val="E8734A"/>
                </a:solidFill>
                <a:latin typeface="Calibri" pitchFamily="34" charset="0"/>
                <a:ea typeface="Calibri" pitchFamily="34" charset="-122"/>
                <a:cs typeface="Calibri" pitchFamily="34" charset="-120"/>
              </a:rPr>
              <a:t>IN CLOSING</a:t>
            </a:r>
            <a:endParaRPr lang="en-US" sz="1100" dirty="0"/>
          </a:p>
        </p:txBody>
      </p:sp>
      <p:sp>
        <p:nvSpPr>
          <p:cNvPr id="7" name="Text 4"/>
          <p:cNvSpPr/>
          <p:nvPr/>
        </p:nvSpPr>
        <p:spPr>
          <a:xfrm>
            <a:off x="566928" y="1133856"/>
            <a:ext cx="1060704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Say what was built, say what was not, say what is next</a:t>
            </a:r>
            <a:endParaRPr lang="en-US" sz="3200" dirty="0"/>
          </a:p>
        </p:txBody>
      </p:sp>
      <p:sp>
        <p:nvSpPr>
          <p:cNvPr id="8" name="Shape 5"/>
          <p:cNvSpPr/>
          <p:nvPr/>
        </p:nvSpPr>
        <p:spPr>
          <a:xfrm>
            <a:off x="566928" y="2286000"/>
            <a:ext cx="3514344" cy="1773936"/>
          </a:xfrm>
          <a:prstGeom prst="roundRect">
            <a:avLst>
              <a:gd name="adj" fmla="val 3608"/>
            </a:avLst>
          </a:prstGeom>
          <a:solidFill>
            <a:srgbClr val="2F6690"/>
          </a:solidFill>
          <a:ln w="9525">
            <a:solidFill>
              <a:srgbClr val="3C7AA6"/>
            </a:solidFill>
            <a:prstDash val="solid"/>
          </a:ln>
        </p:spPr>
      </p:sp>
      <p:sp>
        <p:nvSpPr>
          <p:cNvPr id="9" name="Text 6"/>
          <p:cNvSpPr/>
          <p:nvPr/>
        </p:nvSpPr>
        <p:spPr>
          <a:xfrm>
            <a:off x="786384"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Sourced, not invented</a:t>
            </a:r>
            <a:endParaRPr lang="en-US" sz="1400" dirty="0"/>
          </a:p>
        </p:txBody>
      </p:sp>
      <p:sp>
        <p:nvSpPr>
          <p:cNvPr id="10" name="Text 7"/>
          <p:cNvSpPr/>
          <p:nvPr/>
        </p:nvSpPr>
        <p:spPr>
          <a:xfrm>
            <a:off x="786384"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Ten programmes, five from published Sheffield Children's NHS leaflets, the rest labelled as general practice.</a:t>
            </a:r>
            <a:endParaRPr lang="en-US" sz="1150" dirty="0"/>
          </a:p>
        </p:txBody>
      </p:sp>
      <p:sp>
        <p:nvSpPr>
          <p:cNvPr id="11" name="Shape 8"/>
          <p:cNvSpPr/>
          <p:nvPr/>
        </p:nvSpPr>
        <p:spPr>
          <a:xfrm>
            <a:off x="4337304" y="2286000"/>
            <a:ext cx="3514344" cy="1773936"/>
          </a:xfrm>
          <a:prstGeom prst="roundRect">
            <a:avLst>
              <a:gd name="adj" fmla="val 3608"/>
            </a:avLst>
          </a:prstGeom>
          <a:solidFill>
            <a:srgbClr val="2F6690"/>
          </a:solidFill>
          <a:ln w="9525">
            <a:solidFill>
              <a:srgbClr val="3C7AA6"/>
            </a:solidFill>
            <a:prstDash val="solid"/>
          </a:ln>
        </p:spPr>
      </p:sp>
      <p:sp>
        <p:nvSpPr>
          <p:cNvPr id="12" name="Text 9"/>
          <p:cNvSpPr/>
          <p:nvPr/>
        </p:nvSpPr>
        <p:spPr>
          <a:xfrm>
            <a:off x="4556760"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Rule-based, and said so</a:t>
            </a:r>
            <a:endParaRPr lang="en-US" sz="1400" dirty="0"/>
          </a:p>
        </p:txBody>
      </p:sp>
      <p:sp>
        <p:nvSpPr>
          <p:cNvPr id="13" name="Text 10"/>
          <p:cNvSpPr/>
          <p:nvPr/>
        </p:nvSpPr>
        <p:spPr>
          <a:xfrm>
            <a:off x="4556760"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A seven-stage deterministic splitter, no language model, an adapter seam that returns null and is documented as such.</a:t>
            </a:r>
            <a:endParaRPr lang="en-US" sz="1150" dirty="0"/>
          </a:p>
        </p:txBody>
      </p:sp>
      <p:sp>
        <p:nvSpPr>
          <p:cNvPr id="14" name="Shape 11"/>
          <p:cNvSpPr/>
          <p:nvPr/>
        </p:nvSpPr>
        <p:spPr>
          <a:xfrm>
            <a:off x="8107680" y="2286000"/>
            <a:ext cx="3514344" cy="1773936"/>
          </a:xfrm>
          <a:prstGeom prst="roundRect">
            <a:avLst>
              <a:gd name="adj" fmla="val 3608"/>
            </a:avLst>
          </a:prstGeom>
          <a:solidFill>
            <a:srgbClr val="2F6690"/>
          </a:solidFill>
          <a:ln w="9525">
            <a:solidFill>
              <a:srgbClr val="3C7AA6"/>
            </a:solidFill>
            <a:prstDash val="solid"/>
          </a:ln>
        </p:spPr>
      </p:sp>
      <p:sp>
        <p:nvSpPr>
          <p:cNvPr id="15" name="Text 12"/>
          <p:cNvSpPr/>
          <p:nvPr/>
        </p:nvSpPr>
        <p:spPr>
          <a:xfrm>
            <a:off x="8327136"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Honest by construction</a:t>
            </a:r>
            <a:endParaRPr lang="en-US" sz="1400" dirty="0"/>
          </a:p>
        </p:txBody>
      </p:sp>
      <p:sp>
        <p:nvSpPr>
          <p:cNvPr id="16" name="Text 13"/>
          <p:cNvSpPr/>
          <p:nvPr/>
        </p:nvSpPr>
        <p:spPr>
          <a:xfrm>
            <a:off x="8327136"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Synthetic data declared, 2 of 10 exact splitter matches published, eight unbuilt items each with a next step.</a:t>
            </a:r>
            <a:endParaRPr lang="en-US" sz="1150" dirty="0"/>
          </a:p>
        </p:txBody>
      </p:sp>
      <p:sp>
        <p:nvSpPr>
          <p:cNvPr id="17" name="Text 14"/>
          <p:cNvSpPr/>
          <p:nvPr/>
        </p:nvSpPr>
        <p:spPr>
          <a:xfrm>
            <a:off x="566928" y="4315968"/>
            <a:ext cx="10607040" cy="822960"/>
          </a:xfrm>
          <a:prstGeom prst="rect">
            <a:avLst/>
          </a:prstGeom>
          <a:noFill/>
          <a:ln/>
        </p:spPr>
        <p:txBody>
          <a:bodyPr wrap="square" lIns="0" tIns="0" rIns="0" bIns="0" rtlCol="0" anchor="t"/>
          <a:lstStyle/>
          <a:p>
            <a:pPr indent="0" marL="0">
              <a:lnSpc>
                <a:spcPct val="110000"/>
              </a:lnSpc>
              <a:buNone/>
            </a:pPr>
            <a:r>
              <a:rPr lang="en-US" sz="1700" i="1" dirty="0">
                <a:solidFill>
                  <a:srgbClr val="FFFFFF"/>
                </a:solidFill>
                <a:latin typeface="Cambria" pitchFamily="34" charset="0"/>
                <a:ea typeface="Cambria" pitchFamily="34" charset="-122"/>
                <a:cs typeface="Cambria" pitchFamily="34" charset="-120"/>
              </a:rPr>
              <a:t>A project is more useful when its limits are written down than when they are discovered by the reader.</a:t>
            </a:r>
            <a:endParaRPr lang="en-US" sz="1700" dirty="0"/>
          </a:p>
        </p:txBody>
      </p:sp>
      <p:sp>
        <p:nvSpPr>
          <p:cNvPr id="18" name="Text 15"/>
          <p:cNvSpPr/>
          <p:nvPr/>
        </p:nvSpPr>
        <p:spPr>
          <a:xfrm>
            <a:off x="566928" y="5248656"/>
            <a:ext cx="10607040" cy="731520"/>
          </a:xfrm>
          <a:prstGeom prst="rect">
            <a:avLst/>
          </a:prstGeom>
          <a:noFill/>
          <a:ln/>
        </p:spPr>
        <p:txBody>
          <a:bodyPr wrap="square" lIns="0" tIns="0" rIns="0" bIns="0" rtlCol="0" anchor="t"/>
          <a:lstStyle/>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Dhanush Sanjay  ·  Research and documentation lead</a:t>
            </a:r>
            <a:endParaRPr lang="en-US" sz="1200" dirty="0"/>
          </a:p>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Project A60  ·  Module 55-708252  ·  Sheffield Hallam University  ·  Team Deepminds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Sheffield Hallam University — Team Deepminds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AI4Mobility — research, sources and honest reporting</dc:title>
  <dc:subject>A60 AI4Mobility, module 55-708252</dc:subject>
  <dc:creator>Dhanush Sanjay</dc:creator>
  <cp:lastModifiedBy>Dhanush Sanjay</cp:lastModifiedBy>
  <cp:revision>1</cp:revision>
  <dcterms:created xsi:type="dcterms:W3CDTF">2026-08-18T00:09:17Z</dcterms:created>
  <dcterms:modified xsi:type="dcterms:W3CDTF">2026-08-18T00:09:17Z</dcterms:modified>
</cp:coreProperties>
</file>