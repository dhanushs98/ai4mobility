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say that this deck is about the modelling and, more importantly, about the evaluation protocol around it. State the headline early: three models, all within half a point of each other, and the interesting differences are in generalisation rather than accuracy. Say plainly that every figure is measured on synthetic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sections briefly and flag that results occupy the largest share of the deck. Point out that per-class metrics come before headline accuracy on purpose. Say that the limitations section names things the numbers cannot decide, rather than listing generic caveats.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say what you owned: model selection, hyperparameters, the evaluation protocol and the results analysis. Make the dependency explicit — the split and the features arrived from the data workstream, and the protocol was agreed before any model was fitted. The peer contribution split shown here is the one agreed for the individual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modelling section with the caveat rather than closing with it, so no number in the deck is heard without it. Explain that a synthetic dataset still supports a genuine comparison, because all three models see exactly the same data and the same splits. Then name what it cannot support, particularly any claim about readiness for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section as a design decision rather than a survey. Say that a single model would have left us unable to tell a data property from a model property. The three families were fitted on identical inputs so any difference is attributable.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purpose of three models is attribution, not a competition for the highest number. The agreement across families on the weakest classes is the single most useful result in this deck. Note that trees and a neural network see the same 45 features, so nothing in the comparison depends on different preprocessing.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each row and give the reason rather than reading the settings aloud. Stress that these were fixed before the test set was scored, so none of them was tuned to the number being reported. Mention that the MLP's iteration ceiling was raised until convergence warnings stopped, and convergence was then monitored through the loss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constraint was applied deliberately and that the unconstrained behaviour was checked rather than assumed. The important number is the gap: +0.037 for the constrained forest against +0.077 for the two models that reach a perfect training score. Say that this is why the report leads on the gap rather than on accuracy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protocol as the part of the work that decides whether any number is worth quoting. Say that it was agreed and written down before models were fitted. The two rules that matter are where cross-validation runs and how often the test set is 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rules and note that each one exists to stop a specific way of accidentally inflating a score. The test set being scored once is the rule that is easiest to break and hardest to detect afterwards. Point out that the cross-validation score is higher than the test score, and that publishing both is the honest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argument from the application: this system gives feedback to a parent, so an exercise class that is quietly misread is a worse failure than a slightly lower average. Explain that macro F1 weights every class equally, which is why it is the selection metric. Flag the small support for calf_control now, before its perfect score appears in the next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that the numbers are about to arrive and that they should be read as a comparison rather than a score. The interesting story is in the gap column and in the per-class breakdown. Remind the audience once more that this is synthetic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accuracy column first and point out that 0.928 against 0.923 is not a meaningful separation on 195 test frames. Then move to the gap column, where the difference is substantial and consistent. Say that the Random Forest was selected on macro F1 and on the gap together, not on accuracy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figure to show visually how small the accuracy differences are, which is the argument for looking elsewhere for a decision. Explain the error bars and note that the Random Forest has both the highest cross-validated score and the widest cross-validation lead. Say that the test set was scored once and after all selection, which the figure caption repeats.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two bars that reach a perfect training score and say plainly that this is memorisation, not skill. Explain that the gap is only interpretable because whole subjects were held out, so the test frames are genuinely unseen. Say that this figure, more than the accuracy table, is what selected the final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attention to the fact that the same two classes are weakest for all three families, which points at the data rather than the algorithm. Explain that these are precisely the classes the generator was built to make confusable. Add the caveat about calf_control: a perfect score on 14 frames is not a strong result, it is a small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two highlighted rows first, since they are the classes that limit the model. Point at thread_the_needle, where precision is 0.950 but recall is 0.864 — the model misses it rather than over-predicting it. Then contrast childs_pose, where recall is perfect and precision is the lowest in the table, which means it is being over-predicted.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off-diagonal cells as a pattern rather than as individual mistakes, because the pattern is what carries the argument. The model is failing on frames that genuinely look alike at one instant, which is exactly the limitation of frame-level features. Say that this is the strongest evidence for the temporal modelling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two numbers first — 77 per cent for positions and 14 per cent for distances — and then say the sentence that must not be said: angles do not dominate. Explain why the intuition is wrong: once coordinates are hip-centred and divided by torso length, position already encodes most of the pose. Note that this is also a caution about reading feature importance as a causal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synthetic caveat once more, because it governs every other item. Be specific about the small test set rather than describing it as a general limitation. Close on the absence of temporal modelling, which is both the largest limitation and the clearest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temporal features, because the confusion analysis makes a specific prediction about where they would help. Explain that the second step would change the status of every number rather than the numbers themselves. Mention calibrated confidence as the change that would most improve safety in real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points and repeat that all results are measured on synthetic data. Offer to walk through the per-class table or the cross-validation setup in questions. Thank the supervisor for the request for an explicitly honest description, which shaped how the results are presented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A68"/>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B9CEDD"/>
                </a:solidFill>
                <a:latin typeface="Calibri" pitchFamily="34" charset="0"/>
                <a:ea typeface="Calibri" pitchFamily="34" charset="-122"/>
                <a:cs typeface="Calibri" pitchFamily="34" charset="-120"/>
              </a:rPr>
              <a:t>A60 AI4Mobility  ·  Ailuri Rupa Sri  ·  Team Deepminds</a:t>
            </a:r>
            <a:endParaRPr lang="en-US" sz="900" dirty="0"/>
          </a:p>
        </p:txBody>
      </p:sp>
      <p:sp>
        <p:nvSpPr>
          <p:cNvPr id="3" name="Shape 1"/>
          <p:cNvSpPr/>
          <p:nvPr/>
        </p:nvSpPr>
        <p:spPr>
          <a:xfrm>
            <a:off x="11283696" y="6245352"/>
            <a:ext cx="320040" cy="320040"/>
          </a:xfrm>
          <a:prstGeom prst="ellipse">
            <a:avLst/>
          </a:prstGeom>
          <a:solidFill>
            <a:srgbClr val="E8734A"/>
          </a:solidFill>
          <a:ln w="9525">
            <a:solidFill>
              <a:srgbClr val="E8734A"/>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6" name="Text 3"/>
          <p:cNvSpPr/>
          <p:nvPr/>
        </p:nvSpPr>
        <p:spPr>
          <a:xfrm>
            <a:off x="566928" y="822960"/>
            <a:ext cx="11055096" cy="274320"/>
          </a:xfrm>
          <a:prstGeom prst="rect">
            <a:avLst/>
          </a:prstGeom>
          <a:noFill/>
          <a:ln/>
        </p:spPr>
        <p:txBody>
          <a:bodyPr wrap="square" lIns="0" tIns="0" rIns="0" bIns="0" rtlCol="0" anchor="ctr"/>
          <a:lstStyle/>
          <a:p>
            <a:pPr indent="0" marL="0">
              <a:buNone/>
            </a:pPr>
            <a:r>
              <a:rPr lang="en-US" sz="1200" b="1" spc="200" kern="0" dirty="0">
                <a:solidFill>
                  <a:srgbClr val="E8734A"/>
                </a:solidFill>
                <a:latin typeface="Calibri" pitchFamily="34" charset="0"/>
                <a:ea typeface="Calibri" pitchFamily="34" charset="-122"/>
                <a:cs typeface="Calibri" pitchFamily="34" charset="-120"/>
              </a:rPr>
              <a:t>PROJECT A60  ·  MODULE 55-708252</a:t>
            </a:r>
            <a:endParaRPr lang="en-US" sz="1200" dirty="0"/>
          </a:p>
        </p:txBody>
      </p:sp>
      <p:sp>
        <p:nvSpPr>
          <p:cNvPr id="7" name="Text 4"/>
          <p:cNvSpPr/>
          <p:nvPr/>
        </p:nvSpPr>
        <p:spPr>
          <a:xfrm>
            <a:off x="566928" y="1207008"/>
            <a:ext cx="10424160" cy="13716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AI4Mobility</a:t>
            </a:r>
            <a:endParaRPr lang="en-US" sz="4200" dirty="0"/>
          </a:p>
        </p:txBody>
      </p:sp>
      <p:sp>
        <p:nvSpPr>
          <p:cNvPr id="8" name="Text 5"/>
          <p:cNvSpPr/>
          <p:nvPr/>
        </p:nvSpPr>
        <p:spPr>
          <a:xfrm>
            <a:off x="566928" y="2615184"/>
            <a:ext cx="9692640" cy="822960"/>
          </a:xfrm>
          <a:prstGeom prst="rect">
            <a:avLst/>
          </a:prstGeom>
          <a:noFill/>
          <a:ln/>
        </p:spPr>
        <p:txBody>
          <a:bodyPr wrap="square" lIns="0" tIns="0" rIns="0" bIns="0" rtlCol="0" anchor="t"/>
          <a:lstStyle/>
          <a:p>
            <a:pPr indent="0" marL="0">
              <a:lnSpc>
                <a:spcPct val="110000"/>
              </a:lnSpc>
              <a:buNone/>
            </a:pPr>
            <a:r>
              <a:rPr lang="en-US" sz="1500" dirty="0">
                <a:solidFill>
                  <a:srgbClr val="B9CEDD"/>
                </a:solidFill>
                <a:latin typeface="Calibri" pitchFamily="34" charset="0"/>
                <a:ea typeface="Calibri" pitchFamily="34" charset="-122"/>
                <a:cs typeface="Calibri" pitchFamily="34" charset="-120"/>
              </a:rPr>
              <a:t>A multimodal assistive platform for parents supporting children with mobility difficulties. This deck covers the classifier: three model families, how they were chosen, and how they were judged.</a:t>
            </a:r>
            <a:endParaRPr lang="en-US" sz="1500" dirty="0"/>
          </a:p>
        </p:txBody>
      </p:sp>
      <p:sp>
        <p:nvSpPr>
          <p:cNvPr id="9" name="Shape 6"/>
          <p:cNvSpPr/>
          <p:nvPr/>
        </p:nvSpPr>
        <p:spPr>
          <a:xfrm>
            <a:off x="566928" y="3611880"/>
            <a:ext cx="5852160" cy="1572768"/>
          </a:xfrm>
          <a:prstGeom prst="roundRect">
            <a:avLst>
              <a:gd name="adj" fmla="val 4070"/>
            </a:avLst>
          </a:prstGeom>
          <a:solidFill>
            <a:srgbClr val="2F6690"/>
          </a:solidFill>
          <a:ln w="9525">
            <a:solidFill>
              <a:srgbClr val="2F6690"/>
            </a:solidFill>
            <a:prstDash val="solid"/>
          </a:ln>
        </p:spPr>
      </p:sp>
      <p:sp>
        <p:nvSpPr>
          <p:cNvPr id="10" name="Text 7"/>
          <p:cNvSpPr/>
          <p:nvPr/>
        </p:nvSpPr>
        <p:spPr>
          <a:xfrm>
            <a:off x="841248" y="3785616"/>
            <a:ext cx="5303520" cy="237744"/>
          </a:xfrm>
          <a:prstGeom prst="rect">
            <a:avLst/>
          </a:prstGeom>
          <a:noFill/>
          <a:ln/>
        </p:spPr>
        <p:txBody>
          <a:bodyPr wrap="square" lIns="0" tIns="0" rIns="0" bIns="0" rtlCol="0" anchor="ctr"/>
          <a:lstStyle/>
          <a:p>
            <a:pPr indent="0" marL="0">
              <a:buNone/>
            </a:pPr>
            <a:r>
              <a:rPr lang="en-US" sz="950" b="1" spc="140" kern="0" dirty="0">
                <a:solidFill>
                  <a:srgbClr val="B9CEDD"/>
                </a:solidFill>
                <a:latin typeface="Calibri" pitchFamily="34" charset="0"/>
                <a:ea typeface="Calibri" pitchFamily="34" charset="-122"/>
                <a:cs typeface="Calibri" pitchFamily="34" charset="-120"/>
              </a:rPr>
              <a:t>PRESENTED BY</a:t>
            </a:r>
            <a:endParaRPr lang="en-US" sz="950" dirty="0"/>
          </a:p>
        </p:txBody>
      </p:sp>
      <p:sp>
        <p:nvSpPr>
          <p:cNvPr id="11" name="Text 8"/>
          <p:cNvSpPr/>
          <p:nvPr/>
        </p:nvSpPr>
        <p:spPr>
          <a:xfrm>
            <a:off x="841248" y="4041648"/>
            <a:ext cx="5303520" cy="420624"/>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Ailuri Rupa Sri</a:t>
            </a:r>
            <a:endParaRPr lang="en-US" sz="2100" dirty="0"/>
          </a:p>
        </p:txBody>
      </p:sp>
      <p:sp>
        <p:nvSpPr>
          <p:cNvPr id="12" name="Text 9"/>
          <p:cNvSpPr/>
          <p:nvPr/>
        </p:nvSpPr>
        <p:spPr>
          <a:xfrm>
            <a:off x="841248" y="4498848"/>
            <a:ext cx="5303520" cy="457200"/>
          </a:xfrm>
          <a:prstGeom prst="rect">
            <a:avLst/>
          </a:prstGeom>
          <a:noFill/>
          <a:ln/>
        </p:spPr>
        <p:txBody>
          <a:bodyPr wrap="square" lIns="0" tIns="0" rIns="0" bIns="0" rtlCol="0" anchor="t"/>
          <a:lstStyle/>
          <a:p>
            <a:pPr indent="0" marL="0">
              <a:buNone/>
            </a:pPr>
            <a:r>
              <a:rPr lang="en-US" sz="1300" dirty="0">
                <a:solidFill>
                  <a:srgbClr val="B9CEDD"/>
                </a:solidFill>
                <a:latin typeface="Calibri" pitchFamily="34" charset="0"/>
                <a:ea typeface="Calibri" pitchFamily="34" charset="-122"/>
                <a:cs typeface="Calibri" pitchFamily="34" charset="-120"/>
              </a:rPr>
              <a:t>Model development and evaluation lead</a:t>
            </a:r>
            <a:endParaRPr lang="en-US" sz="1300" dirty="0"/>
          </a:p>
        </p:txBody>
      </p:sp>
      <p:sp>
        <p:nvSpPr>
          <p:cNvPr id="13" name="Shape 10"/>
          <p:cNvSpPr/>
          <p:nvPr/>
        </p:nvSpPr>
        <p:spPr>
          <a:xfrm>
            <a:off x="6720840" y="3611880"/>
            <a:ext cx="4901184" cy="1572768"/>
          </a:xfrm>
          <a:prstGeom prst="roundRect">
            <a:avLst>
              <a:gd name="adj" fmla="val 4070"/>
            </a:avLst>
          </a:prstGeom>
          <a:solidFill>
            <a:srgbClr val="1F4A68"/>
          </a:solidFill>
          <a:ln w="9525">
            <a:solidFill>
              <a:srgbClr val="355F7C"/>
            </a:solidFill>
            <a:prstDash val="solid"/>
          </a:ln>
        </p:spPr>
      </p:sp>
      <p:sp>
        <p:nvSpPr>
          <p:cNvPr id="14" name="Text 11"/>
          <p:cNvSpPr/>
          <p:nvPr/>
        </p:nvSpPr>
        <p:spPr>
          <a:xfrm>
            <a:off x="6995160" y="3785616"/>
            <a:ext cx="4352544" cy="1225296"/>
          </a:xfrm>
          <a:prstGeom prst="rect">
            <a:avLst/>
          </a:prstGeom>
          <a:noFill/>
          <a:ln/>
        </p:spPr>
        <p:txBody>
          <a:bodyPr wrap="square" lIns="0" tIns="0" rIns="0" bIns="0" rtlCol="0" anchor="ctr"/>
          <a:lstStyle/>
          <a:p>
            <a:pPr indent="0" marL="0">
              <a:lnSpc>
                <a:spcPct val="105000"/>
              </a:lnSpc>
              <a:spcAft>
                <a:spcPts val="500"/>
              </a:spcAft>
              <a:buNone/>
            </a:pPr>
            <a:r>
              <a:rPr lang="en-US" sz="1250" dirty="0">
                <a:solidFill>
                  <a:srgbClr val="FFFFFF"/>
                </a:solidFill>
                <a:latin typeface="Calibri" pitchFamily="34" charset="0"/>
                <a:ea typeface="Calibri" pitchFamily="34" charset="-122"/>
                <a:cs typeface="Calibri" pitchFamily="34" charset="-120"/>
              </a:rPr>
              <a:t>Sheffield Hallam University — MSc</a:t>
            </a:r>
            <a:endParaRPr lang="en-US" sz="1250" dirty="0"/>
          </a:p>
          <a:p>
            <a:pPr indent="0" marL="0">
              <a:lnSpc>
                <a:spcPct val="105000"/>
              </a:lnSpc>
              <a:spcAft>
                <a:spcPts val="500"/>
              </a:spcAft>
              <a:buNone/>
            </a:pPr>
            <a:r>
              <a:rPr lang="en-US" sz="1250" dirty="0">
                <a:solidFill>
                  <a:srgbClr val="FFFFFF"/>
                </a:solidFill>
                <a:latin typeface="Calibri" pitchFamily="34" charset="0"/>
                <a:ea typeface="Calibri" pitchFamily="34" charset="-122"/>
                <a:cs typeface="Calibri" pitchFamily="34" charset="-120"/>
              </a:rPr>
              <a:t>AI Research and Development Project</a:t>
            </a:r>
            <a:endParaRPr lang="en-US" sz="1250" dirty="0"/>
          </a:p>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Team Deepminds  ·  Supervisor: Alejandro</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Ailuri Rupa Sri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2</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AGENDA</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What this deck covers</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Models, protocol, results, and the parts of the result that deserve caution.</a:t>
            </a:r>
            <a:endParaRPr lang="en-US" sz="1350" dirty="0"/>
          </a:p>
        </p:txBody>
      </p:sp>
      <p:sp>
        <p:nvSpPr>
          <p:cNvPr id="9" name="Shape 6"/>
          <p:cNvSpPr/>
          <p:nvPr/>
        </p:nvSpPr>
        <p:spPr>
          <a:xfrm>
            <a:off x="566928" y="2048256"/>
            <a:ext cx="365760" cy="365760"/>
          </a:xfrm>
          <a:prstGeom prst="ellipse">
            <a:avLst/>
          </a:prstGeom>
          <a:solidFill>
            <a:srgbClr val="2F6690"/>
          </a:solidFill>
          <a:ln w="6350">
            <a:solidFill>
              <a:srgbClr val="2F6690"/>
            </a:solidFill>
            <a:prstDash val="solid"/>
          </a:ln>
        </p:spPr>
      </p:sp>
      <p:sp>
        <p:nvSpPr>
          <p:cNvPr id="10" name="Text 7"/>
          <p:cNvSpPr/>
          <p:nvPr/>
        </p:nvSpPr>
        <p:spPr>
          <a:xfrm>
            <a:off x="566928" y="2048256"/>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1" name="Text 8"/>
          <p:cNvSpPr/>
          <p:nvPr/>
        </p:nvSpPr>
        <p:spPr>
          <a:xfrm>
            <a:off x="1097280" y="2011680"/>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The data I was given</a:t>
            </a:r>
            <a:endParaRPr lang="en-US" sz="1500" dirty="0"/>
          </a:p>
        </p:txBody>
      </p:sp>
      <p:sp>
        <p:nvSpPr>
          <p:cNvPr id="12" name="Text 9"/>
          <p:cNvSpPr/>
          <p:nvPr/>
        </p:nvSpPr>
        <p:spPr>
          <a:xfrm>
            <a:off x="1097280" y="2304288"/>
            <a:ext cx="10524744" cy="453542"/>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Synthetic, subject-split, 45 features — and what that permits me to claim.</a:t>
            </a:r>
            <a:endParaRPr lang="en-US" sz="1200" dirty="0"/>
          </a:p>
        </p:txBody>
      </p:sp>
      <p:sp>
        <p:nvSpPr>
          <p:cNvPr id="13" name="Shape 10"/>
          <p:cNvSpPr/>
          <p:nvPr/>
        </p:nvSpPr>
        <p:spPr>
          <a:xfrm>
            <a:off x="566928" y="2849270"/>
            <a:ext cx="365760" cy="365760"/>
          </a:xfrm>
          <a:prstGeom prst="ellipse">
            <a:avLst/>
          </a:prstGeom>
          <a:solidFill>
            <a:srgbClr val="2F6690"/>
          </a:solidFill>
          <a:ln w="6350">
            <a:solidFill>
              <a:srgbClr val="2F6690"/>
            </a:solidFill>
            <a:prstDash val="solid"/>
          </a:ln>
        </p:spPr>
      </p:sp>
      <p:sp>
        <p:nvSpPr>
          <p:cNvPr id="14" name="Text 11"/>
          <p:cNvSpPr/>
          <p:nvPr/>
        </p:nvSpPr>
        <p:spPr>
          <a:xfrm>
            <a:off x="566928" y="2849270"/>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5" name="Text 12"/>
          <p:cNvSpPr/>
          <p:nvPr/>
        </p:nvSpPr>
        <p:spPr>
          <a:xfrm>
            <a:off x="1097280" y="2812694"/>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Three model families</a:t>
            </a:r>
            <a:endParaRPr lang="en-US" sz="1500" dirty="0"/>
          </a:p>
        </p:txBody>
      </p:sp>
      <p:sp>
        <p:nvSpPr>
          <p:cNvPr id="16" name="Text 13"/>
          <p:cNvSpPr/>
          <p:nvPr/>
        </p:nvSpPr>
        <p:spPr>
          <a:xfrm>
            <a:off x="1097280" y="3105302"/>
            <a:ext cx="10524744" cy="453542"/>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Why three rather than one, and the hyperparameter choices behind each.</a:t>
            </a:r>
            <a:endParaRPr lang="en-US" sz="1200" dirty="0"/>
          </a:p>
        </p:txBody>
      </p:sp>
      <p:sp>
        <p:nvSpPr>
          <p:cNvPr id="17" name="Shape 14"/>
          <p:cNvSpPr/>
          <p:nvPr/>
        </p:nvSpPr>
        <p:spPr>
          <a:xfrm>
            <a:off x="566928" y="3650285"/>
            <a:ext cx="365760" cy="365760"/>
          </a:xfrm>
          <a:prstGeom prst="ellipse">
            <a:avLst/>
          </a:prstGeom>
          <a:solidFill>
            <a:srgbClr val="2F6690"/>
          </a:solidFill>
          <a:ln w="6350">
            <a:solidFill>
              <a:srgbClr val="2F6690"/>
            </a:solidFill>
            <a:prstDash val="solid"/>
          </a:ln>
        </p:spPr>
      </p:sp>
      <p:sp>
        <p:nvSpPr>
          <p:cNvPr id="18" name="Text 15"/>
          <p:cNvSpPr/>
          <p:nvPr/>
        </p:nvSpPr>
        <p:spPr>
          <a:xfrm>
            <a:off x="566928" y="3650285"/>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9" name="Text 16"/>
          <p:cNvSpPr/>
          <p:nvPr/>
        </p:nvSpPr>
        <p:spPr>
          <a:xfrm>
            <a:off x="1097280" y="3613709"/>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The evaluation protocol</a:t>
            </a:r>
            <a:endParaRPr lang="en-US" sz="1500" dirty="0"/>
          </a:p>
        </p:txBody>
      </p:sp>
      <p:sp>
        <p:nvSpPr>
          <p:cNvPr id="20" name="Text 17"/>
          <p:cNvSpPr/>
          <p:nvPr/>
        </p:nvSpPr>
        <p:spPr>
          <a:xfrm>
            <a:off x="1097280" y="3906317"/>
            <a:ext cx="10524744" cy="453542"/>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Five-fold cross-validation on training data only, and a test set scored once.</a:t>
            </a:r>
            <a:endParaRPr lang="en-US" sz="1200" dirty="0"/>
          </a:p>
        </p:txBody>
      </p:sp>
      <p:sp>
        <p:nvSpPr>
          <p:cNvPr id="21" name="Shape 18"/>
          <p:cNvSpPr/>
          <p:nvPr/>
        </p:nvSpPr>
        <p:spPr>
          <a:xfrm>
            <a:off x="566928" y="4451299"/>
            <a:ext cx="365760" cy="365760"/>
          </a:xfrm>
          <a:prstGeom prst="ellipse">
            <a:avLst/>
          </a:prstGeom>
          <a:solidFill>
            <a:srgbClr val="2F6690"/>
          </a:solidFill>
          <a:ln w="6350">
            <a:solidFill>
              <a:srgbClr val="2F6690"/>
            </a:solidFill>
            <a:prstDash val="solid"/>
          </a:ln>
        </p:spPr>
      </p:sp>
      <p:sp>
        <p:nvSpPr>
          <p:cNvPr id="22" name="Text 19"/>
          <p:cNvSpPr/>
          <p:nvPr/>
        </p:nvSpPr>
        <p:spPr>
          <a:xfrm>
            <a:off x="566928" y="4451299"/>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3" name="Text 20"/>
          <p:cNvSpPr/>
          <p:nvPr/>
        </p:nvSpPr>
        <p:spPr>
          <a:xfrm>
            <a:off x="1097280" y="4414723"/>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Results in detail</a:t>
            </a:r>
            <a:endParaRPr lang="en-US" sz="1500" dirty="0"/>
          </a:p>
        </p:txBody>
      </p:sp>
      <p:sp>
        <p:nvSpPr>
          <p:cNvPr id="24" name="Text 21"/>
          <p:cNvSpPr/>
          <p:nvPr/>
        </p:nvSpPr>
        <p:spPr>
          <a:xfrm>
            <a:off x="1097280" y="4707331"/>
            <a:ext cx="10524744" cy="453542"/>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Per-class precision, recall and F1; the generalisation gap; confusions; feature importance.</a:t>
            </a:r>
            <a:endParaRPr lang="en-US" sz="1200" dirty="0"/>
          </a:p>
        </p:txBody>
      </p:sp>
      <p:sp>
        <p:nvSpPr>
          <p:cNvPr id="25" name="Shape 22"/>
          <p:cNvSpPr/>
          <p:nvPr/>
        </p:nvSpPr>
        <p:spPr>
          <a:xfrm>
            <a:off x="566928" y="5252314"/>
            <a:ext cx="365760" cy="365760"/>
          </a:xfrm>
          <a:prstGeom prst="ellipse">
            <a:avLst/>
          </a:prstGeom>
          <a:solidFill>
            <a:srgbClr val="2F6690"/>
          </a:solidFill>
          <a:ln w="6350">
            <a:solidFill>
              <a:srgbClr val="2F6690"/>
            </a:solidFill>
            <a:prstDash val="solid"/>
          </a:ln>
        </p:spPr>
      </p:sp>
      <p:sp>
        <p:nvSpPr>
          <p:cNvPr id="26" name="Text 23"/>
          <p:cNvSpPr/>
          <p:nvPr/>
        </p:nvSpPr>
        <p:spPr>
          <a:xfrm>
            <a:off x="566928" y="5252314"/>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7" name="Text 24"/>
          <p:cNvSpPr/>
          <p:nvPr/>
        </p:nvSpPr>
        <p:spPr>
          <a:xfrm>
            <a:off x="1097280" y="5215738"/>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Limitations and next steps</a:t>
            </a:r>
            <a:endParaRPr lang="en-US" sz="1500" dirty="0"/>
          </a:p>
        </p:txBody>
      </p:sp>
      <p:sp>
        <p:nvSpPr>
          <p:cNvPr id="28" name="Text 25"/>
          <p:cNvSpPr/>
          <p:nvPr/>
        </p:nvSpPr>
        <p:spPr>
          <a:xfrm>
            <a:off x="1097280" y="5508346"/>
            <a:ext cx="10524744" cy="453542"/>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What the comparison cannot settle, and what would settle it.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Ailuri Rupa Sri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3</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THE TEAM</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Team Deepminds — four roles, one platform</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Four members, four defined responsibilities. This deck presents the modelling and evaluation work.</a:t>
            </a:r>
            <a:endParaRPr lang="en-US" sz="1350" dirty="0"/>
          </a:p>
        </p:txBody>
      </p:sp>
      <p:sp>
        <p:nvSpPr>
          <p:cNvPr id="9" name="Shape 6"/>
          <p:cNvSpPr/>
          <p:nvPr/>
        </p:nvSpPr>
        <p:spPr>
          <a:xfrm>
            <a:off x="566928" y="2093976"/>
            <a:ext cx="5390388" cy="1783080"/>
          </a:xfrm>
          <a:prstGeom prst="roundRect">
            <a:avLst>
              <a:gd name="adj" fmla="val 3590"/>
            </a:avLst>
          </a:prstGeom>
          <a:solidFill>
            <a:srgbClr val="F4F7FA"/>
          </a:solidFill>
          <a:ln w="9525">
            <a:solidFill>
              <a:srgbClr val="DDE6EC"/>
            </a:solidFill>
            <a:prstDash val="solid"/>
          </a:ln>
        </p:spPr>
      </p:sp>
      <p:sp>
        <p:nvSpPr>
          <p:cNvPr id="10" name="Text 7"/>
          <p:cNvSpPr/>
          <p:nvPr/>
        </p:nvSpPr>
        <p:spPr>
          <a:xfrm>
            <a:off x="822960" y="2343607"/>
            <a:ext cx="3653028" cy="384048"/>
          </a:xfrm>
          <a:prstGeom prst="rect">
            <a:avLst/>
          </a:prstGeom>
          <a:noFill/>
          <a:ln/>
        </p:spPr>
        <p:txBody>
          <a:bodyPr wrap="square" lIns="0" tIns="0" rIns="0" bIns="0" rtlCol="0" anchor="ctr"/>
          <a:lstStyle/>
          <a:p>
            <a:pPr indent="0" marL="0">
              <a:buNone/>
            </a:pPr>
            <a:r>
              <a:rPr lang="en-US" sz="1700" b="1" dirty="0">
                <a:solidFill>
                  <a:srgbClr val="1F4A68"/>
                </a:solidFill>
                <a:latin typeface="Cambria" pitchFamily="34" charset="0"/>
                <a:ea typeface="Cambria" pitchFamily="34" charset="-122"/>
                <a:cs typeface="Cambria" pitchFamily="34" charset="-120"/>
              </a:rPr>
              <a:t>Krushna Sai Teja Adhala</a:t>
            </a:r>
            <a:endParaRPr lang="en-US" sz="1700" dirty="0"/>
          </a:p>
        </p:txBody>
      </p:sp>
      <p:sp>
        <p:nvSpPr>
          <p:cNvPr id="11" name="Text 8"/>
          <p:cNvSpPr/>
          <p:nvPr/>
        </p:nvSpPr>
        <p:spPr>
          <a:xfrm>
            <a:off x="822960" y="2807208"/>
            <a:ext cx="4878324" cy="347472"/>
          </a:xfrm>
          <a:prstGeom prst="rect">
            <a:avLst/>
          </a:prstGeom>
          <a:noFill/>
          <a:ln/>
        </p:spPr>
        <p:txBody>
          <a:bodyPr wrap="square" lIns="0" tIns="0" rIns="0" bIns="0" rtlCol="0" anchor="ctr"/>
          <a:lstStyle/>
          <a:p>
            <a:pPr indent="0" marL="0">
              <a:buNone/>
            </a:pPr>
            <a:r>
              <a:rPr lang="en-US" sz="1250" dirty="0">
                <a:solidFill>
                  <a:srgbClr val="1C2B3A"/>
                </a:solidFill>
                <a:latin typeface="Calibri" pitchFamily="34" charset="0"/>
                <a:ea typeface="Calibri" pitchFamily="34" charset="-122"/>
                <a:cs typeface="Calibri" pitchFamily="34" charset="-120"/>
              </a:rPr>
              <a:t>Data engineering and pipeline lead</a:t>
            </a:r>
            <a:endParaRPr lang="en-US" sz="1250" dirty="0"/>
          </a:p>
        </p:txBody>
      </p:sp>
      <p:sp>
        <p:nvSpPr>
          <p:cNvPr id="12" name="Text 9"/>
          <p:cNvSpPr/>
          <p:nvPr/>
        </p:nvSpPr>
        <p:spPr>
          <a:xfrm>
            <a:off x="822960" y="3270809"/>
            <a:ext cx="4878324" cy="310896"/>
          </a:xfrm>
          <a:prstGeom prst="rect">
            <a:avLst/>
          </a:prstGeom>
          <a:noFill/>
          <a:ln/>
        </p:spPr>
        <p:txBody>
          <a:bodyPr wrap="square" lIns="0" tIns="0" rIns="0" bIns="0" rtlCol="0" anchor="ctr"/>
          <a:lstStyle/>
          <a:p>
            <a:pPr indent="0" marL="0">
              <a:buNone/>
            </a:pPr>
            <a:r>
              <a:rPr lang="en-US" sz="1100" dirty="0">
                <a:solidFill>
                  <a:srgbClr val="4B6072"/>
                </a:solidFill>
                <a:latin typeface="Calibri" pitchFamily="34" charset="0"/>
                <a:ea typeface="Calibri" pitchFamily="34" charset="-122"/>
                <a:cs typeface="Calibri" pitchFamily="34" charset="-120"/>
              </a:rPr>
              <a:t>Peer contribution split: 28%</a:t>
            </a:r>
            <a:endParaRPr lang="en-US" sz="1100" dirty="0"/>
          </a:p>
        </p:txBody>
      </p:sp>
      <p:sp>
        <p:nvSpPr>
          <p:cNvPr id="13" name="Shape 10"/>
          <p:cNvSpPr/>
          <p:nvPr/>
        </p:nvSpPr>
        <p:spPr>
          <a:xfrm>
            <a:off x="6231636" y="2093976"/>
            <a:ext cx="5390388" cy="1783080"/>
          </a:xfrm>
          <a:prstGeom prst="roundRect">
            <a:avLst>
              <a:gd name="adj" fmla="val 3590"/>
            </a:avLst>
          </a:prstGeom>
          <a:solidFill>
            <a:srgbClr val="2F6690"/>
          </a:solidFill>
          <a:ln w="9525">
            <a:solidFill>
              <a:srgbClr val="2F6690"/>
            </a:solidFill>
            <a:prstDash val="solid"/>
          </a:ln>
          <a:effectLst>
            <a:outerShdw sx="100000" sy="100000" kx="0" ky="0" algn="bl" rotWithShape="0" blurRad="101600" dist="25400" dir="5400000">
              <a:srgbClr val="9FB3C2">
                <a:alpha val="25000"/>
              </a:srgbClr>
            </a:outerShdw>
          </a:effectLst>
        </p:spPr>
      </p:sp>
      <p:sp>
        <p:nvSpPr>
          <p:cNvPr id="14" name="Text 11"/>
          <p:cNvSpPr/>
          <p:nvPr/>
        </p:nvSpPr>
        <p:spPr>
          <a:xfrm>
            <a:off x="6487668" y="2343607"/>
            <a:ext cx="3653028" cy="38404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Ailuri Rupa Sri</a:t>
            </a:r>
            <a:endParaRPr lang="en-US" sz="1700" dirty="0"/>
          </a:p>
        </p:txBody>
      </p:sp>
      <p:sp>
        <p:nvSpPr>
          <p:cNvPr id="15" name="Text 12"/>
          <p:cNvSpPr/>
          <p:nvPr/>
        </p:nvSpPr>
        <p:spPr>
          <a:xfrm>
            <a:off x="6487668" y="2807208"/>
            <a:ext cx="4878324" cy="34747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Model development and evaluation lead</a:t>
            </a:r>
            <a:endParaRPr lang="en-US" sz="1250" dirty="0"/>
          </a:p>
        </p:txBody>
      </p:sp>
      <p:sp>
        <p:nvSpPr>
          <p:cNvPr id="16" name="Text 13"/>
          <p:cNvSpPr/>
          <p:nvPr/>
        </p:nvSpPr>
        <p:spPr>
          <a:xfrm>
            <a:off x="6487668" y="3270809"/>
            <a:ext cx="4878324" cy="310896"/>
          </a:xfrm>
          <a:prstGeom prst="rect">
            <a:avLst/>
          </a:prstGeom>
          <a:noFill/>
          <a:ln/>
        </p:spPr>
        <p:txBody>
          <a:bodyPr wrap="square" lIns="0" tIns="0" rIns="0" bIns="0" rtlCol="0" anchor="ctr"/>
          <a:lstStyle/>
          <a:p>
            <a:pPr indent="0" marL="0">
              <a:buNone/>
            </a:pPr>
            <a:r>
              <a:rPr lang="en-US" sz="1100" dirty="0">
                <a:solidFill>
                  <a:srgbClr val="B9CEDD"/>
                </a:solidFill>
                <a:latin typeface="Calibri" pitchFamily="34" charset="0"/>
                <a:ea typeface="Calibri" pitchFamily="34" charset="-122"/>
                <a:cs typeface="Calibri" pitchFamily="34" charset="-120"/>
              </a:rPr>
              <a:t>Peer contribution split: 26%</a:t>
            </a:r>
            <a:endParaRPr lang="en-US" sz="1100" dirty="0"/>
          </a:p>
        </p:txBody>
      </p:sp>
      <p:sp>
        <p:nvSpPr>
          <p:cNvPr id="17" name="Text 14"/>
          <p:cNvSpPr/>
          <p:nvPr/>
        </p:nvSpPr>
        <p:spPr>
          <a:xfrm>
            <a:off x="10204704" y="2407615"/>
            <a:ext cx="1161288" cy="256032"/>
          </a:xfrm>
          <a:prstGeom prst="rect">
            <a:avLst/>
          </a:prstGeom>
          <a:solidFill>
            <a:srgbClr val="FFFFFF"/>
          </a:solidFill>
          <a:ln/>
        </p:spPr>
        <p:txBody>
          <a:bodyPr wrap="square" lIns="0" tIns="0" rIns="0" bIns="0" rtlCol="0" anchor="ctr"/>
          <a:lstStyle/>
          <a:p>
            <a:pPr algn="ctr" indent="0" marL="0">
              <a:buNone/>
            </a:pPr>
            <a:r>
              <a:rPr lang="en-US" sz="900" b="1" spc="120" kern="0" dirty="0">
                <a:solidFill>
                  <a:srgbClr val="1F4A68"/>
                </a:solidFill>
                <a:latin typeface="Calibri" pitchFamily="34" charset="0"/>
                <a:ea typeface="Calibri" pitchFamily="34" charset="-122"/>
                <a:cs typeface="Calibri" pitchFamily="34" charset="-120"/>
              </a:rPr>
              <a:t>THIS DECK</a:t>
            </a:r>
            <a:endParaRPr lang="en-US" sz="900" dirty="0"/>
          </a:p>
        </p:txBody>
      </p:sp>
      <p:sp>
        <p:nvSpPr>
          <p:cNvPr id="18" name="Shape 15"/>
          <p:cNvSpPr/>
          <p:nvPr/>
        </p:nvSpPr>
        <p:spPr>
          <a:xfrm>
            <a:off x="566928" y="4151376"/>
            <a:ext cx="5390388" cy="1783080"/>
          </a:xfrm>
          <a:prstGeom prst="roundRect">
            <a:avLst>
              <a:gd name="adj" fmla="val 3590"/>
            </a:avLst>
          </a:prstGeom>
          <a:solidFill>
            <a:srgbClr val="F4F7FA"/>
          </a:solidFill>
          <a:ln w="9525">
            <a:solidFill>
              <a:srgbClr val="DDE6EC"/>
            </a:solidFill>
            <a:prstDash val="solid"/>
          </a:ln>
        </p:spPr>
      </p:sp>
      <p:sp>
        <p:nvSpPr>
          <p:cNvPr id="19" name="Text 16"/>
          <p:cNvSpPr/>
          <p:nvPr/>
        </p:nvSpPr>
        <p:spPr>
          <a:xfrm>
            <a:off x="822960" y="4401007"/>
            <a:ext cx="3653028" cy="384048"/>
          </a:xfrm>
          <a:prstGeom prst="rect">
            <a:avLst/>
          </a:prstGeom>
          <a:noFill/>
          <a:ln/>
        </p:spPr>
        <p:txBody>
          <a:bodyPr wrap="square" lIns="0" tIns="0" rIns="0" bIns="0" rtlCol="0" anchor="ctr"/>
          <a:lstStyle/>
          <a:p>
            <a:pPr indent="0" marL="0">
              <a:buNone/>
            </a:pPr>
            <a:r>
              <a:rPr lang="en-US" sz="1700" b="1" dirty="0">
                <a:solidFill>
                  <a:srgbClr val="1F4A68"/>
                </a:solidFill>
                <a:latin typeface="Cambria" pitchFamily="34" charset="0"/>
                <a:ea typeface="Cambria" pitchFamily="34" charset="-122"/>
                <a:cs typeface="Cambria" pitchFamily="34" charset="-120"/>
              </a:rPr>
              <a:t>Nandi Reddy Shashidhar Reddy</a:t>
            </a:r>
            <a:endParaRPr lang="en-US" sz="1700" dirty="0"/>
          </a:p>
        </p:txBody>
      </p:sp>
      <p:sp>
        <p:nvSpPr>
          <p:cNvPr id="20" name="Text 17"/>
          <p:cNvSpPr/>
          <p:nvPr/>
        </p:nvSpPr>
        <p:spPr>
          <a:xfrm>
            <a:off x="822960" y="4864608"/>
            <a:ext cx="4878324" cy="347472"/>
          </a:xfrm>
          <a:prstGeom prst="rect">
            <a:avLst/>
          </a:prstGeom>
          <a:noFill/>
          <a:ln/>
        </p:spPr>
        <p:txBody>
          <a:bodyPr wrap="square" lIns="0" tIns="0" rIns="0" bIns="0" rtlCol="0" anchor="ctr"/>
          <a:lstStyle/>
          <a:p>
            <a:pPr indent="0" marL="0">
              <a:buNone/>
            </a:pPr>
            <a:r>
              <a:rPr lang="en-US" sz="1250" dirty="0">
                <a:solidFill>
                  <a:srgbClr val="1C2B3A"/>
                </a:solidFill>
                <a:latin typeface="Calibri" pitchFamily="34" charset="0"/>
                <a:ea typeface="Calibri" pitchFamily="34" charset="-122"/>
                <a:cs typeface="Calibri" pitchFamily="34" charset="-120"/>
              </a:rPr>
              <a:t>Pose estimation and visualisation lead</a:t>
            </a:r>
            <a:endParaRPr lang="en-US" sz="1250" dirty="0"/>
          </a:p>
        </p:txBody>
      </p:sp>
      <p:sp>
        <p:nvSpPr>
          <p:cNvPr id="21" name="Text 18"/>
          <p:cNvSpPr/>
          <p:nvPr/>
        </p:nvSpPr>
        <p:spPr>
          <a:xfrm>
            <a:off x="822960" y="5328209"/>
            <a:ext cx="4878324" cy="310896"/>
          </a:xfrm>
          <a:prstGeom prst="rect">
            <a:avLst/>
          </a:prstGeom>
          <a:noFill/>
          <a:ln/>
        </p:spPr>
        <p:txBody>
          <a:bodyPr wrap="square" lIns="0" tIns="0" rIns="0" bIns="0" rtlCol="0" anchor="ctr"/>
          <a:lstStyle/>
          <a:p>
            <a:pPr indent="0" marL="0">
              <a:buNone/>
            </a:pPr>
            <a:r>
              <a:rPr lang="en-US" sz="1100" dirty="0">
                <a:solidFill>
                  <a:srgbClr val="4B6072"/>
                </a:solidFill>
                <a:latin typeface="Calibri" pitchFamily="34" charset="0"/>
                <a:ea typeface="Calibri" pitchFamily="34" charset="-122"/>
                <a:cs typeface="Calibri" pitchFamily="34" charset="-120"/>
              </a:rPr>
              <a:t>Peer contribution split: 24%</a:t>
            </a:r>
            <a:endParaRPr lang="en-US" sz="1100" dirty="0"/>
          </a:p>
        </p:txBody>
      </p:sp>
      <p:sp>
        <p:nvSpPr>
          <p:cNvPr id="22" name="Shape 19"/>
          <p:cNvSpPr/>
          <p:nvPr/>
        </p:nvSpPr>
        <p:spPr>
          <a:xfrm>
            <a:off x="6231636" y="4151376"/>
            <a:ext cx="5390388" cy="1783080"/>
          </a:xfrm>
          <a:prstGeom prst="roundRect">
            <a:avLst>
              <a:gd name="adj" fmla="val 3590"/>
            </a:avLst>
          </a:prstGeom>
          <a:solidFill>
            <a:srgbClr val="F4F7FA"/>
          </a:solidFill>
          <a:ln w="9525">
            <a:solidFill>
              <a:srgbClr val="DDE6EC"/>
            </a:solidFill>
            <a:prstDash val="solid"/>
          </a:ln>
        </p:spPr>
      </p:sp>
      <p:sp>
        <p:nvSpPr>
          <p:cNvPr id="23" name="Text 20"/>
          <p:cNvSpPr/>
          <p:nvPr/>
        </p:nvSpPr>
        <p:spPr>
          <a:xfrm>
            <a:off x="6487668" y="4401007"/>
            <a:ext cx="3653028" cy="384048"/>
          </a:xfrm>
          <a:prstGeom prst="rect">
            <a:avLst/>
          </a:prstGeom>
          <a:noFill/>
          <a:ln/>
        </p:spPr>
        <p:txBody>
          <a:bodyPr wrap="square" lIns="0" tIns="0" rIns="0" bIns="0" rtlCol="0" anchor="ctr"/>
          <a:lstStyle/>
          <a:p>
            <a:pPr indent="0" marL="0">
              <a:buNone/>
            </a:pPr>
            <a:r>
              <a:rPr lang="en-US" sz="1700" b="1" dirty="0">
                <a:solidFill>
                  <a:srgbClr val="1F4A68"/>
                </a:solidFill>
                <a:latin typeface="Cambria" pitchFamily="34" charset="0"/>
                <a:ea typeface="Cambria" pitchFamily="34" charset="-122"/>
                <a:cs typeface="Cambria" pitchFamily="34" charset="-120"/>
              </a:rPr>
              <a:t>Dhanush Sanjay</a:t>
            </a:r>
            <a:endParaRPr lang="en-US" sz="1700" dirty="0"/>
          </a:p>
        </p:txBody>
      </p:sp>
      <p:sp>
        <p:nvSpPr>
          <p:cNvPr id="24" name="Text 21"/>
          <p:cNvSpPr/>
          <p:nvPr/>
        </p:nvSpPr>
        <p:spPr>
          <a:xfrm>
            <a:off x="6487668" y="4864608"/>
            <a:ext cx="4878324" cy="347472"/>
          </a:xfrm>
          <a:prstGeom prst="rect">
            <a:avLst/>
          </a:prstGeom>
          <a:noFill/>
          <a:ln/>
        </p:spPr>
        <p:txBody>
          <a:bodyPr wrap="square" lIns="0" tIns="0" rIns="0" bIns="0" rtlCol="0" anchor="ctr"/>
          <a:lstStyle/>
          <a:p>
            <a:pPr indent="0" marL="0">
              <a:buNone/>
            </a:pPr>
            <a:r>
              <a:rPr lang="en-US" sz="1250" dirty="0">
                <a:solidFill>
                  <a:srgbClr val="1C2B3A"/>
                </a:solidFill>
                <a:latin typeface="Calibri" pitchFamily="34" charset="0"/>
                <a:ea typeface="Calibri" pitchFamily="34" charset="-122"/>
                <a:cs typeface="Calibri" pitchFamily="34" charset="-120"/>
              </a:rPr>
              <a:t>Research and documentation lead</a:t>
            </a:r>
            <a:endParaRPr lang="en-US" sz="1250" dirty="0"/>
          </a:p>
        </p:txBody>
      </p:sp>
      <p:sp>
        <p:nvSpPr>
          <p:cNvPr id="25" name="Text 22"/>
          <p:cNvSpPr/>
          <p:nvPr/>
        </p:nvSpPr>
        <p:spPr>
          <a:xfrm>
            <a:off x="6487668" y="5328209"/>
            <a:ext cx="4878324" cy="310896"/>
          </a:xfrm>
          <a:prstGeom prst="rect">
            <a:avLst/>
          </a:prstGeom>
          <a:noFill/>
          <a:ln/>
        </p:spPr>
        <p:txBody>
          <a:bodyPr wrap="square" lIns="0" tIns="0" rIns="0" bIns="0" rtlCol="0" anchor="ctr"/>
          <a:lstStyle/>
          <a:p>
            <a:pPr indent="0" marL="0">
              <a:buNone/>
            </a:pPr>
            <a:r>
              <a:rPr lang="en-US" sz="1100" dirty="0">
                <a:solidFill>
                  <a:srgbClr val="4B6072"/>
                </a:solidFill>
                <a:latin typeface="Calibri" pitchFamily="34" charset="0"/>
                <a:ea typeface="Calibri" pitchFamily="34" charset="-122"/>
                <a:cs typeface="Calibri" pitchFamily="34" charset="-120"/>
              </a:rPr>
              <a:t>Peer contribution split: 22%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Ailuri Rupa Sri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4</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HONEST STATEMENT</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The dataset is synthetic</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Every accuracy figure in this deck is a property of a seeded generator, not evidence about children.</a:t>
            </a:r>
            <a:endParaRPr lang="en-US" sz="1350" dirty="0"/>
          </a:p>
        </p:txBody>
      </p:sp>
      <p:sp>
        <p:nvSpPr>
          <p:cNvPr id="9" name="Shape 6"/>
          <p:cNvSpPr/>
          <p:nvPr/>
        </p:nvSpPr>
        <p:spPr>
          <a:xfrm>
            <a:off x="566928" y="2406172"/>
            <a:ext cx="5372100" cy="2844800"/>
          </a:xfrm>
          <a:prstGeom prst="roundRect">
            <a:avLst>
              <a:gd name="adj" fmla="val 2250"/>
            </a:avLst>
          </a:prstGeom>
          <a:solidFill>
            <a:srgbClr val="F4F7FA"/>
          </a:solidFill>
          <a:ln w="9525">
            <a:solidFill>
              <a:srgbClr val="DDE6EC"/>
            </a:solidFill>
            <a:prstDash val="solid"/>
          </a:ln>
        </p:spPr>
      </p:sp>
      <p:sp>
        <p:nvSpPr>
          <p:cNvPr id="10" name="Text 7"/>
          <p:cNvSpPr/>
          <p:nvPr/>
        </p:nvSpPr>
        <p:spPr>
          <a:xfrm>
            <a:off x="822960" y="2589052"/>
            <a:ext cx="4860036" cy="365760"/>
          </a:xfrm>
          <a:prstGeom prst="rect">
            <a:avLst/>
          </a:prstGeom>
          <a:noFill/>
          <a:ln/>
        </p:spPr>
        <p:txBody>
          <a:bodyPr wrap="square" lIns="0" tIns="0" rIns="0" bIns="0" rtlCol="0" anchor="ctr"/>
          <a:lstStyle/>
          <a:p>
            <a:pPr indent="0" marL="0">
              <a:buNone/>
            </a:pPr>
            <a:r>
              <a:rPr lang="en-US" sz="1500" b="1" dirty="0">
                <a:solidFill>
                  <a:srgbClr val="1F4A68"/>
                </a:solidFill>
                <a:latin typeface="Calibri" pitchFamily="34" charset="0"/>
                <a:ea typeface="Calibri" pitchFamily="34" charset="-122"/>
                <a:cs typeface="Calibri" pitchFamily="34" charset="-120"/>
              </a:rPr>
              <a:t>What the results license us to claim</a:t>
            </a:r>
            <a:endParaRPr lang="en-US" sz="1500" dirty="0"/>
          </a:p>
        </p:txBody>
      </p:sp>
      <p:sp>
        <p:nvSpPr>
          <p:cNvPr id="11" name="Text 8"/>
          <p:cNvSpPr/>
          <p:nvPr/>
        </p:nvSpPr>
        <p:spPr>
          <a:xfrm>
            <a:off x="822960" y="3009676"/>
            <a:ext cx="4860036" cy="2058416"/>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three model families were compared fairly, on identical data and identical splits.</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evaluation protocol is sound and would transfer unchanged to a recorded dataset.</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differences between models are real differences on this data.</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The error structure matches the structure deliberately built into the generator.</a:t>
            </a:r>
            <a:endParaRPr lang="en-US" sz="1250" dirty="0"/>
          </a:p>
        </p:txBody>
      </p:sp>
      <p:sp>
        <p:nvSpPr>
          <p:cNvPr id="12" name="Shape 9"/>
          <p:cNvSpPr/>
          <p:nvPr/>
        </p:nvSpPr>
        <p:spPr>
          <a:xfrm>
            <a:off x="6249924" y="2406172"/>
            <a:ext cx="5372100" cy="2844800"/>
          </a:xfrm>
          <a:prstGeom prst="roundRect">
            <a:avLst>
              <a:gd name="adj" fmla="val 2250"/>
            </a:avLst>
          </a:prstGeom>
          <a:solidFill>
            <a:srgbClr val="FBEDE6"/>
          </a:solidFill>
          <a:ln w="9525">
            <a:solidFill>
              <a:srgbClr val="F0C9B6"/>
            </a:solidFill>
            <a:prstDash val="solid"/>
          </a:ln>
        </p:spPr>
      </p:sp>
      <p:sp>
        <p:nvSpPr>
          <p:cNvPr id="13" name="Text 10"/>
          <p:cNvSpPr/>
          <p:nvPr/>
        </p:nvSpPr>
        <p:spPr>
          <a:xfrm>
            <a:off x="6505956" y="2589052"/>
            <a:ext cx="4860036" cy="365760"/>
          </a:xfrm>
          <a:prstGeom prst="rect">
            <a:avLst/>
          </a:prstGeom>
          <a:noFill/>
          <a:ln/>
        </p:spPr>
        <p:txBody>
          <a:bodyPr wrap="square" lIns="0" tIns="0" rIns="0" bIns="0" rtlCol="0" anchor="ctr"/>
          <a:lstStyle/>
          <a:p>
            <a:pPr indent="0" marL="0">
              <a:buNone/>
            </a:pPr>
            <a:r>
              <a:rPr lang="en-US" sz="1500" b="1" dirty="0">
                <a:solidFill>
                  <a:srgbClr val="1F4A68"/>
                </a:solidFill>
                <a:latin typeface="Calibri" pitchFamily="34" charset="0"/>
                <a:ea typeface="Calibri" pitchFamily="34" charset="-122"/>
                <a:cs typeface="Calibri" pitchFamily="34" charset="-120"/>
              </a:rPr>
              <a:t>What they do not license</a:t>
            </a:r>
            <a:endParaRPr lang="en-US" sz="1500" dirty="0"/>
          </a:p>
        </p:txBody>
      </p:sp>
      <p:sp>
        <p:nvSpPr>
          <p:cNvPr id="14" name="Text 11"/>
          <p:cNvSpPr/>
          <p:nvPr/>
        </p:nvSpPr>
        <p:spPr>
          <a:xfrm>
            <a:off x="6505956" y="3009676"/>
            <a:ext cx="4860036" cy="2058416"/>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No claim that 0.928 accuracy would hold on real children.</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No clinical claim, and no claim of diagnostic value.</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No comparison against published results on recorded datasets.</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No claim that the model is ready to give feedback unsupervised.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4A68"/>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B9CEDD"/>
                </a:solidFill>
                <a:latin typeface="Calibri" pitchFamily="34" charset="0"/>
                <a:ea typeface="Calibri" pitchFamily="34" charset="-122"/>
                <a:cs typeface="Calibri" pitchFamily="34" charset="-120"/>
              </a:rPr>
              <a:t>A60 AI4Mobility  ·  Ailuri Rupa Sri  ·  Team Deepminds</a:t>
            </a:r>
            <a:endParaRPr lang="en-US" sz="900" dirty="0"/>
          </a:p>
        </p:txBody>
      </p:sp>
      <p:sp>
        <p:nvSpPr>
          <p:cNvPr id="3" name="Shape 1"/>
          <p:cNvSpPr/>
          <p:nvPr/>
        </p:nvSpPr>
        <p:spPr>
          <a:xfrm>
            <a:off x="11283696" y="6245352"/>
            <a:ext cx="320040" cy="320040"/>
          </a:xfrm>
          <a:prstGeom prst="ellipse">
            <a:avLst/>
          </a:prstGeom>
          <a:solidFill>
            <a:srgbClr val="E8734A"/>
          </a:solidFill>
          <a:ln w="9525">
            <a:solidFill>
              <a:srgbClr val="E8734A"/>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6" name="Shape 3"/>
          <p:cNvSpPr/>
          <p:nvPr/>
        </p:nvSpPr>
        <p:spPr>
          <a:xfrm>
            <a:off x="566928" y="2286000"/>
            <a:ext cx="786384" cy="786384"/>
          </a:xfrm>
          <a:prstGeom prst="ellipse">
            <a:avLst/>
          </a:prstGeom>
          <a:solidFill>
            <a:srgbClr val="E8734A"/>
          </a:solidFill>
          <a:ln w="6350">
            <a:solidFill>
              <a:srgbClr val="E8734A"/>
            </a:solidFill>
            <a:prstDash val="solid"/>
          </a:ln>
        </p:spPr>
      </p:sp>
      <p:sp>
        <p:nvSpPr>
          <p:cNvPr id="7" name="Text 4"/>
          <p:cNvSpPr/>
          <p:nvPr/>
        </p:nvSpPr>
        <p:spPr>
          <a:xfrm>
            <a:off x="566928" y="2286000"/>
            <a:ext cx="786384" cy="786384"/>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01</a:t>
            </a:r>
            <a:endParaRPr lang="en-US" sz="2600" dirty="0"/>
          </a:p>
        </p:txBody>
      </p:sp>
      <p:sp>
        <p:nvSpPr>
          <p:cNvPr id="8" name="Text 5"/>
          <p:cNvSpPr/>
          <p:nvPr/>
        </p:nvSpPr>
        <p:spPr>
          <a:xfrm>
            <a:off x="566928" y="3255264"/>
            <a:ext cx="987552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Three model families</a:t>
            </a:r>
            <a:endParaRPr lang="en-US" sz="3400" dirty="0"/>
          </a:p>
        </p:txBody>
      </p:sp>
      <p:sp>
        <p:nvSpPr>
          <p:cNvPr id="9" name="Text 6"/>
          <p:cNvSpPr/>
          <p:nvPr/>
        </p:nvSpPr>
        <p:spPr>
          <a:xfrm>
            <a:off x="566928" y="4133088"/>
            <a:ext cx="8961120" cy="731520"/>
          </a:xfrm>
          <a:prstGeom prst="rect">
            <a:avLst/>
          </a:prstGeom>
          <a:noFill/>
          <a:ln/>
        </p:spPr>
        <p:txBody>
          <a:bodyPr wrap="square" lIns="0" tIns="0" rIns="0" bIns="0" rtlCol="0" anchor="t"/>
          <a:lstStyle/>
          <a:p>
            <a:pPr indent="0" marL="0">
              <a:lnSpc>
                <a:spcPct val="110000"/>
              </a:lnSpc>
              <a:buNone/>
            </a:pPr>
            <a:r>
              <a:rPr lang="en-US" sz="1400" dirty="0">
                <a:solidFill>
                  <a:srgbClr val="B9CEDD"/>
                </a:solidFill>
                <a:latin typeface="Calibri" pitchFamily="34" charset="0"/>
                <a:ea typeface="Calibri" pitchFamily="34" charset="-122"/>
                <a:cs typeface="Calibri" pitchFamily="34" charset="-120"/>
              </a:rPr>
              <a:t>Bagged trees, boosted trees and a neural network — chosen so the comparison is not confined to one kind of model.</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Ailuri Rupa Sri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6</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DESIGN DECISION</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Why three models, not one</a:t>
            </a:r>
            <a:endParaRPr lang="en-US" sz="2800" dirty="0"/>
          </a:p>
        </p:txBody>
      </p:sp>
      <p:sp>
        <p:nvSpPr>
          <p:cNvPr id="8" name="Shape 5"/>
          <p:cNvSpPr/>
          <p:nvPr/>
        </p:nvSpPr>
        <p:spPr>
          <a:xfrm>
            <a:off x="566928" y="1536192"/>
            <a:ext cx="365760" cy="365760"/>
          </a:xfrm>
          <a:prstGeom prst="ellipse">
            <a:avLst/>
          </a:prstGeom>
          <a:solidFill>
            <a:srgbClr val="2F6690"/>
          </a:solidFill>
          <a:ln w="6350">
            <a:solidFill>
              <a:srgbClr val="2F6690"/>
            </a:solidFill>
            <a:prstDash val="solid"/>
          </a:ln>
        </p:spPr>
      </p:sp>
      <p:sp>
        <p:nvSpPr>
          <p:cNvPr id="9" name="Text 6"/>
          <p:cNvSpPr/>
          <p:nvPr/>
        </p:nvSpPr>
        <p:spPr>
          <a:xfrm>
            <a:off x="566928" y="153619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0" name="Text 7"/>
          <p:cNvSpPr/>
          <p:nvPr/>
        </p:nvSpPr>
        <p:spPr>
          <a:xfrm>
            <a:off x="1097280" y="1499616"/>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A single model cannot tell you what is data and what is method</a:t>
            </a:r>
            <a:endParaRPr lang="en-US" sz="1500" dirty="0"/>
          </a:p>
        </p:txBody>
      </p:sp>
      <p:sp>
        <p:nvSpPr>
          <p:cNvPr id="11" name="Text 8"/>
          <p:cNvSpPr/>
          <p:nvPr/>
        </p:nvSpPr>
        <p:spPr>
          <a:xfrm>
            <a:off x="1097280" y="1792224"/>
            <a:ext cx="10524744" cy="491172"/>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When all three families agree on which classes are weak, the weakness belongs to the data rather than to an algorithm.</a:t>
            </a:r>
            <a:endParaRPr lang="en-US" sz="1200" dirty="0"/>
          </a:p>
        </p:txBody>
      </p:sp>
      <p:sp>
        <p:nvSpPr>
          <p:cNvPr id="12" name="Shape 9"/>
          <p:cNvSpPr/>
          <p:nvPr/>
        </p:nvSpPr>
        <p:spPr>
          <a:xfrm>
            <a:off x="566928" y="2374837"/>
            <a:ext cx="365760" cy="365760"/>
          </a:xfrm>
          <a:prstGeom prst="ellipse">
            <a:avLst/>
          </a:prstGeom>
          <a:solidFill>
            <a:srgbClr val="2F6690"/>
          </a:solidFill>
          <a:ln w="6350">
            <a:solidFill>
              <a:srgbClr val="2F6690"/>
            </a:solidFill>
            <a:prstDash val="solid"/>
          </a:ln>
        </p:spPr>
      </p:sp>
      <p:sp>
        <p:nvSpPr>
          <p:cNvPr id="13" name="Text 10"/>
          <p:cNvSpPr/>
          <p:nvPr/>
        </p:nvSpPr>
        <p:spPr>
          <a:xfrm>
            <a:off x="566928" y="2374837"/>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4" name="Text 11"/>
          <p:cNvSpPr/>
          <p:nvPr/>
        </p:nvSpPr>
        <p:spPr>
          <a:xfrm>
            <a:off x="1097280" y="2338261"/>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Random Forest: bagged trees, the project baseline</a:t>
            </a:r>
            <a:endParaRPr lang="en-US" sz="1500" dirty="0"/>
          </a:p>
        </p:txBody>
      </p:sp>
      <p:sp>
        <p:nvSpPr>
          <p:cNvPr id="15" name="Text 12"/>
          <p:cNvSpPr/>
          <p:nvPr/>
        </p:nvSpPr>
        <p:spPr>
          <a:xfrm>
            <a:off x="1097280" y="2630868"/>
            <a:ext cx="10524744" cy="491172"/>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Handles mixed feature scales, exposes feature importance, and is straightforward to constrain.</a:t>
            </a:r>
            <a:endParaRPr lang="en-US" sz="1200" dirty="0"/>
          </a:p>
        </p:txBody>
      </p:sp>
      <p:sp>
        <p:nvSpPr>
          <p:cNvPr id="16" name="Shape 13"/>
          <p:cNvSpPr/>
          <p:nvPr/>
        </p:nvSpPr>
        <p:spPr>
          <a:xfrm>
            <a:off x="566928" y="3213481"/>
            <a:ext cx="365760" cy="365760"/>
          </a:xfrm>
          <a:prstGeom prst="ellipse">
            <a:avLst/>
          </a:prstGeom>
          <a:solidFill>
            <a:srgbClr val="2F6690"/>
          </a:solidFill>
          <a:ln w="6350">
            <a:solidFill>
              <a:srgbClr val="2F6690"/>
            </a:solidFill>
            <a:prstDash val="solid"/>
          </a:ln>
        </p:spPr>
      </p:sp>
      <p:sp>
        <p:nvSpPr>
          <p:cNvPr id="17" name="Text 14"/>
          <p:cNvSpPr/>
          <p:nvPr/>
        </p:nvSpPr>
        <p:spPr>
          <a:xfrm>
            <a:off x="566928" y="3213481"/>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8" name="Text 15"/>
          <p:cNvSpPr/>
          <p:nvPr/>
        </p:nvSpPr>
        <p:spPr>
          <a:xfrm>
            <a:off x="1097280" y="3176905"/>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Gradient Boosting: a stronger tree-based comparison</a:t>
            </a:r>
            <a:endParaRPr lang="en-US" sz="1500" dirty="0"/>
          </a:p>
        </p:txBody>
      </p:sp>
      <p:sp>
        <p:nvSpPr>
          <p:cNvPr id="19" name="Text 16"/>
          <p:cNvSpPr/>
          <p:nvPr/>
        </p:nvSpPr>
        <p:spPr>
          <a:xfrm>
            <a:off x="1097280" y="3469513"/>
            <a:ext cx="10524744" cy="491172"/>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Tests whether a more aggressive tree method buys anything on this feature table.</a:t>
            </a:r>
            <a:endParaRPr lang="en-US" sz="1200" dirty="0"/>
          </a:p>
        </p:txBody>
      </p:sp>
      <p:sp>
        <p:nvSpPr>
          <p:cNvPr id="20" name="Shape 17"/>
          <p:cNvSpPr/>
          <p:nvPr/>
        </p:nvSpPr>
        <p:spPr>
          <a:xfrm>
            <a:off x="566928" y="4052125"/>
            <a:ext cx="365760" cy="365760"/>
          </a:xfrm>
          <a:prstGeom prst="ellipse">
            <a:avLst/>
          </a:prstGeom>
          <a:solidFill>
            <a:srgbClr val="2F6690"/>
          </a:solidFill>
          <a:ln w="6350">
            <a:solidFill>
              <a:srgbClr val="2F6690"/>
            </a:solidFill>
            <a:prstDash val="solid"/>
          </a:ln>
        </p:spPr>
      </p:sp>
      <p:sp>
        <p:nvSpPr>
          <p:cNvPr id="21" name="Text 18"/>
          <p:cNvSpPr/>
          <p:nvPr/>
        </p:nvSpPr>
        <p:spPr>
          <a:xfrm>
            <a:off x="566928" y="4052125"/>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2" name="Text 19"/>
          <p:cNvSpPr/>
          <p:nvPr/>
        </p:nvSpPr>
        <p:spPr>
          <a:xfrm>
            <a:off x="1097280" y="4015549"/>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Neural Network (MLP): a different family entirely</a:t>
            </a:r>
            <a:endParaRPr lang="en-US" sz="1500" dirty="0"/>
          </a:p>
        </p:txBody>
      </p:sp>
      <p:sp>
        <p:nvSpPr>
          <p:cNvPr id="23" name="Text 20"/>
          <p:cNvSpPr/>
          <p:nvPr/>
        </p:nvSpPr>
        <p:spPr>
          <a:xfrm>
            <a:off x="1097280" y="4308158"/>
            <a:ext cx="10524744" cy="491172"/>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Included so the comparison is not confined to trees, and so a non-tree view of the same features is available.</a:t>
            </a:r>
            <a:endParaRPr lang="en-US" sz="1200" dirty="0"/>
          </a:p>
        </p:txBody>
      </p:sp>
      <p:sp>
        <p:nvSpPr>
          <p:cNvPr id="24" name="Shape 21"/>
          <p:cNvSpPr/>
          <p:nvPr/>
        </p:nvSpPr>
        <p:spPr>
          <a:xfrm>
            <a:off x="566928" y="5073650"/>
            <a:ext cx="11055096" cy="943102"/>
          </a:xfrm>
          <a:prstGeom prst="roundRect">
            <a:avLst>
              <a:gd name="adj" fmla="val 6787"/>
            </a:avLst>
          </a:prstGeom>
          <a:solidFill>
            <a:srgbClr val="E9F0F6"/>
          </a:solidFill>
          <a:ln w="9525">
            <a:solidFill>
              <a:srgbClr val="C6D8E5"/>
            </a:solidFill>
            <a:prstDash val="solid"/>
          </a:ln>
        </p:spPr>
      </p:sp>
      <p:sp>
        <p:nvSpPr>
          <p:cNvPr id="25" name="Text 22"/>
          <p:cNvSpPr/>
          <p:nvPr/>
        </p:nvSpPr>
        <p:spPr>
          <a:xfrm>
            <a:off x="786384" y="5201666"/>
            <a:ext cx="10616184" cy="219456"/>
          </a:xfrm>
          <a:prstGeom prst="rect">
            <a:avLst/>
          </a:prstGeom>
          <a:noFill/>
          <a:ln/>
        </p:spPr>
        <p:txBody>
          <a:bodyPr wrap="square" lIns="0" tIns="0" rIns="0" bIns="0" rtlCol="0" anchor="t"/>
          <a:lstStyle/>
          <a:p>
            <a:pPr indent="0" marL="0">
              <a:buNone/>
            </a:pPr>
            <a:r>
              <a:rPr lang="en-US" sz="950" b="1" spc="130" kern="0" dirty="0">
                <a:solidFill>
                  <a:srgbClr val="1F4A68"/>
                </a:solidFill>
                <a:latin typeface="Calibri" pitchFamily="34" charset="0"/>
                <a:ea typeface="Calibri" pitchFamily="34" charset="-122"/>
                <a:cs typeface="Calibri" pitchFamily="34" charset="-120"/>
              </a:rPr>
              <a:t>THE FINDING THIS DESIGN PRODUCED</a:t>
            </a:r>
            <a:endParaRPr lang="en-US" sz="950" dirty="0"/>
          </a:p>
        </p:txBody>
      </p:sp>
      <p:sp>
        <p:nvSpPr>
          <p:cNvPr id="26" name="Text 23"/>
          <p:cNvSpPr/>
          <p:nvPr/>
        </p:nvSpPr>
        <p:spPr>
          <a:xfrm>
            <a:off x="786384" y="5457698"/>
            <a:ext cx="10616184" cy="449326"/>
          </a:xfrm>
          <a:prstGeom prst="rect">
            <a:avLst/>
          </a:prstGeom>
          <a:noFill/>
          <a:ln/>
        </p:spPr>
        <p:txBody>
          <a:bodyPr wrap="square" lIns="0" tIns="0" rIns="0" bIns="0" rtlCol="0" anchor="t"/>
          <a:lstStyle/>
          <a:p>
            <a:pPr indent="0" marL="0">
              <a:lnSpc>
                <a:spcPct val="105000"/>
              </a:lnSpc>
              <a:buNone/>
            </a:pPr>
            <a:r>
              <a:rPr lang="en-US" sz="1250" dirty="0">
                <a:solidFill>
                  <a:srgbClr val="1C2B3A"/>
                </a:solidFill>
                <a:latin typeface="Calibri" pitchFamily="34" charset="0"/>
                <a:ea typeface="Calibri" pitchFamily="34" charset="-122"/>
                <a:cs typeface="Calibri" pitchFamily="34" charset="-120"/>
              </a:rPr>
              <a:t>All three models name lower_limb and thread_the_needle as their weakest classes. That agreement is the evidence that the limit is in the data, not in the choice of algorithm.</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Ailuri Rupa Sri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7</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HYPERPARAMETERS</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Every choice has a stated reason</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Settings were fixed before the test set was touched, and none was tuned against it.</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2011680"/>
          <a:ext cx="11055096" cy="914400"/>
        </p:xfrm>
        <a:graphic>
          <a:graphicData uri="http://schemas.openxmlformats.org/drawingml/2006/table">
            <a:tbl>
              <a:tblPr/>
              <a:tblGrid>
                <a:gridCol w="2286000"/>
                <a:gridCol w="4206240"/>
                <a:gridCol w="4562856"/>
              </a:tblGrid>
              <a:tr h="56692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Model</a:t>
                      </a:r>
                      <a:endParaRPr lang="en-US" sz="115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Settings</a:t>
                      </a:r>
                      <a:endParaRPr lang="en-US" sz="115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Why</a:t>
                      </a:r>
                      <a:endParaRPr lang="en-US" sz="115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r>
              <a:tr h="566928">
                <a:tc>
                  <a:txBody>
                    <a:bodyPr/>
                    <a:lstStyle/>
                    <a:p>
                      <a:pPr algn="l" indent="0" marL="0">
                        <a:buNone/>
                      </a:pPr>
                      <a:r>
                        <a:rPr lang="en-US" sz="1150" dirty="0">
                          <a:solidFill>
                            <a:srgbClr val="1C2B3A"/>
                          </a:solidFill>
                          <a:latin typeface="Calibri" pitchFamily="34" charset="0"/>
                          <a:ea typeface="Calibri" pitchFamily="34" charset="-122"/>
                          <a:cs typeface="Calibri" pitchFamily="34" charset="-120"/>
                        </a:rPr>
                        <a:t>Random Forest</a:t>
                      </a:r>
                      <a:endParaRPr lang="en-US" sz="115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B3A"/>
                          </a:solidFill>
                          <a:latin typeface="Calibri" pitchFamily="34" charset="0"/>
                          <a:ea typeface="Calibri" pitchFamily="34" charset="-122"/>
                          <a:cs typeface="Calibri" pitchFamily="34" charset="-120"/>
                        </a:rPr>
                        <a:t>n_estimators=300, max_depth=12, min_samples_leaf=2, class_weight="balanced"</a:t>
                      </a:r>
                      <a:endParaRPr lang="en-US" sz="115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B3A"/>
                          </a:solidFill>
                          <a:latin typeface="Calibri" pitchFamily="34" charset="0"/>
                          <a:ea typeface="Calibri" pitchFamily="34" charset="-122"/>
                          <a:cs typeface="Calibri" pitchFamily="34" charset="-120"/>
                        </a:rPr>
                        <a:t>Depth constrained on purpose; balanced weights because the classes are unevenly represented</a:t>
                      </a:r>
                      <a:endParaRPr lang="en-US" sz="115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r>
              <a:tr h="566928">
                <a:tc>
                  <a:txBody>
                    <a:bodyPr/>
                    <a:lstStyle/>
                    <a:p>
                      <a:pPr algn="l" indent="0" marL="0">
                        <a:buNone/>
                      </a:pPr>
                      <a:r>
                        <a:rPr lang="en-US" sz="1150" dirty="0">
                          <a:solidFill>
                            <a:srgbClr val="1C2B3A"/>
                          </a:solidFill>
                          <a:latin typeface="Calibri" pitchFamily="34" charset="0"/>
                          <a:ea typeface="Calibri" pitchFamily="34" charset="-122"/>
                          <a:cs typeface="Calibri" pitchFamily="34" charset="-120"/>
                        </a:rPr>
                        <a:t>Gradient Boosting</a:t>
                      </a:r>
                      <a:endParaRPr lang="en-US" sz="115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l" indent="0" marL="0">
                        <a:buNone/>
                      </a:pPr>
                      <a:r>
                        <a:rPr lang="en-US" sz="1150" dirty="0">
                          <a:solidFill>
                            <a:srgbClr val="1C2B3A"/>
                          </a:solidFill>
                          <a:latin typeface="Calibri" pitchFamily="34" charset="0"/>
                          <a:ea typeface="Calibri" pitchFamily="34" charset="-122"/>
                          <a:cs typeface="Calibri" pitchFamily="34" charset="-120"/>
                        </a:rPr>
                        <a:t>n_estimators=150, learning_rate=0.1, max_depth=3</a:t>
                      </a:r>
                      <a:endParaRPr lang="en-US" sz="115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l" indent="0" marL="0">
                        <a:buNone/>
                      </a:pPr>
                      <a:r>
                        <a:rPr lang="en-US" sz="1150" dirty="0">
                          <a:solidFill>
                            <a:srgbClr val="1C2B3A"/>
                          </a:solidFill>
                          <a:latin typeface="Calibri" pitchFamily="34" charset="0"/>
                          <a:ea typeface="Calibri" pitchFamily="34" charset="-122"/>
                          <a:cs typeface="Calibri" pitchFamily="34" charset="-120"/>
                        </a:rPr>
                        <a:t>Shallow trees with a moderate rate — the standard defensive setting for a boosted ensemble</a:t>
                      </a:r>
                      <a:endParaRPr lang="en-US" sz="115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r>
              <a:tr h="566928">
                <a:tc>
                  <a:txBody>
                    <a:bodyPr/>
                    <a:lstStyle/>
                    <a:p>
                      <a:pPr algn="l" indent="0" marL="0">
                        <a:buNone/>
                      </a:pPr>
                      <a:r>
                        <a:rPr lang="en-US" sz="1150" dirty="0">
                          <a:solidFill>
                            <a:srgbClr val="1C2B3A"/>
                          </a:solidFill>
                          <a:latin typeface="Calibri" pitchFamily="34" charset="0"/>
                          <a:ea typeface="Calibri" pitchFamily="34" charset="-122"/>
                          <a:cs typeface="Calibri" pitchFamily="34" charset="-120"/>
                        </a:rPr>
                        <a:t>Neural Network (MLP)</a:t>
                      </a:r>
                      <a:endParaRPr lang="en-US" sz="115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B3A"/>
                          </a:solidFill>
                          <a:latin typeface="Calibri" pitchFamily="34" charset="0"/>
                          <a:ea typeface="Calibri" pitchFamily="34" charset="-122"/>
                          <a:cs typeface="Calibri" pitchFamily="34" charset="-120"/>
                        </a:rPr>
                        <a:t>hidden_layer_sizes=(128, 64), alpha=1e-3, max_iter=1500</a:t>
                      </a:r>
                      <a:endParaRPr lang="en-US" sz="115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B3A"/>
                          </a:solidFill>
                          <a:latin typeface="Calibri" pitchFamily="34" charset="0"/>
                          <a:ea typeface="Calibri" pitchFamily="34" charset="-122"/>
                          <a:cs typeface="Calibri" pitchFamily="34" charset="-120"/>
                        </a:rPr>
                        <a:t>Two hidden layers for 45 features; iterations raised until convergence warnings stopped</a:t>
                      </a:r>
                      <a:endParaRPr lang="en-US" sz="115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r>
            </a:tbl>
          </a:graphicData>
        </a:graphic>
      </p:graphicFrame>
      <p:sp>
        <p:nvSpPr>
          <p:cNvPr id="10" name="Text 6"/>
          <p:cNvSpPr/>
          <p:nvPr/>
        </p:nvSpPr>
        <p:spPr>
          <a:xfrm>
            <a:off x="566928" y="4389120"/>
            <a:ext cx="11055096" cy="329184"/>
          </a:xfrm>
          <a:prstGeom prst="rect">
            <a:avLst/>
          </a:prstGeom>
          <a:noFill/>
          <a:ln/>
        </p:spPr>
        <p:txBody>
          <a:bodyPr wrap="square" lIns="0" tIns="0" rIns="0" bIns="0" rtlCol="0" anchor="t"/>
          <a:lstStyle/>
          <a:p>
            <a:pPr indent="0" marL="0">
              <a:buNone/>
            </a:pPr>
            <a:r>
              <a:rPr lang="en-US" sz="1050" i="1" dirty="0">
                <a:solidFill>
                  <a:srgbClr val="4B6072"/>
                </a:solidFill>
                <a:latin typeface="Calibri" pitchFamily="34" charset="0"/>
                <a:ea typeface="Calibri" pitchFamily="34" charset="-122"/>
                <a:cs typeface="Calibri" pitchFamily="34" charset="-120"/>
              </a:rPr>
              <a:t>All three models share random_state=42, so every result in the report reproduces exactly.</a:t>
            </a:r>
            <a:endParaRPr lang="en-US" sz="1050" dirty="0"/>
          </a:p>
        </p:txBody>
      </p:sp>
      <p:sp>
        <p:nvSpPr>
          <p:cNvPr id="11" name="Shape 7"/>
          <p:cNvSpPr/>
          <p:nvPr/>
        </p:nvSpPr>
        <p:spPr>
          <a:xfrm>
            <a:off x="566928" y="5073650"/>
            <a:ext cx="11055096" cy="943102"/>
          </a:xfrm>
          <a:prstGeom prst="roundRect">
            <a:avLst>
              <a:gd name="adj" fmla="val 6787"/>
            </a:avLst>
          </a:prstGeom>
          <a:solidFill>
            <a:srgbClr val="E9F0F6"/>
          </a:solidFill>
          <a:ln w="9525">
            <a:solidFill>
              <a:srgbClr val="C6D8E5"/>
            </a:solidFill>
            <a:prstDash val="solid"/>
          </a:ln>
        </p:spPr>
      </p:sp>
      <p:sp>
        <p:nvSpPr>
          <p:cNvPr id="12" name="Text 8"/>
          <p:cNvSpPr/>
          <p:nvPr/>
        </p:nvSpPr>
        <p:spPr>
          <a:xfrm>
            <a:off x="786384" y="5201666"/>
            <a:ext cx="10616184" cy="219456"/>
          </a:xfrm>
          <a:prstGeom prst="rect">
            <a:avLst/>
          </a:prstGeom>
          <a:noFill/>
          <a:ln/>
        </p:spPr>
        <p:txBody>
          <a:bodyPr wrap="square" lIns="0" tIns="0" rIns="0" bIns="0" rtlCol="0" anchor="t"/>
          <a:lstStyle/>
          <a:p>
            <a:pPr indent="0" marL="0">
              <a:buNone/>
            </a:pPr>
            <a:r>
              <a:rPr lang="en-US" sz="950" b="1" spc="130" kern="0" dirty="0">
                <a:solidFill>
                  <a:srgbClr val="1F4A68"/>
                </a:solidFill>
                <a:latin typeface="Calibri" pitchFamily="34" charset="0"/>
                <a:ea typeface="Calibri" pitchFamily="34" charset="-122"/>
                <a:cs typeface="Calibri" pitchFamily="34" charset="-120"/>
              </a:rPr>
              <a:t>ONE SETTING THAT NEEDED EXPLAINING</a:t>
            </a:r>
            <a:endParaRPr lang="en-US" sz="950" dirty="0"/>
          </a:p>
        </p:txBody>
      </p:sp>
      <p:sp>
        <p:nvSpPr>
          <p:cNvPr id="13" name="Text 9"/>
          <p:cNvSpPr/>
          <p:nvPr/>
        </p:nvSpPr>
        <p:spPr>
          <a:xfrm>
            <a:off x="786384" y="5457698"/>
            <a:ext cx="10616184" cy="449326"/>
          </a:xfrm>
          <a:prstGeom prst="rect">
            <a:avLst/>
          </a:prstGeom>
          <a:noFill/>
          <a:ln/>
        </p:spPr>
        <p:txBody>
          <a:bodyPr wrap="square" lIns="0" tIns="0" rIns="0" bIns="0" rtlCol="0" anchor="t"/>
          <a:lstStyle/>
          <a:p>
            <a:pPr indent="0" marL="0">
              <a:lnSpc>
                <a:spcPct val="105000"/>
              </a:lnSpc>
              <a:buNone/>
            </a:pPr>
            <a:r>
              <a:rPr lang="en-US" sz="1250" dirty="0">
                <a:solidFill>
                  <a:srgbClr val="1C2B3A"/>
                </a:solidFill>
                <a:latin typeface="Calibri" pitchFamily="34" charset="0"/>
                <a:ea typeface="Calibri" pitchFamily="34" charset="-122"/>
                <a:cs typeface="Calibri" pitchFamily="34" charset="-120"/>
              </a:rPr>
              <a:t>Early stopping is left off for the MLP, because this scikit-learn version’s internal validation scoring fails on string class labels. Convergence is monitored through the loss curve instead.</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Ailuri Rupa Sri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8</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THE MOST DELIBERATE CHOICE</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Random Forest max_depth was constrained to 12</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The unconstrained forest scores better on training data and worse where it matters.</a:t>
            </a:r>
            <a:endParaRPr lang="en-US" sz="1350" dirty="0"/>
          </a:p>
        </p:txBody>
      </p:sp>
      <p:sp>
        <p:nvSpPr>
          <p:cNvPr id="9" name="Shape 6"/>
          <p:cNvSpPr/>
          <p:nvPr/>
        </p:nvSpPr>
        <p:spPr>
          <a:xfrm>
            <a:off x="566928" y="2011680"/>
            <a:ext cx="5372100" cy="2641600"/>
          </a:xfrm>
          <a:prstGeom prst="roundRect">
            <a:avLst>
              <a:gd name="adj" fmla="val 2423"/>
            </a:avLst>
          </a:prstGeom>
          <a:solidFill>
            <a:srgbClr val="FBEDE6"/>
          </a:solidFill>
          <a:ln w="9525">
            <a:solidFill>
              <a:srgbClr val="F0C9B6"/>
            </a:solidFill>
            <a:prstDash val="solid"/>
          </a:ln>
        </p:spPr>
      </p:sp>
      <p:sp>
        <p:nvSpPr>
          <p:cNvPr id="10" name="Text 7"/>
          <p:cNvSpPr/>
          <p:nvPr/>
        </p:nvSpPr>
        <p:spPr>
          <a:xfrm>
            <a:off x="822960" y="2194560"/>
            <a:ext cx="4860036" cy="365760"/>
          </a:xfrm>
          <a:prstGeom prst="rect">
            <a:avLst/>
          </a:prstGeom>
          <a:noFill/>
          <a:ln/>
        </p:spPr>
        <p:txBody>
          <a:bodyPr wrap="square" lIns="0" tIns="0" rIns="0" bIns="0" rtlCol="0" anchor="ctr"/>
          <a:lstStyle/>
          <a:p>
            <a:pPr indent="0" marL="0">
              <a:buNone/>
            </a:pPr>
            <a:r>
              <a:rPr lang="en-US" sz="1500" b="1" dirty="0">
                <a:solidFill>
                  <a:srgbClr val="1F4A68"/>
                </a:solidFill>
                <a:latin typeface="Calibri" pitchFamily="34" charset="0"/>
                <a:ea typeface="Calibri" pitchFamily="34" charset="-122"/>
                <a:cs typeface="Calibri" pitchFamily="34" charset="-120"/>
              </a:rPr>
              <a:t>What unconstrained depth does</a:t>
            </a:r>
            <a:endParaRPr lang="en-US" sz="1500" dirty="0"/>
          </a:p>
        </p:txBody>
      </p:sp>
      <p:sp>
        <p:nvSpPr>
          <p:cNvPr id="11" name="Text 8"/>
          <p:cNvSpPr/>
          <p:nvPr/>
        </p:nvSpPr>
        <p:spPr>
          <a:xfrm>
            <a:off x="822960" y="2615184"/>
            <a:ext cx="4860036" cy="1855216"/>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Training accuracy rises to approximately 1.000.</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Generalisation gets noticeably worse.</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Nothing in the output signals that anything went wrong.</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The failure is invisible unless train and test accuracy are reported together.</a:t>
            </a:r>
            <a:endParaRPr lang="en-US" sz="1250" dirty="0"/>
          </a:p>
        </p:txBody>
      </p:sp>
      <p:sp>
        <p:nvSpPr>
          <p:cNvPr id="12" name="Shape 9"/>
          <p:cNvSpPr/>
          <p:nvPr/>
        </p:nvSpPr>
        <p:spPr>
          <a:xfrm>
            <a:off x="6249924" y="2011680"/>
            <a:ext cx="5372100" cy="2641600"/>
          </a:xfrm>
          <a:prstGeom prst="roundRect">
            <a:avLst>
              <a:gd name="adj" fmla="val 2423"/>
            </a:avLst>
          </a:prstGeom>
          <a:solidFill>
            <a:srgbClr val="F4F7FA"/>
          </a:solidFill>
          <a:ln w="9525">
            <a:solidFill>
              <a:srgbClr val="DDE6EC"/>
            </a:solidFill>
            <a:prstDash val="solid"/>
          </a:ln>
        </p:spPr>
      </p:sp>
      <p:sp>
        <p:nvSpPr>
          <p:cNvPr id="13" name="Text 10"/>
          <p:cNvSpPr/>
          <p:nvPr/>
        </p:nvSpPr>
        <p:spPr>
          <a:xfrm>
            <a:off x="6505956" y="2194560"/>
            <a:ext cx="4860036" cy="365760"/>
          </a:xfrm>
          <a:prstGeom prst="rect">
            <a:avLst/>
          </a:prstGeom>
          <a:noFill/>
          <a:ln/>
        </p:spPr>
        <p:txBody>
          <a:bodyPr wrap="square" lIns="0" tIns="0" rIns="0" bIns="0" rtlCol="0" anchor="ctr"/>
          <a:lstStyle/>
          <a:p>
            <a:pPr indent="0" marL="0">
              <a:buNone/>
            </a:pPr>
            <a:r>
              <a:rPr lang="en-US" sz="1500" b="1" dirty="0">
                <a:solidFill>
                  <a:srgbClr val="1F4A68"/>
                </a:solidFill>
                <a:latin typeface="Calibri" pitchFamily="34" charset="0"/>
                <a:ea typeface="Calibri" pitchFamily="34" charset="-122"/>
                <a:cs typeface="Calibri" pitchFamily="34" charset="-120"/>
              </a:rPr>
              <a:t>What the constraint bought</a:t>
            </a:r>
            <a:endParaRPr lang="en-US" sz="1500" dirty="0"/>
          </a:p>
        </p:txBody>
      </p:sp>
      <p:sp>
        <p:nvSpPr>
          <p:cNvPr id="14" name="Text 11"/>
          <p:cNvSpPr/>
          <p:nvPr/>
        </p:nvSpPr>
        <p:spPr>
          <a:xfrm>
            <a:off x="6505956" y="2615184"/>
            <a:ext cx="4860036" cy="1855216"/>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Training accuracy 0.965 rather than near-perfect memorisation.</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Test accuracy 0.928 and macro F1 0.935.</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A generalisation gap of +0.037, against +0.077 for both other models.</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A model whose training score is a believable description of what it learned.</a:t>
            </a:r>
            <a:endParaRPr lang="en-US" sz="1250" dirty="0"/>
          </a:p>
        </p:txBody>
      </p:sp>
      <p:sp>
        <p:nvSpPr>
          <p:cNvPr id="15" name="Shape 12"/>
          <p:cNvSpPr/>
          <p:nvPr/>
        </p:nvSpPr>
        <p:spPr>
          <a:xfrm>
            <a:off x="566928" y="4909312"/>
            <a:ext cx="11055096" cy="943102"/>
          </a:xfrm>
          <a:prstGeom prst="roundRect">
            <a:avLst>
              <a:gd name="adj" fmla="val 6787"/>
            </a:avLst>
          </a:prstGeom>
          <a:solidFill>
            <a:srgbClr val="E9F0F6"/>
          </a:solidFill>
          <a:ln w="9525">
            <a:solidFill>
              <a:srgbClr val="C6D8E5"/>
            </a:solidFill>
            <a:prstDash val="solid"/>
          </a:ln>
        </p:spPr>
      </p:sp>
      <p:sp>
        <p:nvSpPr>
          <p:cNvPr id="16" name="Text 13"/>
          <p:cNvSpPr/>
          <p:nvPr/>
        </p:nvSpPr>
        <p:spPr>
          <a:xfrm>
            <a:off x="786384" y="5037328"/>
            <a:ext cx="10616184" cy="219456"/>
          </a:xfrm>
          <a:prstGeom prst="rect">
            <a:avLst/>
          </a:prstGeom>
          <a:noFill/>
          <a:ln/>
        </p:spPr>
        <p:txBody>
          <a:bodyPr wrap="square" lIns="0" tIns="0" rIns="0" bIns="0" rtlCol="0" anchor="t"/>
          <a:lstStyle/>
          <a:p>
            <a:pPr indent="0" marL="0">
              <a:buNone/>
            </a:pPr>
            <a:r>
              <a:rPr lang="en-US" sz="950" b="1" spc="130" kern="0" dirty="0">
                <a:solidFill>
                  <a:srgbClr val="1F4A68"/>
                </a:solidFill>
                <a:latin typeface="Calibri" pitchFamily="34" charset="0"/>
                <a:ea typeface="Calibri" pitchFamily="34" charset="-122"/>
                <a:cs typeface="Calibri" pitchFamily="34" charset="-120"/>
              </a:rPr>
              <a:t>THE PRINCIPLE</a:t>
            </a:r>
            <a:endParaRPr lang="en-US" sz="950" dirty="0"/>
          </a:p>
        </p:txBody>
      </p:sp>
      <p:sp>
        <p:nvSpPr>
          <p:cNvPr id="17" name="Text 14"/>
          <p:cNvSpPr/>
          <p:nvPr/>
        </p:nvSpPr>
        <p:spPr>
          <a:xfrm>
            <a:off x="786384" y="5293360"/>
            <a:ext cx="10616184" cy="449326"/>
          </a:xfrm>
          <a:prstGeom prst="rect">
            <a:avLst/>
          </a:prstGeom>
          <a:noFill/>
          <a:ln/>
        </p:spPr>
        <p:txBody>
          <a:bodyPr wrap="square" lIns="0" tIns="0" rIns="0" bIns="0" rtlCol="0" anchor="t"/>
          <a:lstStyle/>
          <a:p>
            <a:pPr indent="0" marL="0">
              <a:lnSpc>
                <a:spcPct val="105000"/>
              </a:lnSpc>
              <a:buNone/>
            </a:pPr>
            <a:r>
              <a:rPr lang="en-US" sz="1250" dirty="0">
                <a:solidFill>
                  <a:srgbClr val="1C2B3A"/>
                </a:solidFill>
                <a:latin typeface="Calibri" pitchFamily="34" charset="0"/>
                <a:ea typeface="Calibri" pitchFamily="34" charset="-122"/>
                <a:cs typeface="Calibri" pitchFamily="34" charset="-120"/>
              </a:rPr>
              <a:t>A perfect training score is a warning, not an achievement. Constraining depth costs a little training accuracy and buys a model that behaves the same way on data it has not seen.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4A68"/>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B9CEDD"/>
                </a:solidFill>
                <a:latin typeface="Calibri" pitchFamily="34" charset="0"/>
                <a:ea typeface="Calibri" pitchFamily="34" charset="-122"/>
                <a:cs typeface="Calibri" pitchFamily="34" charset="-120"/>
              </a:rPr>
              <a:t>A60 AI4Mobility  ·  Ailuri Rupa Sri  ·  Team Deepminds</a:t>
            </a:r>
            <a:endParaRPr lang="en-US" sz="900" dirty="0"/>
          </a:p>
        </p:txBody>
      </p:sp>
      <p:sp>
        <p:nvSpPr>
          <p:cNvPr id="3" name="Shape 1"/>
          <p:cNvSpPr/>
          <p:nvPr/>
        </p:nvSpPr>
        <p:spPr>
          <a:xfrm>
            <a:off x="11283696" y="6245352"/>
            <a:ext cx="320040" cy="320040"/>
          </a:xfrm>
          <a:prstGeom prst="ellipse">
            <a:avLst/>
          </a:prstGeom>
          <a:solidFill>
            <a:srgbClr val="E8734A"/>
          </a:solidFill>
          <a:ln w="9525">
            <a:solidFill>
              <a:srgbClr val="E8734A"/>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6" name="Shape 3"/>
          <p:cNvSpPr/>
          <p:nvPr/>
        </p:nvSpPr>
        <p:spPr>
          <a:xfrm>
            <a:off x="566928" y="2286000"/>
            <a:ext cx="786384" cy="786384"/>
          </a:xfrm>
          <a:prstGeom prst="ellipse">
            <a:avLst/>
          </a:prstGeom>
          <a:solidFill>
            <a:srgbClr val="E8734A"/>
          </a:solidFill>
          <a:ln w="6350">
            <a:solidFill>
              <a:srgbClr val="E8734A"/>
            </a:solidFill>
            <a:prstDash val="solid"/>
          </a:ln>
        </p:spPr>
      </p:sp>
      <p:sp>
        <p:nvSpPr>
          <p:cNvPr id="7" name="Text 4"/>
          <p:cNvSpPr/>
          <p:nvPr/>
        </p:nvSpPr>
        <p:spPr>
          <a:xfrm>
            <a:off x="566928" y="2286000"/>
            <a:ext cx="786384" cy="786384"/>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02</a:t>
            </a:r>
            <a:endParaRPr lang="en-US" sz="2600" dirty="0"/>
          </a:p>
        </p:txBody>
      </p:sp>
      <p:sp>
        <p:nvSpPr>
          <p:cNvPr id="8" name="Text 5"/>
          <p:cNvSpPr/>
          <p:nvPr/>
        </p:nvSpPr>
        <p:spPr>
          <a:xfrm>
            <a:off x="566928" y="3255264"/>
            <a:ext cx="987552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evaluation protocol</a:t>
            </a:r>
            <a:endParaRPr lang="en-US" sz="3400" dirty="0"/>
          </a:p>
        </p:txBody>
      </p:sp>
      <p:sp>
        <p:nvSpPr>
          <p:cNvPr id="9" name="Text 6"/>
          <p:cNvSpPr/>
          <p:nvPr/>
        </p:nvSpPr>
        <p:spPr>
          <a:xfrm>
            <a:off x="566928" y="4133088"/>
            <a:ext cx="8961120" cy="731520"/>
          </a:xfrm>
          <a:prstGeom prst="rect">
            <a:avLst/>
          </a:prstGeom>
          <a:noFill/>
          <a:ln/>
        </p:spPr>
        <p:txBody>
          <a:bodyPr wrap="square" lIns="0" tIns="0" rIns="0" bIns="0" rtlCol="0" anchor="t"/>
          <a:lstStyle/>
          <a:p>
            <a:pPr indent="0" marL="0">
              <a:lnSpc>
                <a:spcPct val="110000"/>
              </a:lnSpc>
              <a:buNone/>
            </a:pPr>
            <a:r>
              <a:rPr lang="en-US" sz="1400" dirty="0">
                <a:solidFill>
                  <a:srgbClr val="B9CEDD"/>
                </a:solidFill>
                <a:latin typeface="Calibri" pitchFamily="34" charset="0"/>
                <a:ea typeface="Calibri" pitchFamily="34" charset="-122"/>
                <a:cs typeface="Calibri" pitchFamily="34" charset="-120"/>
              </a:rPr>
              <a:t>Cross-validation on training data only, a test set scored once, and per-class metrics reported alongside accuracy.</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Ailuri Rupa Sri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10</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PROTOCOL</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Five-fold cross-validation, then one test score</a:t>
            </a:r>
            <a:endParaRPr lang="en-US" sz="2800" dirty="0"/>
          </a:p>
        </p:txBody>
      </p:sp>
      <p:sp>
        <p:nvSpPr>
          <p:cNvPr id="8" name="Shape 5"/>
          <p:cNvSpPr/>
          <p:nvPr/>
        </p:nvSpPr>
        <p:spPr>
          <a:xfrm>
            <a:off x="566928" y="1536192"/>
            <a:ext cx="365760" cy="365760"/>
          </a:xfrm>
          <a:prstGeom prst="ellipse">
            <a:avLst/>
          </a:prstGeom>
          <a:solidFill>
            <a:srgbClr val="2F6690"/>
          </a:solidFill>
          <a:ln w="6350">
            <a:solidFill>
              <a:srgbClr val="2F6690"/>
            </a:solidFill>
            <a:prstDash val="solid"/>
          </a:ln>
        </p:spPr>
      </p:sp>
      <p:sp>
        <p:nvSpPr>
          <p:cNvPr id="9" name="Text 6"/>
          <p:cNvSpPr/>
          <p:nvPr/>
        </p:nvSpPr>
        <p:spPr>
          <a:xfrm>
            <a:off x="566928" y="153619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0" name="Text 7"/>
          <p:cNvSpPr/>
          <p:nvPr/>
        </p:nvSpPr>
        <p:spPr>
          <a:xfrm>
            <a:off x="1097280" y="1499616"/>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Cross-validation runs on the training partition only</a:t>
            </a:r>
            <a:endParaRPr lang="en-US" sz="1500" dirty="0"/>
          </a:p>
        </p:txBody>
      </p:sp>
      <p:sp>
        <p:nvSpPr>
          <p:cNvPr id="11" name="Text 8"/>
          <p:cNvSpPr/>
          <p:nvPr/>
        </p:nvSpPr>
        <p:spPr>
          <a:xfrm>
            <a:off x="1097280" y="1792224"/>
            <a:ext cx="10524744" cy="323444"/>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Five folds, scored on macro F1, used for every model selection decision.</a:t>
            </a:r>
            <a:endParaRPr lang="en-US" sz="1200" dirty="0"/>
          </a:p>
        </p:txBody>
      </p:sp>
      <p:sp>
        <p:nvSpPr>
          <p:cNvPr id="12" name="Shape 9"/>
          <p:cNvSpPr/>
          <p:nvPr/>
        </p:nvSpPr>
        <p:spPr>
          <a:xfrm>
            <a:off x="566928" y="2207108"/>
            <a:ext cx="365760" cy="365760"/>
          </a:xfrm>
          <a:prstGeom prst="ellipse">
            <a:avLst/>
          </a:prstGeom>
          <a:solidFill>
            <a:srgbClr val="2F6690"/>
          </a:solidFill>
          <a:ln w="6350">
            <a:solidFill>
              <a:srgbClr val="2F6690"/>
            </a:solidFill>
            <a:prstDash val="solid"/>
          </a:ln>
        </p:spPr>
      </p:sp>
      <p:sp>
        <p:nvSpPr>
          <p:cNvPr id="13" name="Text 10"/>
          <p:cNvSpPr/>
          <p:nvPr/>
        </p:nvSpPr>
        <p:spPr>
          <a:xfrm>
            <a:off x="566928" y="2207108"/>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4" name="Text 11"/>
          <p:cNvSpPr/>
          <p:nvPr/>
        </p:nvSpPr>
        <p:spPr>
          <a:xfrm>
            <a:off x="1097280" y="2170532"/>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The test set was scored exactly once</a:t>
            </a:r>
            <a:endParaRPr lang="en-US" sz="1500" dirty="0"/>
          </a:p>
        </p:txBody>
      </p:sp>
      <p:sp>
        <p:nvSpPr>
          <p:cNvPr id="15" name="Text 12"/>
          <p:cNvSpPr/>
          <p:nvPr/>
        </p:nvSpPr>
        <p:spPr>
          <a:xfrm>
            <a:off x="1097280" y="2463140"/>
            <a:ext cx="10524744" cy="323444"/>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After all model selection was complete. It was never used to choose a setting.</a:t>
            </a:r>
            <a:endParaRPr lang="en-US" sz="1200" dirty="0"/>
          </a:p>
        </p:txBody>
      </p:sp>
      <p:sp>
        <p:nvSpPr>
          <p:cNvPr id="16" name="Shape 13"/>
          <p:cNvSpPr/>
          <p:nvPr/>
        </p:nvSpPr>
        <p:spPr>
          <a:xfrm>
            <a:off x="566928" y="2878023"/>
            <a:ext cx="365760" cy="365760"/>
          </a:xfrm>
          <a:prstGeom prst="ellipse">
            <a:avLst/>
          </a:prstGeom>
          <a:solidFill>
            <a:srgbClr val="2F6690"/>
          </a:solidFill>
          <a:ln w="6350">
            <a:solidFill>
              <a:srgbClr val="2F6690"/>
            </a:solidFill>
            <a:prstDash val="solid"/>
          </a:ln>
        </p:spPr>
      </p:sp>
      <p:sp>
        <p:nvSpPr>
          <p:cNvPr id="17" name="Text 14"/>
          <p:cNvSpPr/>
          <p:nvPr/>
        </p:nvSpPr>
        <p:spPr>
          <a:xfrm>
            <a:off x="566928" y="2878023"/>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8" name="Text 15"/>
          <p:cNvSpPr/>
          <p:nvPr/>
        </p:nvSpPr>
        <p:spPr>
          <a:xfrm>
            <a:off x="1097280" y="2841447"/>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The split is by subject, not by frame</a:t>
            </a:r>
            <a:endParaRPr lang="en-US" sz="1500" dirty="0"/>
          </a:p>
        </p:txBody>
      </p:sp>
      <p:sp>
        <p:nvSpPr>
          <p:cNvPr id="19" name="Text 16"/>
          <p:cNvSpPr/>
          <p:nvPr/>
        </p:nvSpPr>
        <p:spPr>
          <a:xfrm>
            <a:off x="1097280" y="3134055"/>
            <a:ext cx="10524744" cy="323444"/>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577 training frames and 195 test frames, with whole subjects on one side or the other.</a:t>
            </a:r>
            <a:endParaRPr lang="en-US" sz="1200" dirty="0"/>
          </a:p>
        </p:txBody>
      </p:sp>
      <p:sp>
        <p:nvSpPr>
          <p:cNvPr id="20" name="Shape 17"/>
          <p:cNvSpPr/>
          <p:nvPr/>
        </p:nvSpPr>
        <p:spPr>
          <a:xfrm>
            <a:off x="566928" y="3548939"/>
            <a:ext cx="365760" cy="365760"/>
          </a:xfrm>
          <a:prstGeom prst="ellipse">
            <a:avLst/>
          </a:prstGeom>
          <a:solidFill>
            <a:srgbClr val="2F6690"/>
          </a:solidFill>
          <a:ln w="6350">
            <a:solidFill>
              <a:srgbClr val="2F6690"/>
            </a:solidFill>
            <a:prstDash val="solid"/>
          </a:ln>
        </p:spPr>
      </p:sp>
      <p:sp>
        <p:nvSpPr>
          <p:cNvPr id="21" name="Text 18"/>
          <p:cNvSpPr/>
          <p:nvPr/>
        </p:nvSpPr>
        <p:spPr>
          <a:xfrm>
            <a:off x="566928" y="3548939"/>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2" name="Text 19"/>
          <p:cNvSpPr/>
          <p:nvPr/>
        </p:nvSpPr>
        <p:spPr>
          <a:xfrm>
            <a:off x="1097280" y="3512363"/>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The scaler is fitted on training data only</a:t>
            </a:r>
            <a:endParaRPr lang="en-US" sz="1500" dirty="0"/>
          </a:p>
        </p:txBody>
      </p:sp>
      <p:sp>
        <p:nvSpPr>
          <p:cNvPr id="23" name="Text 20"/>
          <p:cNvSpPr/>
          <p:nvPr/>
        </p:nvSpPr>
        <p:spPr>
          <a:xfrm>
            <a:off x="1097280" y="3804971"/>
            <a:ext cx="10524744" cy="323444"/>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Fitting before splitting would leak test statistics into training, and nothing in the metrics would show it.</a:t>
            </a:r>
            <a:endParaRPr lang="en-US" sz="1200" dirty="0"/>
          </a:p>
        </p:txBody>
      </p:sp>
      <p:sp>
        <p:nvSpPr>
          <p:cNvPr id="24" name="Shape 21"/>
          <p:cNvSpPr/>
          <p:nvPr/>
        </p:nvSpPr>
        <p:spPr>
          <a:xfrm>
            <a:off x="566928" y="4219854"/>
            <a:ext cx="365760" cy="365760"/>
          </a:xfrm>
          <a:prstGeom prst="ellipse">
            <a:avLst/>
          </a:prstGeom>
          <a:solidFill>
            <a:srgbClr val="2F6690"/>
          </a:solidFill>
          <a:ln w="6350">
            <a:solidFill>
              <a:srgbClr val="2F6690"/>
            </a:solidFill>
            <a:prstDash val="solid"/>
          </a:ln>
        </p:spPr>
      </p:sp>
      <p:sp>
        <p:nvSpPr>
          <p:cNvPr id="25" name="Text 22"/>
          <p:cNvSpPr/>
          <p:nvPr/>
        </p:nvSpPr>
        <p:spPr>
          <a:xfrm>
            <a:off x="566928" y="4219854"/>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6" name="Text 23"/>
          <p:cNvSpPr/>
          <p:nvPr/>
        </p:nvSpPr>
        <p:spPr>
          <a:xfrm>
            <a:off x="1097280" y="4183278"/>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Identical inputs for all three models</a:t>
            </a:r>
            <a:endParaRPr lang="en-US" sz="1500" dirty="0"/>
          </a:p>
        </p:txBody>
      </p:sp>
      <p:sp>
        <p:nvSpPr>
          <p:cNvPr id="27" name="Text 24"/>
          <p:cNvSpPr/>
          <p:nvPr/>
        </p:nvSpPr>
        <p:spPr>
          <a:xfrm>
            <a:off x="1097280" y="4475886"/>
            <a:ext cx="10524744" cy="323444"/>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Same features, same splits, same seed, so differences are attributable to the model.</a:t>
            </a:r>
            <a:endParaRPr lang="en-US" sz="1200" dirty="0"/>
          </a:p>
        </p:txBody>
      </p:sp>
      <p:sp>
        <p:nvSpPr>
          <p:cNvPr id="28" name="Shape 25"/>
          <p:cNvSpPr/>
          <p:nvPr/>
        </p:nvSpPr>
        <p:spPr>
          <a:xfrm>
            <a:off x="566928" y="5073650"/>
            <a:ext cx="11055096" cy="943102"/>
          </a:xfrm>
          <a:prstGeom prst="roundRect">
            <a:avLst>
              <a:gd name="adj" fmla="val 6787"/>
            </a:avLst>
          </a:prstGeom>
          <a:solidFill>
            <a:srgbClr val="E9F0F6"/>
          </a:solidFill>
          <a:ln w="9525">
            <a:solidFill>
              <a:srgbClr val="C6D8E5"/>
            </a:solidFill>
            <a:prstDash val="solid"/>
          </a:ln>
        </p:spPr>
      </p:sp>
      <p:sp>
        <p:nvSpPr>
          <p:cNvPr id="29" name="Text 26"/>
          <p:cNvSpPr/>
          <p:nvPr/>
        </p:nvSpPr>
        <p:spPr>
          <a:xfrm>
            <a:off x="786384" y="5201666"/>
            <a:ext cx="10616184" cy="219456"/>
          </a:xfrm>
          <a:prstGeom prst="rect">
            <a:avLst/>
          </a:prstGeom>
          <a:noFill/>
          <a:ln/>
        </p:spPr>
        <p:txBody>
          <a:bodyPr wrap="square" lIns="0" tIns="0" rIns="0" bIns="0" rtlCol="0" anchor="t"/>
          <a:lstStyle/>
          <a:p>
            <a:pPr indent="0" marL="0">
              <a:buNone/>
            </a:pPr>
            <a:r>
              <a:rPr lang="en-US" sz="950" b="1" spc="130" kern="0" dirty="0">
                <a:solidFill>
                  <a:srgbClr val="1F4A68"/>
                </a:solidFill>
                <a:latin typeface="Calibri" pitchFamily="34" charset="0"/>
                <a:ea typeface="Calibri" pitchFamily="34" charset="-122"/>
                <a:cs typeface="Calibri" pitchFamily="34" charset="-120"/>
              </a:rPr>
              <a:t>WHY THIS IS STATED SO PROMINENTLY</a:t>
            </a:r>
            <a:endParaRPr lang="en-US" sz="950" dirty="0"/>
          </a:p>
        </p:txBody>
      </p:sp>
      <p:sp>
        <p:nvSpPr>
          <p:cNvPr id="30" name="Text 27"/>
          <p:cNvSpPr/>
          <p:nvPr/>
        </p:nvSpPr>
        <p:spPr>
          <a:xfrm>
            <a:off x="786384" y="5457698"/>
            <a:ext cx="10616184" cy="449326"/>
          </a:xfrm>
          <a:prstGeom prst="rect">
            <a:avLst/>
          </a:prstGeom>
          <a:noFill/>
          <a:ln/>
        </p:spPr>
        <p:txBody>
          <a:bodyPr wrap="square" lIns="0" tIns="0" rIns="0" bIns="0" rtlCol="0" anchor="t"/>
          <a:lstStyle/>
          <a:p>
            <a:pPr indent="0" marL="0">
              <a:lnSpc>
                <a:spcPct val="105000"/>
              </a:lnSpc>
              <a:buNone/>
            </a:pPr>
            <a:r>
              <a:rPr lang="en-US" sz="1250" dirty="0">
                <a:solidFill>
                  <a:srgbClr val="1C2B3A"/>
                </a:solidFill>
                <a:latin typeface="Calibri" pitchFamily="34" charset="0"/>
                <a:ea typeface="Calibri" pitchFamily="34" charset="-122"/>
                <a:cs typeface="Calibri" pitchFamily="34" charset="-120"/>
              </a:rPr>
              <a:t>Cross-validated macro F1 of 0.955 for the Random Forest sits above its test score of 0.935. Reporting both is what makes the difference between the two visible rather than hidden.</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Ailuri Rupa Sri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11</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REPORTING</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Per-class metrics, not headline accuracy</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One number for a six-class problem hides the failure that would matter most to a parent.</a:t>
            </a:r>
            <a:endParaRPr lang="en-US" sz="1350" dirty="0"/>
          </a:p>
        </p:txBody>
      </p:sp>
      <p:sp>
        <p:nvSpPr>
          <p:cNvPr id="9" name="Shape 6"/>
          <p:cNvSpPr/>
          <p:nvPr/>
        </p:nvSpPr>
        <p:spPr>
          <a:xfrm>
            <a:off x="566928" y="2475260"/>
            <a:ext cx="5372100" cy="2641600"/>
          </a:xfrm>
          <a:prstGeom prst="roundRect">
            <a:avLst>
              <a:gd name="adj" fmla="val 2423"/>
            </a:avLst>
          </a:prstGeom>
          <a:solidFill>
            <a:srgbClr val="F4F7FA"/>
          </a:solidFill>
          <a:ln w="9525">
            <a:solidFill>
              <a:srgbClr val="DDE6EC"/>
            </a:solidFill>
            <a:prstDash val="solid"/>
          </a:ln>
        </p:spPr>
      </p:sp>
      <p:sp>
        <p:nvSpPr>
          <p:cNvPr id="10" name="Text 7"/>
          <p:cNvSpPr/>
          <p:nvPr/>
        </p:nvSpPr>
        <p:spPr>
          <a:xfrm>
            <a:off x="822960" y="2658140"/>
            <a:ext cx="4860036" cy="365760"/>
          </a:xfrm>
          <a:prstGeom prst="rect">
            <a:avLst/>
          </a:prstGeom>
          <a:noFill/>
          <a:ln/>
        </p:spPr>
        <p:txBody>
          <a:bodyPr wrap="square" lIns="0" tIns="0" rIns="0" bIns="0" rtlCol="0" anchor="ctr"/>
          <a:lstStyle/>
          <a:p>
            <a:pPr indent="0" marL="0">
              <a:buNone/>
            </a:pPr>
            <a:r>
              <a:rPr lang="en-US" sz="1500" b="1" dirty="0">
                <a:solidFill>
                  <a:srgbClr val="1F4A68"/>
                </a:solidFill>
                <a:latin typeface="Calibri" pitchFamily="34" charset="0"/>
                <a:ea typeface="Calibri" pitchFamily="34" charset="-122"/>
                <a:cs typeface="Calibri" pitchFamily="34" charset="-120"/>
              </a:rPr>
              <a:t>What accuracy alone hides</a:t>
            </a:r>
            <a:endParaRPr lang="en-US" sz="1500" dirty="0"/>
          </a:p>
        </p:txBody>
      </p:sp>
      <p:sp>
        <p:nvSpPr>
          <p:cNvPr id="11" name="Text 8"/>
          <p:cNvSpPr/>
          <p:nvPr/>
        </p:nvSpPr>
        <p:spPr>
          <a:xfrm>
            <a:off x="822960" y="3078764"/>
            <a:ext cx="4860036" cy="1855216"/>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A class that is quietly wrong is worse than a slightly lower overall score.</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largest class can carry the headline while a small class fails.</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calf_control has a test support of only 14 frames — its perfect score needs that caveat attached.</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Accuracy says nothing about which mistakes are being made.</a:t>
            </a:r>
            <a:endParaRPr lang="en-US" sz="1250" dirty="0"/>
          </a:p>
        </p:txBody>
      </p:sp>
      <p:sp>
        <p:nvSpPr>
          <p:cNvPr id="12" name="Shape 9"/>
          <p:cNvSpPr/>
          <p:nvPr/>
        </p:nvSpPr>
        <p:spPr>
          <a:xfrm>
            <a:off x="6249924" y="2475260"/>
            <a:ext cx="5372100" cy="2641600"/>
          </a:xfrm>
          <a:prstGeom prst="roundRect">
            <a:avLst>
              <a:gd name="adj" fmla="val 2423"/>
            </a:avLst>
          </a:prstGeom>
          <a:solidFill>
            <a:srgbClr val="F4F7FA"/>
          </a:solidFill>
          <a:ln w="9525">
            <a:solidFill>
              <a:srgbClr val="DDE6EC"/>
            </a:solidFill>
            <a:prstDash val="solid"/>
          </a:ln>
        </p:spPr>
      </p:sp>
      <p:sp>
        <p:nvSpPr>
          <p:cNvPr id="13" name="Text 10"/>
          <p:cNvSpPr/>
          <p:nvPr/>
        </p:nvSpPr>
        <p:spPr>
          <a:xfrm>
            <a:off x="6505956" y="2658140"/>
            <a:ext cx="4860036" cy="365760"/>
          </a:xfrm>
          <a:prstGeom prst="rect">
            <a:avLst/>
          </a:prstGeom>
          <a:noFill/>
          <a:ln/>
        </p:spPr>
        <p:txBody>
          <a:bodyPr wrap="square" lIns="0" tIns="0" rIns="0" bIns="0" rtlCol="0" anchor="ctr"/>
          <a:lstStyle/>
          <a:p>
            <a:pPr indent="0" marL="0">
              <a:buNone/>
            </a:pPr>
            <a:r>
              <a:rPr lang="en-US" sz="1500" b="1" dirty="0">
                <a:solidFill>
                  <a:srgbClr val="1F4A68"/>
                </a:solidFill>
                <a:latin typeface="Calibri" pitchFamily="34" charset="0"/>
                <a:ea typeface="Calibri" pitchFamily="34" charset="-122"/>
                <a:cs typeface="Calibri" pitchFamily="34" charset="-120"/>
              </a:rPr>
              <a:t>What we report instead</a:t>
            </a:r>
            <a:endParaRPr lang="en-US" sz="1500" dirty="0"/>
          </a:p>
        </p:txBody>
      </p:sp>
      <p:sp>
        <p:nvSpPr>
          <p:cNvPr id="14" name="Text 11"/>
          <p:cNvSpPr/>
          <p:nvPr/>
        </p:nvSpPr>
        <p:spPr>
          <a:xfrm>
            <a:off x="6505956" y="3078764"/>
            <a:ext cx="4860036" cy="1855216"/>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Precision, recall and F1 for every class, with support.</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Macro F1 alongside accuracy, so small classes count equally.</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Train accuracy and test accuracy together, so the gap is visible.</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The full confusion matrix, so the shape of the errors is inspectable.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4A68"/>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B9CEDD"/>
                </a:solidFill>
                <a:latin typeface="Calibri" pitchFamily="34" charset="0"/>
                <a:ea typeface="Calibri" pitchFamily="34" charset="-122"/>
                <a:cs typeface="Calibri" pitchFamily="34" charset="-120"/>
              </a:rPr>
              <a:t>A60 AI4Mobility  ·  Ailuri Rupa Sri  ·  Team Deepminds</a:t>
            </a:r>
            <a:endParaRPr lang="en-US" sz="900" dirty="0"/>
          </a:p>
        </p:txBody>
      </p:sp>
      <p:sp>
        <p:nvSpPr>
          <p:cNvPr id="3" name="Shape 1"/>
          <p:cNvSpPr/>
          <p:nvPr/>
        </p:nvSpPr>
        <p:spPr>
          <a:xfrm>
            <a:off x="11283696" y="6245352"/>
            <a:ext cx="320040" cy="320040"/>
          </a:xfrm>
          <a:prstGeom prst="ellipse">
            <a:avLst/>
          </a:prstGeom>
          <a:solidFill>
            <a:srgbClr val="E8734A"/>
          </a:solidFill>
          <a:ln w="9525">
            <a:solidFill>
              <a:srgbClr val="E8734A"/>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12</a:t>
            </a:r>
            <a:endParaRPr lang="en-US" sz="1000" dirty="0"/>
          </a:p>
        </p:txBody>
      </p:sp>
      <p:sp>
        <p:nvSpPr>
          <p:cNvPr id="6" name="Shape 3"/>
          <p:cNvSpPr/>
          <p:nvPr/>
        </p:nvSpPr>
        <p:spPr>
          <a:xfrm>
            <a:off x="566928" y="2286000"/>
            <a:ext cx="786384" cy="786384"/>
          </a:xfrm>
          <a:prstGeom prst="ellipse">
            <a:avLst/>
          </a:prstGeom>
          <a:solidFill>
            <a:srgbClr val="E8734A"/>
          </a:solidFill>
          <a:ln w="6350">
            <a:solidFill>
              <a:srgbClr val="E8734A"/>
            </a:solidFill>
            <a:prstDash val="solid"/>
          </a:ln>
        </p:spPr>
      </p:sp>
      <p:sp>
        <p:nvSpPr>
          <p:cNvPr id="7" name="Text 4"/>
          <p:cNvSpPr/>
          <p:nvPr/>
        </p:nvSpPr>
        <p:spPr>
          <a:xfrm>
            <a:off x="566928" y="2286000"/>
            <a:ext cx="786384" cy="786384"/>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03</a:t>
            </a:r>
            <a:endParaRPr lang="en-US" sz="2600" dirty="0"/>
          </a:p>
        </p:txBody>
      </p:sp>
      <p:sp>
        <p:nvSpPr>
          <p:cNvPr id="8" name="Text 5"/>
          <p:cNvSpPr/>
          <p:nvPr/>
        </p:nvSpPr>
        <p:spPr>
          <a:xfrm>
            <a:off x="566928" y="3255264"/>
            <a:ext cx="987552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Results</a:t>
            </a:r>
            <a:endParaRPr lang="en-US" sz="3400" dirty="0"/>
          </a:p>
        </p:txBody>
      </p:sp>
      <p:sp>
        <p:nvSpPr>
          <p:cNvPr id="9" name="Text 6"/>
          <p:cNvSpPr/>
          <p:nvPr/>
        </p:nvSpPr>
        <p:spPr>
          <a:xfrm>
            <a:off x="566928" y="4133088"/>
            <a:ext cx="8961120" cy="731520"/>
          </a:xfrm>
          <a:prstGeom prst="rect">
            <a:avLst/>
          </a:prstGeom>
          <a:noFill/>
          <a:ln/>
        </p:spPr>
        <p:txBody>
          <a:bodyPr wrap="square" lIns="0" tIns="0" rIns="0" bIns="0" rtlCol="0" anchor="t"/>
          <a:lstStyle/>
          <a:p>
            <a:pPr indent="0" marL="0">
              <a:lnSpc>
                <a:spcPct val="110000"/>
              </a:lnSpc>
              <a:buNone/>
            </a:pPr>
            <a:r>
              <a:rPr lang="en-US" sz="1400" dirty="0">
                <a:solidFill>
                  <a:srgbClr val="B9CEDD"/>
                </a:solidFill>
                <a:latin typeface="Calibri" pitchFamily="34" charset="0"/>
                <a:ea typeface="Calibri" pitchFamily="34" charset="-122"/>
                <a:cs typeface="Calibri" pitchFamily="34" charset="-120"/>
              </a:rPr>
              <a:t>Three models within half a point of each other on accuracy, and a clear difference in how well they generalise.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Ailuri Rupa Sri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13</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MODEL COMPARISON</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Random Forest wins narrowly, and generalises best</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Three model families, identical data and identical splits. Measured on synthetic data.</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2011680"/>
          <a:ext cx="11055096" cy="914400"/>
        </p:xfrm>
        <a:graphic>
          <a:graphicData uri="http://schemas.openxmlformats.org/drawingml/2006/table">
            <a:tbl>
              <a:tblPr/>
              <a:tblGrid>
                <a:gridCol w="2606040"/>
                <a:gridCol w="1600200"/>
                <a:gridCol w="1600200"/>
                <a:gridCol w="2423160"/>
                <a:gridCol w="1463040"/>
                <a:gridCol w="1362456"/>
              </a:tblGrid>
              <a:tr h="56692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Test accuracy</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Test macro F1</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CV macro F1 (5-fold, train only)</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Train accuracy</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Generalisation gap</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r>
              <a:tr h="566928">
                <a:tc>
                  <a:txBody>
                    <a:bodyPr/>
                    <a:lstStyle/>
                    <a:p>
                      <a:pPr algn="l" indent="0" marL="0">
                        <a:buNone/>
                      </a:pPr>
                      <a:r>
                        <a:rPr lang="en-US" sz="1200" b="1" dirty="0">
                          <a:solidFill>
                            <a:srgbClr val="1F4A68"/>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c>
                  <a:txBody>
                    <a:bodyPr/>
                    <a:lstStyle/>
                    <a:p>
                      <a:pPr algn="ctr" indent="0" marL="0">
                        <a:buNone/>
                      </a:pPr>
                      <a:r>
                        <a:rPr lang="en-US" sz="1200" b="1" dirty="0">
                          <a:solidFill>
                            <a:srgbClr val="1F4A68"/>
                          </a:solidFill>
                          <a:latin typeface="Calibri" pitchFamily="34" charset="0"/>
                          <a:ea typeface="Calibri" pitchFamily="34" charset="-122"/>
                          <a:cs typeface="Calibri" pitchFamily="34" charset="-120"/>
                        </a:rPr>
                        <a:t>0.928</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c>
                  <a:txBody>
                    <a:bodyPr/>
                    <a:lstStyle/>
                    <a:p>
                      <a:pPr algn="ctr" indent="0" marL="0">
                        <a:buNone/>
                      </a:pPr>
                      <a:r>
                        <a:rPr lang="en-US" sz="1200" b="1" dirty="0">
                          <a:solidFill>
                            <a:srgbClr val="1F4A68"/>
                          </a:solidFill>
                          <a:latin typeface="Calibri" pitchFamily="34" charset="0"/>
                          <a:ea typeface="Calibri" pitchFamily="34" charset="-122"/>
                          <a:cs typeface="Calibri" pitchFamily="34" charset="-120"/>
                        </a:rPr>
                        <a:t>0.935</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c>
                  <a:txBody>
                    <a:bodyPr/>
                    <a:lstStyle/>
                    <a:p>
                      <a:pPr algn="ctr" indent="0" marL="0">
                        <a:buNone/>
                      </a:pPr>
                      <a:r>
                        <a:rPr lang="en-US" sz="1200" b="1" dirty="0">
                          <a:solidFill>
                            <a:srgbClr val="1F4A68"/>
                          </a:solidFill>
                          <a:latin typeface="Calibri" pitchFamily="34" charset="0"/>
                          <a:ea typeface="Calibri" pitchFamily="34" charset="-122"/>
                          <a:cs typeface="Calibri" pitchFamily="34" charset="-120"/>
                        </a:rPr>
                        <a:t>0.955 ± 0.017</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c>
                  <a:txBody>
                    <a:bodyPr/>
                    <a:lstStyle/>
                    <a:p>
                      <a:pPr algn="ctr" indent="0" marL="0">
                        <a:buNone/>
                      </a:pPr>
                      <a:r>
                        <a:rPr lang="en-US" sz="1200" b="1" dirty="0">
                          <a:solidFill>
                            <a:srgbClr val="1F4A68"/>
                          </a:solidFill>
                          <a:latin typeface="Calibri" pitchFamily="34" charset="0"/>
                          <a:ea typeface="Calibri" pitchFamily="34" charset="-122"/>
                          <a:cs typeface="Calibri" pitchFamily="34" charset="-120"/>
                        </a:rPr>
                        <a:t>0.965</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c>
                  <a:txBody>
                    <a:bodyPr/>
                    <a:lstStyle/>
                    <a:p>
                      <a:pPr algn="ctr" indent="0" marL="0">
                        <a:buNone/>
                      </a:pPr>
                      <a:r>
                        <a:rPr lang="en-US" sz="1200" b="1" dirty="0">
                          <a:solidFill>
                            <a:srgbClr val="1F4A68"/>
                          </a:solidFill>
                          <a:latin typeface="Calibri" pitchFamily="34" charset="0"/>
                          <a:ea typeface="Calibri" pitchFamily="34" charset="-122"/>
                          <a:cs typeface="Calibri" pitchFamily="34" charset="-120"/>
                        </a:rPr>
                        <a:t>+0.037</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r>
              <a:tr h="566928">
                <a:tc>
                  <a:txBody>
                    <a:bodyPr/>
                    <a:lstStyle/>
                    <a:p>
                      <a:pPr algn="l" indent="0" marL="0">
                        <a:buNone/>
                      </a:pPr>
                      <a:r>
                        <a:rPr lang="en-US" sz="1200" dirty="0">
                          <a:solidFill>
                            <a:srgbClr val="1C2B3A"/>
                          </a:solidFill>
                          <a:latin typeface="Calibri" pitchFamily="34" charset="0"/>
                          <a:ea typeface="Calibri" pitchFamily="34" charset="-122"/>
                          <a:cs typeface="Calibri" pitchFamily="34" charset="-120"/>
                        </a:rPr>
                        <a:t>Gradient Boosting</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0.923</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0.931</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0.939 ± 0.016</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+0.077</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r>
              <a:tr h="566928">
                <a:tc>
                  <a:txBody>
                    <a:bodyPr/>
                    <a:lstStyle/>
                    <a:p>
                      <a:pPr algn="l" indent="0" marL="0">
                        <a:buNone/>
                      </a:pPr>
                      <a:r>
                        <a:rPr lang="en-US" sz="1200" dirty="0">
                          <a:solidFill>
                            <a:srgbClr val="1C2B3A"/>
                          </a:solidFill>
                          <a:latin typeface="Calibri" pitchFamily="34" charset="0"/>
                          <a:ea typeface="Calibri" pitchFamily="34" charset="-122"/>
                          <a:cs typeface="Calibri" pitchFamily="34" charset="-120"/>
                        </a:rPr>
                        <a:t>Neural Network (MLP)</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0.923</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0.932</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0.939 ± 0.019</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+0.077</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r>
            </a:tbl>
          </a:graphicData>
        </a:graphic>
      </p:graphicFrame>
      <p:sp>
        <p:nvSpPr>
          <p:cNvPr id="10" name="Text 6"/>
          <p:cNvSpPr/>
          <p:nvPr/>
        </p:nvSpPr>
        <p:spPr>
          <a:xfrm>
            <a:off x="566928" y="4389120"/>
            <a:ext cx="11055096" cy="329184"/>
          </a:xfrm>
          <a:prstGeom prst="rect">
            <a:avLst/>
          </a:prstGeom>
          <a:noFill/>
          <a:ln/>
        </p:spPr>
        <p:txBody>
          <a:bodyPr wrap="square" lIns="0" tIns="0" rIns="0" bIns="0" rtlCol="0" anchor="t"/>
          <a:lstStyle/>
          <a:p>
            <a:pPr indent="0" marL="0">
              <a:buNone/>
            </a:pPr>
            <a:r>
              <a:rPr lang="en-US" sz="1050" i="1" dirty="0">
                <a:solidFill>
                  <a:srgbClr val="4B6072"/>
                </a:solidFill>
                <a:latin typeface="Calibri" pitchFamily="34" charset="0"/>
                <a:ea typeface="Calibri" pitchFamily="34" charset="-122"/>
                <a:cs typeface="Calibri" pitchFamily="34" charset="-120"/>
              </a:rPr>
              <a:t>Cross-validation is five-fold on the training partition only. The test set was scored once, after all model selection was complete.</a:t>
            </a:r>
            <a:endParaRPr lang="en-US" sz="1050" dirty="0"/>
          </a:p>
        </p:txBody>
      </p:sp>
      <p:sp>
        <p:nvSpPr>
          <p:cNvPr id="11" name="Shape 7"/>
          <p:cNvSpPr/>
          <p:nvPr/>
        </p:nvSpPr>
        <p:spPr>
          <a:xfrm>
            <a:off x="566928" y="5073650"/>
            <a:ext cx="11055096" cy="943102"/>
          </a:xfrm>
          <a:prstGeom prst="roundRect">
            <a:avLst>
              <a:gd name="adj" fmla="val 6787"/>
            </a:avLst>
          </a:prstGeom>
          <a:solidFill>
            <a:srgbClr val="E9F0F6"/>
          </a:solidFill>
          <a:ln w="9525">
            <a:solidFill>
              <a:srgbClr val="C6D8E5"/>
            </a:solidFill>
            <a:prstDash val="solid"/>
          </a:ln>
        </p:spPr>
      </p:sp>
      <p:sp>
        <p:nvSpPr>
          <p:cNvPr id="12" name="Text 8"/>
          <p:cNvSpPr/>
          <p:nvPr/>
        </p:nvSpPr>
        <p:spPr>
          <a:xfrm>
            <a:off x="786384" y="5201666"/>
            <a:ext cx="10616184" cy="219456"/>
          </a:xfrm>
          <a:prstGeom prst="rect">
            <a:avLst/>
          </a:prstGeom>
          <a:noFill/>
          <a:ln/>
        </p:spPr>
        <p:txBody>
          <a:bodyPr wrap="square" lIns="0" tIns="0" rIns="0" bIns="0" rtlCol="0" anchor="t"/>
          <a:lstStyle/>
          <a:p>
            <a:pPr indent="0" marL="0">
              <a:buNone/>
            </a:pPr>
            <a:r>
              <a:rPr lang="en-US" sz="950" b="1" spc="130" kern="0" dirty="0">
                <a:solidFill>
                  <a:srgbClr val="1F4A68"/>
                </a:solidFill>
                <a:latin typeface="Calibri" pitchFamily="34" charset="0"/>
                <a:ea typeface="Calibri" pitchFamily="34" charset="-122"/>
                <a:cs typeface="Calibri" pitchFamily="34" charset="-120"/>
              </a:rPr>
              <a:t>HOW THE WINNER WAS CHOSEN</a:t>
            </a:r>
            <a:endParaRPr lang="en-US" sz="950" dirty="0"/>
          </a:p>
        </p:txBody>
      </p:sp>
      <p:sp>
        <p:nvSpPr>
          <p:cNvPr id="13" name="Text 9"/>
          <p:cNvSpPr/>
          <p:nvPr/>
        </p:nvSpPr>
        <p:spPr>
          <a:xfrm>
            <a:off x="786384" y="5457698"/>
            <a:ext cx="10616184" cy="449326"/>
          </a:xfrm>
          <a:prstGeom prst="rect">
            <a:avLst/>
          </a:prstGeom>
          <a:noFill/>
          <a:ln/>
        </p:spPr>
        <p:txBody>
          <a:bodyPr wrap="square" lIns="0" tIns="0" rIns="0" bIns="0" rtlCol="0" anchor="t"/>
          <a:lstStyle/>
          <a:p>
            <a:pPr indent="0" marL="0">
              <a:lnSpc>
                <a:spcPct val="105000"/>
              </a:lnSpc>
              <a:buNone/>
            </a:pPr>
            <a:r>
              <a:rPr lang="en-US" sz="1250" dirty="0">
                <a:solidFill>
                  <a:srgbClr val="1C2B3A"/>
                </a:solidFill>
                <a:latin typeface="Calibri" pitchFamily="34" charset="0"/>
                <a:ea typeface="Calibri" pitchFamily="34" charset="-122"/>
                <a:cs typeface="Calibri" pitchFamily="34" charset="-120"/>
              </a:rPr>
              <a:t>Random Forest leads on macro F1 at 0.935 by a small margin, and on the generalisation gap by a large one: +0.037 against +0.077 for both alternatives.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Ailuri Rupa Sri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14</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FIGURE 6</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The three models perform within a few points of each other</a:t>
            </a:r>
            <a:endParaRPr lang="en-US" sz="2800" dirty="0"/>
          </a:p>
        </p:txBody>
      </p:sp>
      <p:sp>
        <p:nvSpPr>
          <p:cNvPr id="8" name="Shape 5"/>
          <p:cNvSpPr/>
          <p:nvPr/>
        </p:nvSpPr>
        <p:spPr>
          <a:xfrm>
            <a:off x="779208" y="1444752"/>
            <a:ext cx="6387720" cy="4242816"/>
          </a:xfrm>
          <a:prstGeom prst="roundRect">
            <a:avLst>
              <a:gd name="adj" fmla="val 1509"/>
            </a:avLst>
          </a:prstGeom>
          <a:solidFill>
            <a:srgbClr val="FFFFFF"/>
          </a:solidFill>
          <a:ln w="9525">
            <a:solidFill>
              <a:srgbClr val="DDE6EC"/>
            </a:solidFill>
            <a:prstDash val="solid"/>
          </a:ln>
          <a:effectLst>
            <a:outerShdw sx="100000" sy="100000" kx="0" ky="0" algn="bl" rotWithShape="0" blurRad="101600" dist="25400" dir="5400000">
              <a:srgbClr val="9FB3C2">
                <a:alpha val="25000"/>
              </a:srgbClr>
            </a:outerShdw>
          </a:effectLst>
        </p:spPr>
      </p:sp>
      <p:pic>
        <p:nvPicPr>
          <p:cNvPr id="9" name="Image 0" descr="/home/claude/repo/ai4mobility/docs/figures/f06_model_comparison.png">    </p:cNvPr>
          <p:cNvPicPr>
            <a:picLocks noChangeAspect="1"/>
          </p:cNvPicPr>
          <p:nvPr/>
        </p:nvPicPr>
        <p:blipFill>
          <a:blip r:embed="rId1"/>
          <a:stretch>
            <a:fillRect/>
          </a:stretch>
        </p:blipFill>
        <p:spPr>
          <a:xfrm>
            <a:off x="888936" y="1554480"/>
            <a:ext cx="6168264" cy="4023360"/>
          </a:xfrm>
          <a:prstGeom prst="rect">
            <a:avLst/>
          </a:prstGeom>
        </p:spPr>
      </p:pic>
      <p:sp>
        <p:nvSpPr>
          <p:cNvPr id="10" name="Text 6"/>
          <p:cNvSpPr/>
          <p:nvPr/>
        </p:nvSpPr>
        <p:spPr>
          <a:xfrm>
            <a:off x="566928" y="5760720"/>
            <a:ext cx="6812280" cy="310896"/>
          </a:xfrm>
          <a:prstGeom prst="rect">
            <a:avLst/>
          </a:prstGeom>
          <a:noFill/>
          <a:ln/>
        </p:spPr>
        <p:txBody>
          <a:bodyPr wrap="square" lIns="0" tIns="0" rIns="0" bIns="0" rtlCol="0" anchor="t"/>
          <a:lstStyle/>
          <a:p>
            <a:pPr algn="ctr" indent="0" marL="0">
              <a:buNone/>
            </a:pPr>
            <a:r>
              <a:rPr lang="en-US" sz="1050" i="1" dirty="0">
                <a:solidFill>
                  <a:srgbClr val="4B6072"/>
                </a:solidFill>
                <a:latin typeface="Calibri" pitchFamily="34" charset="0"/>
                <a:ea typeface="Calibri" pitchFamily="34" charset="-122"/>
                <a:cs typeface="Calibri" pitchFamily="34" charset="-120"/>
              </a:rPr>
              <a:t>Figure 6 — test accuracy, test macro F1 and cross-validated macro F1 for the three models.</a:t>
            </a:r>
            <a:endParaRPr lang="en-US" sz="1050" dirty="0"/>
          </a:p>
        </p:txBody>
      </p:sp>
      <p:sp>
        <p:nvSpPr>
          <p:cNvPr id="11" name="Text 7"/>
          <p:cNvSpPr/>
          <p:nvPr/>
        </p:nvSpPr>
        <p:spPr>
          <a:xfrm>
            <a:off x="7726680" y="1554480"/>
            <a:ext cx="3895344" cy="310896"/>
          </a:xfrm>
          <a:prstGeom prst="rect">
            <a:avLst/>
          </a:prstGeom>
          <a:noFill/>
          <a:ln/>
        </p:spPr>
        <p:txBody>
          <a:bodyPr wrap="square" lIns="0" tIns="0" rIns="0" bIns="0" rtlCol="0" anchor="ctr"/>
          <a:lstStyle/>
          <a:p>
            <a:pPr indent="0" marL="0">
              <a:buNone/>
            </a:pPr>
            <a:r>
              <a:rPr lang="en-US" sz="1400" b="1" dirty="0">
                <a:solidFill>
                  <a:srgbClr val="1F4A68"/>
                </a:solidFill>
                <a:latin typeface="Calibri" pitchFamily="34" charset="0"/>
                <a:ea typeface="Calibri" pitchFamily="34" charset="-122"/>
                <a:cs typeface="Calibri" pitchFamily="34" charset="-120"/>
              </a:rPr>
              <a:t>What the bars show</a:t>
            </a:r>
            <a:endParaRPr lang="en-US" sz="1400" dirty="0"/>
          </a:p>
        </p:txBody>
      </p:sp>
      <p:sp>
        <p:nvSpPr>
          <p:cNvPr id="12" name="Text 8"/>
          <p:cNvSpPr/>
          <p:nvPr/>
        </p:nvSpPr>
        <p:spPr>
          <a:xfrm>
            <a:off x="7726680" y="1938528"/>
            <a:ext cx="3895344" cy="4078224"/>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Test accuracy differs by half a percentage point across the three families.</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Cross-validated macro F1 is higher than the test score for every model.</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error bar is one standard deviation across the five folds.</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On a comparison this close, the tie-breaker has to be something other than accuracy.</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Ailuri Rupa Sri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15</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FIGURE 7</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The generalisation gap is the honest tie-breaker</a:t>
            </a:r>
            <a:endParaRPr lang="en-US" sz="2800" dirty="0"/>
          </a:p>
        </p:txBody>
      </p:sp>
      <p:sp>
        <p:nvSpPr>
          <p:cNvPr id="8" name="Shape 5"/>
          <p:cNvSpPr/>
          <p:nvPr/>
        </p:nvSpPr>
        <p:spPr>
          <a:xfrm>
            <a:off x="769162" y="1444752"/>
            <a:ext cx="6407811" cy="4242816"/>
          </a:xfrm>
          <a:prstGeom prst="roundRect">
            <a:avLst>
              <a:gd name="adj" fmla="val 1509"/>
            </a:avLst>
          </a:prstGeom>
          <a:solidFill>
            <a:srgbClr val="FFFFFF"/>
          </a:solidFill>
          <a:ln w="9525">
            <a:solidFill>
              <a:srgbClr val="DDE6EC"/>
            </a:solidFill>
            <a:prstDash val="solid"/>
          </a:ln>
          <a:effectLst>
            <a:outerShdw sx="100000" sy="100000" kx="0" ky="0" algn="bl" rotWithShape="0" blurRad="101600" dist="25400" dir="5400000">
              <a:srgbClr val="9FB3C2">
                <a:alpha val="25000"/>
              </a:srgbClr>
            </a:outerShdw>
          </a:effectLst>
        </p:spPr>
      </p:sp>
      <p:pic>
        <p:nvPicPr>
          <p:cNvPr id="9" name="Image 0" descr="/home/claude/repo/ai4mobility/docs/figures/f07_overfit_gap.png">    </p:cNvPr>
          <p:cNvPicPr>
            <a:picLocks noChangeAspect="1"/>
          </p:cNvPicPr>
          <p:nvPr/>
        </p:nvPicPr>
        <p:blipFill>
          <a:blip r:embed="rId1"/>
          <a:stretch>
            <a:fillRect/>
          </a:stretch>
        </p:blipFill>
        <p:spPr>
          <a:xfrm>
            <a:off x="878890" y="1554480"/>
            <a:ext cx="6188355" cy="4023360"/>
          </a:xfrm>
          <a:prstGeom prst="rect">
            <a:avLst/>
          </a:prstGeom>
        </p:spPr>
      </p:pic>
      <p:sp>
        <p:nvSpPr>
          <p:cNvPr id="10" name="Text 6"/>
          <p:cNvSpPr/>
          <p:nvPr/>
        </p:nvSpPr>
        <p:spPr>
          <a:xfrm>
            <a:off x="566928" y="5760720"/>
            <a:ext cx="6812280" cy="310896"/>
          </a:xfrm>
          <a:prstGeom prst="rect">
            <a:avLst/>
          </a:prstGeom>
          <a:noFill/>
          <a:ln/>
        </p:spPr>
        <p:txBody>
          <a:bodyPr wrap="square" lIns="0" tIns="0" rIns="0" bIns="0" rtlCol="0" anchor="t"/>
          <a:lstStyle/>
          <a:p>
            <a:pPr algn="ctr" indent="0" marL="0">
              <a:buNone/>
            </a:pPr>
            <a:r>
              <a:rPr lang="en-US" sz="1050" i="1" dirty="0">
                <a:solidFill>
                  <a:srgbClr val="4B6072"/>
                </a:solidFill>
                <a:latin typeface="Calibri" pitchFamily="34" charset="0"/>
                <a:ea typeface="Calibri" pitchFamily="34" charset="-122"/>
                <a:cs typeface="Calibri" pitchFamily="34" charset="-120"/>
              </a:rPr>
              <a:t>Figure 7 — train against test accuracy, with the gap annotated for each model.</a:t>
            </a:r>
            <a:endParaRPr lang="en-US" sz="1050" dirty="0"/>
          </a:p>
        </p:txBody>
      </p:sp>
      <p:sp>
        <p:nvSpPr>
          <p:cNvPr id="11" name="Text 7"/>
          <p:cNvSpPr/>
          <p:nvPr/>
        </p:nvSpPr>
        <p:spPr>
          <a:xfrm>
            <a:off x="7726680" y="1554480"/>
            <a:ext cx="3895344" cy="310896"/>
          </a:xfrm>
          <a:prstGeom prst="rect">
            <a:avLst/>
          </a:prstGeom>
          <a:noFill/>
          <a:ln/>
        </p:spPr>
        <p:txBody>
          <a:bodyPr wrap="square" lIns="0" tIns="0" rIns="0" bIns="0" rtlCol="0" anchor="ctr"/>
          <a:lstStyle/>
          <a:p>
            <a:pPr indent="0" marL="0">
              <a:buNone/>
            </a:pPr>
            <a:r>
              <a:rPr lang="en-US" sz="1400" b="1" dirty="0">
                <a:solidFill>
                  <a:srgbClr val="1F4A68"/>
                </a:solidFill>
                <a:latin typeface="Calibri" pitchFamily="34" charset="0"/>
                <a:ea typeface="Calibri" pitchFamily="34" charset="-122"/>
                <a:cs typeface="Calibri" pitchFamily="34" charset="-120"/>
              </a:rPr>
              <a:t>Reading the gap</a:t>
            </a:r>
            <a:endParaRPr lang="en-US" sz="1400" dirty="0"/>
          </a:p>
        </p:txBody>
      </p:sp>
      <p:sp>
        <p:nvSpPr>
          <p:cNvPr id="12" name="Text 8"/>
          <p:cNvSpPr/>
          <p:nvPr/>
        </p:nvSpPr>
        <p:spPr>
          <a:xfrm>
            <a:off x="7726680" y="1938528"/>
            <a:ext cx="3895344" cy="2587244"/>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Gradient Boosting and the MLP both reach 1.000 training accuracy.</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Both carry a +0.077 gap between training and test.</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constrained Random Forest trains to 0.965 and carries +0.037.</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A model that memorises its training data will fail quietly on a new subject.</a:t>
            </a:r>
            <a:endParaRPr lang="en-US" sz="1250" dirty="0"/>
          </a:p>
        </p:txBody>
      </p:sp>
      <p:sp>
        <p:nvSpPr>
          <p:cNvPr id="13" name="Shape 9"/>
          <p:cNvSpPr/>
          <p:nvPr/>
        </p:nvSpPr>
        <p:spPr>
          <a:xfrm>
            <a:off x="7726680" y="4726940"/>
            <a:ext cx="3895344" cy="1289812"/>
          </a:xfrm>
          <a:prstGeom prst="roundRect">
            <a:avLst>
              <a:gd name="adj" fmla="val 4963"/>
            </a:avLst>
          </a:prstGeom>
          <a:solidFill>
            <a:srgbClr val="FBEDE6"/>
          </a:solidFill>
          <a:ln w="9525">
            <a:solidFill>
              <a:srgbClr val="F0C9B6"/>
            </a:solidFill>
            <a:prstDash val="solid"/>
          </a:ln>
        </p:spPr>
      </p:sp>
      <p:sp>
        <p:nvSpPr>
          <p:cNvPr id="14" name="Text 10"/>
          <p:cNvSpPr/>
          <p:nvPr/>
        </p:nvSpPr>
        <p:spPr>
          <a:xfrm>
            <a:off x="7946136" y="4854956"/>
            <a:ext cx="3456432" cy="219456"/>
          </a:xfrm>
          <a:prstGeom prst="rect">
            <a:avLst/>
          </a:prstGeom>
          <a:noFill/>
          <a:ln/>
        </p:spPr>
        <p:txBody>
          <a:bodyPr wrap="square" lIns="0" tIns="0" rIns="0" bIns="0" rtlCol="0" anchor="t"/>
          <a:lstStyle/>
          <a:p>
            <a:pPr indent="0" marL="0">
              <a:buNone/>
            </a:pPr>
            <a:r>
              <a:rPr lang="en-US" sz="950" b="1" spc="130" kern="0" dirty="0">
                <a:solidFill>
                  <a:srgbClr val="C85A34"/>
                </a:solidFill>
                <a:latin typeface="Calibri" pitchFamily="34" charset="0"/>
                <a:ea typeface="Calibri" pitchFamily="34" charset="-122"/>
                <a:cs typeface="Calibri" pitchFamily="34" charset="-120"/>
              </a:rPr>
              <a:t>WHY THIS IS VISIBLE AT ALL</a:t>
            </a:r>
            <a:endParaRPr lang="en-US" sz="950" dirty="0"/>
          </a:p>
        </p:txBody>
      </p:sp>
      <p:sp>
        <p:nvSpPr>
          <p:cNvPr id="15" name="Text 11"/>
          <p:cNvSpPr/>
          <p:nvPr/>
        </p:nvSpPr>
        <p:spPr>
          <a:xfrm>
            <a:off x="7946136" y="5110988"/>
            <a:ext cx="3456432" cy="796036"/>
          </a:xfrm>
          <a:prstGeom prst="rect">
            <a:avLst/>
          </a:prstGeom>
          <a:noFill/>
          <a:ln/>
        </p:spPr>
        <p:txBody>
          <a:bodyPr wrap="square" lIns="0" tIns="0" rIns="0" bIns="0" rtlCol="0" anchor="t"/>
          <a:lstStyle/>
          <a:p>
            <a:pPr indent="0" marL="0">
              <a:lnSpc>
                <a:spcPct val="105000"/>
              </a:lnSpc>
              <a:buNone/>
            </a:pPr>
            <a:r>
              <a:rPr lang="en-US" sz="1150" dirty="0">
                <a:solidFill>
                  <a:srgbClr val="1C2B3A"/>
                </a:solidFill>
                <a:latin typeface="Calibri" pitchFamily="34" charset="0"/>
                <a:ea typeface="Calibri" pitchFamily="34" charset="-122"/>
                <a:cs typeface="Calibri" pitchFamily="34" charset="-120"/>
              </a:rPr>
              <a:t>The subject-level split is what makes the gap meaningful. On a frame-level split all three gaps would have looked smaller and none of them would have meant anything.</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Ailuri Rupa Sri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16</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FIGURE 9</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Per-class F1 for all three models</a:t>
            </a:r>
            <a:endParaRPr lang="en-US" sz="2800" dirty="0"/>
          </a:p>
        </p:txBody>
      </p:sp>
      <p:sp>
        <p:nvSpPr>
          <p:cNvPr id="8" name="Shape 5"/>
          <p:cNvSpPr/>
          <p:nvPr/>
        </p:nvSpPr>
        <p:spPr>
          <a:xfrm>
            <a:off x="852597" y="1444752"/>
            <a:ext cx="6240943" cy="4242816"/>
          </a:xfrm>
          <a:prstGeom prst="roundRect">
            <a:avLst>
              <a:gd name="adj" fmla="val 1509"/>
            </a:avLst>
          </a:prstGeom>
          <a:solidFill>
            <a:srgbClr val="FFFFFF"/>
          </a:solidFill>
          <a:ln w="9525">
            <a:solidFill>
              <a:srgbClr val="DDE6EC"/>
            </a:solidFill>
            <a:prstDash val="solid"/>
          </a:ln>
          <a:effectLst>
            <a:outerShdw sx="100000" sy="100000" kx="0" ky="0" algn="bl" rotWithShape="0" blurRad="101600" dist="25400" dir="5400000">
              <a:srgbClr val="9FB3C2">
                <a:alpha val="25000"/>
              </a:srgbClr>
            </a:outerShdw>
          </a:effectLst>
        </p:spPr>
      </p:sp>
      <p:pic>
        <p:nvPicPr>
          <p:cNvPr id="9" name="Image 0" descr="/home/claude/repo/ai4mobility/docs/figures/f09_per_class_f1.png">    </p:cNvPr>
          <p:cNvPicPr>
            <a:picLocks noChangeAspect="1"/>
          </p:cNvPicPr>
          <p:nvPr/>
        </p:nvPicPr>
        <p:blipFill>
          <a:blip r:embed="rId1"/>
          <a:stretch>
            <a:fillRect/>
          </a:stretch>
        </p:blipFill>
        <p:spPr>
          <a:xfrm>
            <a:off x="962325" y="1554480"/>
            <a:ext cx="6021487" cy="4023360"/>
          </a:xfrm>
          <a:prstGeom prst="rect">
            <a:avLst/>
          </a:prstGeom>
        </p:spPr>
      </p:pic>
      <p:sp>
        <p:nvSpPr>
          <p:cNvPr id="10" name="Text 6"/>
          <p:cNvSpPr/>
          <p:nvPr/>
        </p:nvSpPr>
        <p:spPr>
          <a:xfrm>
            <a:off x="566928" y="5760720"/>
            <a:ext cx="6812280" cy="310896"/>
          </a:xfrm>
          <a:prstGeom prst="rect">
            <a:avLst/>
          </a:prstGeom>
          <a:noFill/>
          <a:ln/>
        </p:spPr>
        <p:txBody>
          <a:bodyPr wrap="square" lIns="0" tIns="0" rIns="0" bIns="0" rtlCol="0" anchor="t"/>
          <a:lstStyle/>
          <a:p>
            <a:pPr algn="ctr" indent="0" marL="0">
              <a:buNone/>
            </a:pPr>
            <a:r>
              <a:rPr lang="en-US" sz="1050" i="1" dirty="0">
                <a:solidFill>
                  <a:srgbClr val="4B6072"/>
                </a:solidFill>
                <a:latin typeface="Calibri" pitchFamily="34" charset="0"/>
                <a:ea typeface="Calibri" pitchFamily="34" charset="-122"/>
                <a:cs typeface="Calibri" pitchFamily="34" charset="-120"/>
              </a:rPr>
              <a:t>Figure 9 — per-class F1 across the three model families.</a:t>
            </a:r>
            <a:endParaRPr lang="en-US" sz="1050" dirty="0"/>
          </a:p>
        </p:txBody>
      </p:sp>
      <p:sp>
        <p:nvSpPr>
          <p:cNvPr id="11" name="Text 7"/>
          <p:cNvSpPr/>
          <p:nvPr/>
        </p:nvSpPr>
        <p:spPr>
          <a:xfrm>
            <a:off x="7726680" y="1554480"/>
            <a:ext cx="3895344" cy="310896"/>
          </a:xfrm>
          <a:prstGeom prst="rect">
            <a:avLst/>
          </a:prstGeom>
          <a:noFill/>
          <a:ln/>
        </p:spPr>
        <p:txBody>
          <a:bodyPr wrap="square" lIns="0" tIns="0" rIns="0" bIns="0" rtlCol="0" anchor="ctr"/>
          <a:lstStyle/>
          <a:p>
            <a:pPr indent="0" marL="0">
              <a:buNone/>
            </a:pPr>
            <a:r>
              <a:rPr lang="en-US" sz="1400" b="1" dirty="0">
                <a:solidFill>
                  <a:srgbClr val="1F4A68"/>
                </a:solidFill>
                <a:latin typeface="Calibri" pitchFamily="34" charset="0"/>
                <a:ea typeface="Calibri" pitchFamily="34" charset="-122"/>
                <a:cs typeface="Calibri" pitchFamily="34" charset="-120"/>
              </a:rPr>
              <a:t>Consistent, not coincidental</a:t>
            </a:r>
            <a:endParaRPr lang="en-US" sz="1400" dirty="0"/>
          </a:p>
        </p:txBody>
      </p:sp>
      <p:sp>
        <p:nvSpPr>
          <p:cNvPr id="12" name="Text 8"/>
          <p:cNvSpPr/>
          <p:nvPr/>
        </p:nvSpPr>
        <p:spPr>
          <a:xfrm>
            <a:off x="7726680" y="1938528"/>
            <a:ext cx="3895344" cy="4078224"/>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lower_limb and thread_the_needle are the weakest classes for every model.</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lower_limb sits at F1 approximately 0.89 to 0.90 depending on the model.</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thread_the_needle sits at F1 approximately 0.90 for all three.</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calf_control reaches 1.00 for all three, on a test support of 14 frames.</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Ailuri Rupa Sri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17</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RANDOM FOREST, PER CLASS</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Precision, recall and F1 for every class</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The selected model, scored once on 195 held-out test frames.</a:t>
            </a:r>
            <a:endParaRPr lang="en-US" sz="13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2011680"/>
          <a:ext cx="11055096" cy="914400"/>
        </p:xfrm>
        <a:graphic>
          <a:graphicData uri="http://schemas.openxmlformats.org/drawingml/2006/table">
            <a:tbl>
              <a:tblPr/>
              <a:tblGrid>
                <a:gridCol w="3191256"/>
                <a:gridCol w="1965960"/>
                <a:gridCol w="1965960"/>
                <a:gridCol w="1965960"/>
                <a:gridCol w="1965960"/>
              </a:tblGrid>
              <a:tr h="506839">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Support</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r>
              <a:tr h="506839">
                <a:tc>
                  <a:txBody>
                    <a:bodyPr/>
                    <a:lstStyle/>
                    <a:p>
                      <a:pPr algn="l" indent="0" marL="0">
                        <a:buNone/>
                      </a:pPr>
                      <a:r>
                        <a:rPr lang="en-US" sz="1200" dirty="0">
                          <a:solidFill>
                            <a:srgbClr val="1C2B3A"/>
                          </a:solidFill>
                          <a:latin typeface="Calibri" pitchFamily="34" charset="0"/>
                          <a:ea typeface="Calibri" pitchFamily="34" charset="-122"/>
                          <a:cs typeface="Calibri" pitchFamily="34" charset="-120"/>
                        </a:rPr>
                        <a:t>calf_control</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r>
              <a:tr h="506839">
                <a:tc>
                  <a:txBody>
                    <a:bodyPr/>
                    <a:lstStyle/>
                    <a:p>
                      <a:pPr algn="l" indent="0" marL="0">
                        <a:buNone/>
                      </a:pPr>
                      <a:r>
                        <a:rPr lang="en-US" sz="1200" dirty="0">
                          <a:solidFill>
                            <a:srgbClr val="1C2B3A"/>
                          </a:solidFill>
                          <a:latin typeface="Calibri" pitchFamily="34" charset="0"/>
                          <a:ea typeface="Calibri" pitchFamily="34" charset="-122"/>
                          <a:cs typeface="Calibri" pitchFamily="34" charset="-120"/>
                        </a:rPr>
                        <a:t>cat_cow</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0.971</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0.917</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0.943</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36</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r>
              <a:tr h="506839">
                <a:tc>
                  <a:txBody>
                    <a:bodyPr/>
                    <a:lstStyle/>
                    <a:p>
                      <a:pPr algn="l" indent="0" marL="0">
                        <a:buNone/>
                      </a:pPr>
                      <a:r>
                        <a:rPr lang="en-US" sz="1200" dirty="0">
                          <a:solidFill>
                            <a:srgbClr val="1C2B3A"/>
                          </a:solidFill>
                          <a:latin typeface="Calibri" pitchFamily="34" charset="0"/>
                          <a:ea typeface="Calibri" pitchFamily="34" charset="-122"/>
                          <a:cs typeface="Calibri" pitchFamily="34" charset="-120"/>
                        </a:rPr>
                        <a:t>childs_pose</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0.875</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0.933</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28</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r>
              <a:tr h="506839">
                <a:tc>
                  <a:txBody>
                    <a:bodyPr/>
                    <a:lstStyle/>
                    <a:p>
                      <a:pPr algn="l" indent="0" marL="0">
                        <a:buNone/>
                      </a:pPr>
                      <a:r>
                        <a:rPr lang="en-US" sz="1200" dirty="0">
                          <a:solidFill>
                            <a:srgbClr val="1C2B3A"/>
                          </a:solidFill>
                          <a:latin typeface="Calibri" pitchFamily="34" charset="0"/>
                          <a:ea typeface="Calibri" pitchFamily="34" charset="-122"/>
                          <a:cs typeface="Calibri" pitchFamily="34" charset="-120"/>
                        </a:rPr>
                        <a:t>core_hip_stability</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0.927</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0.927</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0.927</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55</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r>
              <a:tr h="506839">
                <a:tc>
                  <a:txBody>
                    <a:bodyPr/>
                    <a:lstStyle/>
                    <a:p>
                      <a:pPr algn="l" indent="0" marL="0">
                        <a:buNone/>
                      </a:pPr>
                      <a:r>
                        <a:rPr lang="en-US" sz="1200" b="1" dirty="0">
                          <a:solidFill>
                            <a:srgbClr val="1F4A68"/>
                          </a:solidFill>
                          <a:latin typeface="Calibri" pitchFamily="34" charset="0"/>
                          <a:ea typeface="Calibri" pitchFamily="34" charset="-122"/>
                          <a:cs typeface="Calibri" pitchFamily="34" charset="-120"/>
                        </a:rPr>
                        <a:t>lower_limb</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c>
                  <a:txBody>
                    <a:bodyPr/>
                    <a:lstStyle/>
                    <a:p>
                      <a:pPr algn="ctr" indent="0" marL="0">
                        <a:buNone/>
                      </a:pPr>
                      <a:r>
                        <a:rPr lang="en-US" sz="1200" b="1" dirty="0">
                          <a:solidFill>
                            <a:srgbClr val="1F4A68"/>
                          </a:solidFill>
                          <a:latin typeface="Calibri" pitchFamily="34" charset="0"/>
                          <a:ea typeface="Calibri" pitchFamily="34" charset="-122"/>
                          <a:cs typeface="Calibri" pitchFamily="34" charset="-120"/>
                        </a:rPr>
                        <a:t>0.900</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c>
                  <a:txBody>
                    <a:bodyPr/>
                    <a:lstStyle/>
                    <a:p>
                      <a:pPr algn="ctr" indent="0" marL="0">
                        <a:buNone/>
                      </a:pPr>
                      <a:r>
                        <a:rPr lang="en-US" sz="1200" b="1" dirty="0">
                          <a:solidFill>
                            <a:srgbClr val="1F4A68"/>
                          </a:solidFill>
                          <a:latin typeface="Calibri" pitchFamily="34" charset="0"/>
                          <a:ea typeface="Calibri" pitchFamily="34" charset="-122"/>
                          <a:cs typeface="Calibri" pitchFamily="34" charset="-120"/>
                        </a:rPr>
                        <a:t>0.900</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c>
                  <a:txBody>
                    <a:bodyPr/>
                    <a:lstStyle/>
                    <a:p>
                      <a:pPr algn="ctr" indent="0" marL="0">
                        <a:buNone/>
                      </a:pPr>
                      <a:r>
                        <a:rPr lang="en-US" sz="1200" b="1" dirty="0">
                          <a:solidFill>
                            <a:srgbClr val="1F4A68"/>
                          </a:solidFill>
                          <a:latin typeface="Calibri" pitchFamily="34" charset="0"/>
                          <a:ea typeface="Calibri" pitchFamily="34" charset="-122"/>
                          <a:cs typeface="Calibri" pitchFamily="34" charset="-120"/>
                        </a:rPr>
                        <a:t>0.900</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c>
                  <a:txBody>
                    <a:bodyPr/>
                    <a:lstStyle/>
                    <a:p>
                      <a:pPr algn="ctr" indent="0" marL="0">
                        <a:buNone/>
                      </a:pPr>
                      <a:r>
                        <a:rPr lang="en-US" sz="1200" b="1" dirty="0">
                          <a:solidFill>
                            <a:srgbClr val="1F4A68"/>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r>
              <a:tr h="506839">
                <a:tc>
                  <a:txBody>
                    <a:bodyPr/>
                    <a:lstStyle/>
                    <a:p>
                      <a:pPr algn="l" indent="0" marL="0">
                        <a:buNone/>
                      </a:pPr>
                      <a:r>
                        <a:rPr lang="en-US" sz="1200" b="1" dirty="0">
                          <a:solidFill>
                            <a:srgbClr val="1F4A68"/>
                          </a:solidFill>
                          <a:latin typeface="Calibri" pitchFamily="34" charset="0"/>
                          <a:ea typeface="Calibri" pitchFamily="34" charset="-122"/>
                          <a:cs typeface="Calibri" pitchFamily="34" charset="-120"/>
                        </a:rPr>
                        <a:t>thread_the_needle</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c>
                  <a:txBody>
                    <a:bodyPr/>
                    <a:lstStyle/>
                    <a:p>
                      <a:pPr algn="ctr" indent="0" marL="0">
                        <a:buNone/>
                      </a:pPr>
                      <a:r>
                        <a:rPr lang="en-US" sz="1200" b="1" dirty="0">
                          <a:solidFill>
                            <a:srgbClr val="1F4A68"/>
                          </a:solidFill>
                          <a:latin typeface="Calibri" pitchFamily="34" charset="0"/>
                          <a:ea typeface="Calibri" pitchFamily="34" charset="-122"/>
                          <a:cs typeface="Calibri" pitchFamily="34" charset="-120"/>
                        </a:rPr>
                        <a:t>0.950</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c>
                  <a:txBody>
                    <a:bodyPr/>
                    <a:lstStyle/>
                    <a:p>
                      <a:pPr algn="ctr" indent="0" marL="0">
                        <a:buNone/>
                      </a:pPr>
                      <a:r>
                        <a:rPr lang="en-US" sz="1200" b="1" dirty="0">
                          <a:solidFill>
                            <a:srgbClr val="1F4A68"/>
                          </a:solidFill>
                          <a:latin typeface="Calibri" pitchFamily="34" charset="0"/>
                          <a:ea typeface="Calibri" pitchFamily="34" charset="-122"/>
                          <a:cs typeface="Calibri" pitchFamily="34" charset="-120"/>
                        </a:rPr>
                        <a:t>0.864</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c>
                  <a:txBody>
                    <a:bodyPr/>
                    <a:lstStyle/>
                    <a:p>
                      <a:pPr algn="ctr" indent="0" marL="0">
                        <a:buNone/>
                      </a:pPr>
                      <a:r>
                        <a:rPr lang="en-US" sz="1200" b="1" dirty="0">
                          <a:solidFill>
                            <a:srgbClr val="1F4A68"/>
                          </a:solidFill>
                          <a:latin typeface="Calibri" pitchFamily="34" charset="0"/>
                          <a:ea typeface="Calibri" pitchFamily="34" charset="-122"/>
                          <a:cs typeface="Calibri" pitchFamily="34" charset="-120"/>
                        </a:rPr>
                        <a:t>0.905</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c>
                  <a:txBody>
                    <a:bodyPr/>
                    <a:lstStyle/>
                    <a:p>
                      <a:pPr algn="ctr" indent="0" marL="0">
                        <a:buNone/>
                      </a:pPr>
                      <a:r>
                        <a:rPr lang="en-US" sz="1200" b="1" dirty="0">
                          <a:solidFill>
                            <a:srgbClr val="1F4A68"/>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r>
            </a:tbl>
          </a:graphicData>
        </a:graphic>
      </p:graphicFrame>
      <p:sp>
        <p:nvSpPr>
          <p:cNvPr id="10" name="Text 6"/>
          <p:cNvSpPr/>
          <p:nvPr/>
        </p:nvSpPr>
        <p:spPr>
          <a:xfrm>
            <a:off x="566928" y="5650992"/>
            <a:ext cx="11055096" cy="329184"/>
          </a:xfrm>
          <a:prstGeom prst="rect">
            <a:avLst/>
          </a:prstGeom>
          <a:noFill/>
          <a:ln/>
        </p:spPr>
        <p:txBody>
          <a:bodyPr wrap="square" lIns="0" tIns="0" rIns="0" bIns="0" rtlCol="0" anchor="t"/>
          <a:lstStyle/>
          <a:p>
            <a:pPr indent="0" marL="0">
              <a:buNone/>
            </a:pPr>
            <a:r>
              <a:rPr lang="en-US" sz="1050" i="1" dirty="0">
                <a:solidFill>
                  <a:srgbClr val="4B6072"/>
                </a:solidFill>
                <a:latin typeface="Calibri" pitchFamily="34" charset="0"/>
                <a:ea typeface="Calibri" pitchFamily="34" charset="-122"/>
                <a:cs typeface="Calibri" pitchFamily="34" charset="-120"/>
              </a:rPr>
              <a:t>Macro F1 0.935, test accuracy 0.928. Measured on synthetic data.</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Ailuri Rupa Sri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18</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FIGURE 8</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The errors have a shape, and it is the expected one</a:t>
            </a:r>
            <a:endParaRPr lang="en-US" sz="2800" dirty="0"/>
          </a:p>
        </p:txBody>
      </p:sp>
      <p:sp>
        <p:nvSpPr>
          <p:cNvPr id="8" name="Shape 5"/>
          <p:cNvSpPr/>
          <p:nvPr/>
        </p:nvSpPr>
        <p:spPr>
          <a:xfrm>
            <a:off x="1463341" y="1444752"/>
            <a:ext cx="5019453" cy="4242816"/>
          </a:xfrm>
          <a:prstGeom prst="roundRect">
            <a:avLst>
              <a:gd name="adj" fmla="val 1509"/>
            </a:avLst>
          </a:prstGeom>
          <a:solidFill>
            <a:srgbClr val="FFFFFF"/>
          </a:solidFill>
          <a:ln w="9525">
            <a:solidFill>
              <a:srgbClr val="DDE6EC"/>
            </a:solidFill>
            <a:prstDash val="solid"/>
          </a:ln>
          <a:effectLst>
            <a:outerShdw sx="100000" sy="100000" kx="0" ky="0" algn="bl" rotWithShape="0" blurRad="101600" dist="25400" dir="5400000">
              <a:srgbClr val="9FB3C2">
                <a:alpha val="25000"/>
              </a:srgbClr>
            </a:outerShdw>
          </a:effectLst>
        </p:spPr>
      </p:sp>
      <p:pic>
        <p:nvPicPr>
          <p:cNvPr id="9" name="Image 0" descr="/home/claude/repo/ai4mobility/docs/figures/f08_confusion.png">    </p:cNvPr>
          <p:cNvPicPr>
            <a:picLocks noChangeAspect="1"/>
          </p:cNvPicPr>
          <p:nvPr/>
        </p:nvPicPr>
        <p:blipFill>
          <a:blip r:embed="rId1"/>
          <a:stretch>
            <a:fillRect/>
          </a:stretch>
        </p:blipFill>
        <p:spPr>
          <a:xfrm>
            <a:off x="1573069" y="1554480"/>
            <a:ext cx="4799997" cy="4023360"/>
          </a:xfrm>
          <a:prstGeom prst="rect">
            <a:avLst/>
          </a:prstGeom>
        </p:spPr>
      </p:pic>
      <p:sp>
        <p:nvSpPr>
          <p:cNvPr id="10" name="Text 6"/>
          <p:cNvSpPr/>
          <p:nvPr/>
        </p:nvSpPr>
        <p:spPr>
          <a:xfrm>
            <a:off x="566928" y="5760720"/>
            <a:ext cx="6812280" cy="310896"/>
          </a:xfrm>
          <a:prstGeom prst="rect">
            <a:avLst/>
          </a:prstGeom>
          <a:noFill/>
          <a:ln/>
        </p:spPr>
        <p:txBody>
          <a:bodyPr wrap="square" lIns="0" tIns="0" rIns="0" bIns="0" rtlCol="0" anchor="t"/>
          <a:lstStyle/>
          <a:p>
            <a:pPr algn="ctr" indent="0" marL="0">
              <a:buNone/>
            </a:pPr>
            <a:r>
              <a:rPr lang="en-US" sz="1050" i="1" dirty="0">
                <a:solidFill>
                  <a:srgbClr val="4B6072"/>
                </a:solidFill>
                <a:latin typeface="Calibri" pitchFamily="34" charset="0"/>
                <a:ea typeface="Calibri" pitchFamily="34" charset="-122"/>
                <a:cs typeface="Calibri" pitchFamily="34" charset="-120"/>
              </a:rPr>
              <a:t>Figure 8 — Random Forest confusion matrix on the held-out test set.</a:t>
            </a:r>
            <a:endParaRPr lang="en-US" sz="1050" dirty="0"/>
          </a:p>
        </p:txBody>
      </p:sp>
      <p:sp>
        <p:nvSpPr>
          <p:cNvPr id="11" name="Text 7"/>
          <p:cNvSpPr/>
          <p:nvPr/>
        </p:nvSpPr>
        <p:spPr>
          <a:xfrm>
            <a:off x="7726680" y="1554480"/>
            <a:ext cx="3895344" cy="310896"/>
          </a:xfrm>
          <a:prstGeom prst="rect">
            <a:avLst/>
          </a:prstGeom>
          <a:noFill/>
          <a:ln/>
        </p:spPr>
        <p:txBody>
          <a:bodyPr wrap="square" lIns="0" tIns="0" rIns="0" bIns="0" rtlCol="0" anchor="ctr"/>
          <a:lstStyle/>
          <a:p>
            <a:pPr indent="0" marL="0">
              <a:buNone/>
            </a:pPr>
            <a:r>
              <a:rPr lang="en-US" sz="1400" b="1" dirty="0">
                <a:solidFill>
                  <a:srgbClr val="1F4A68"/>
                </a:solidFill>
                <a:latin typeface="Calibri" pitchFamily="34" charset="0"/>
                <a:ea typeface="Calibri" pitchFamily="34" charset="-122"/>
                <a:cs typeface="Calibri" pitchFamily="34" charset="-120"/>
              </a:rPr>
              <a:t>What the matrix says</a:t>
            </a:r>
            <a:endParaRPr lang="en-US" sz="1400" dirty="0"/>
          </a:p>
        </p:txBody>
      </p:sp>
      <p:sp>
        <p:nvSpPr>
          <p:cNvPr id="12" name="Text 8"/>
          <p:cNvSpPr/>
          <p:nvPr/>
        </p:nvSpPr>
        <p:spPr>
          <a:xfrm>
            <a:off x="7726680" y="1938528"/>
            <a:ext cx="3895344" cy="2587244"/>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Confusions concentrate between exercises performed in similar body positions.</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quadruped-derived classes are confused with each other.</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two lying-down classes are confused with each other.</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This structure was deliberately built into the generator, and it also appears in the PCA projection.</a:t>
            </a:r>
            <a:endParaRPr lang="en-US" sz="1250" dirty="0"/>
          </a:p>
        </p:txBody>
      </p:sp>
      <p:sp>
        <p:nvSpPr>
          <p:cNvPr id="13" name="Shape 9"/>
          <p:cNvSpPr/>
          <p:nvPr/>
        </p:nvSpPr>
        <p:spPr>
          <a:xfrm>
            <a:off x="7726680" y="4726940"/>
            <a:ext cx="3895344" cy="1289812"/>
          </a:xfrm>
          <a:prstGeom prst="roundRect">
            <a:avLst>
              <a:gd name="adj" fmla="val 4963"/>
            </a:avLst>
          </a:prstGeom>
          <a:solidFill>
            <a:srgbClr val="E9F0F6"/>
          </a:solidFill>
          <a:ln w="9525">
            <a:solidFill>
              <a:srgbClr val="C6D8E5"/>
            </a:solidFill>
            <a:prstDash val="solid"/>
          </a:ln>
        </p:spPr>
      </p:sp>
      <p:sp>
        <p:nvSpPr>
          <p:cNvPr id="14" name="Text 10"/>
          <p:cNvSpPr/>
          <p:nvPr/>
        </p:nvSpPr>
        <p:spPr>
          <a:xfrm>
            <a:off x="7946136" y="4854956"/>
            <a:ext cx="3456432" cy="219456"/>
          </a:xfrm>
          <a:prstGeom prst="rect">
            <a:avLst/>
          </a:prstGeom>
          <a:noFill/>
          <a:ln/>
        </p:spPr>
        <p:txBody>
          <a:bodyPr wrap="square" lIns="0" tIns="0" rIns="0" bIns="0" rtlCol="0" anchor="t"/>
          <a:lstStyle/>
          <a:p>
            <a:pPr indent="0" marL="0">
              <a:buNone/>
            </a:pPr>
            <a:r>
              <a:rPr lang="en-US" sz="950" b="1" spc="130" kern="0" dirty="0">
                <a:solidFill>
                  <a:srgbClr val="1F4A68"/>
                </a:solidFill>
                <a:latin typeface="Calibri" pitchFamily="34" charset="0"/>
                <a:ea typeface="Calibri" pitchFamily="34" charset="-122"/>
                <a:cs typeface="Calibri" pitchFamily="34" charset="-120"/>
              </a:rPr>
              <a:t>WHY THIS IS REASSURING</a:t>
            </a:r>
            <a:endParaRPr lang="en-US" sz="950" dirty="0"/>
          </a:p>
        </p:txBody>
      </p:sp>
      <p:sp>
        <p:nvSpPr>
          <p:cNvPr id="15" name="Text 11"/>
          <p:cNvSpPr/>
          <p:nvPr/>
        </p:nvSpPr>
        <p:spPr>
          <a:xfrm>
            <a:off x="7946136" y="5110988"/>
            <a:ext cx="3456432" cy="796036"/>
          </a:xfrm>
          <a:prstGeom prst="rect">
            <a:avLst/>
          </a:prstGeom>
          <a:noFill/>
          <a:ln/>
        </p:spPr>
        <p:txBody>
          <a:bodyPr wrap="square" lIns="0" tIns="0" rIns="0" bIns="0" rtlCol="0" anchor="t"/>
          <a:lstStyle/>
          <a:p>
            <a:pPr indent="0" marL="0">
              <a:lnSpc>
                <a:spcPct val="105000"/>
              </a:lnSpc>
              <a:buNone/>
            </a:pPr>
            <a:r>
              <a:rPr lang="en-US" sz="1150" dirty="0">
                <a:solidFill>
                  <a:srgbClr val="1C2B3A"/>
                </a:solidFill>
                <a:latin typeface="Calibri" pitchFamily="34" charset="0"/>
                <a:ea typeface="Calibri" pitchFamily="34" charset="-122"/>
                <a:cs typeface="Calibri" pitchFamily="34" charset="-120"/>
              </a:rPr>
              <a:t>The errors are where a frame-level model should struggle: positions that look alike at a single instant. That is an argument for temporal features, not for a different classifier.</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Ailuri Rupa Sri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19</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FIGURE 10</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Normalised positions carry the model</a:t>
            </a:r>
            <a:endParaRPr lang="en-US" sz="2800" dirty="0"/>
          </a:p>
        </p:txBody>
      </p:sp>
      <p:sp>
        <p:nvSpPr>
          <p:cNvPr id="8" name="Shape 5"/>
          <p:cNvSpPr/>
          <p:nvPr/>
        </p:nvSpPr>
        <p:spPr>
          <a:xfrm>
            <a:off x="891866" y="1444752"/>
            <a:ext cx="6162405" cy="4242816"/>
          </a:xfrm>
          <a:prstGeom prst="roundRect">
            <a:avLst>
              <a:gd name="adj" fmla="val 1509"/>
            </a:avLst>
          </a:prstGeom>
          <a:solidFill>
            <a:srgbClr val="FFFFFF"/>
          </a:solidFill>
          <a:ln w="9525">
            <a:solidFill>
              <a:srgbClr val="DDE6EC"/>
            </a:solidFill>
            <a:prstDash val="solid"/>
          </a:ln>
          <a:effectLst>
            <a:outerShdw sx="100000" sy="100000" kx="0" ky="0" algn="bl" rotWithShape="0" blurRad="101600" dist="25400" dir="5400000">
              <a:srgbClr val="9FB3C2">
                <a:alpha val="25000"/>
              </a:srgbClr>
            </a:outerShdw>
          </a:effectLst>
        </p:spPr>
      </p:sp>
      <p:pic>
        <p:nvPicPr>
          <p:cNvPr id="9" name="Image 0" descr="/home/claude/repo/ai4mobility/docs/figures/f10_feature_importance.png">    </p:cNvPr>
          <p:cNvPicPr>
            <a:picLocks noChangeAspect="1"/>
          </p:cNvPicPr>
          <p:nvPr/>
        </p:nvPicPr>
        <p:blipFill>
          <a:blip r:embed="rId1"/>
          <a:stretch>
            <a:fillRect/>
          </a:stretch>
        </p:blipFill>
        <p:spPr>
          <a:xfrm>
            <a:off x="1001594" y="1554480"/>
            <a:ext cx="5942949" cy="4023360"/>
          </a:xfrm>
          <a:prstGeom prst="rect">
            <a:avLst/>
          </a:prstGeom>
        </p:spPr>
      </p:pic>
      <p:sp>
        <p:nvSpPr>
          <p:cNvPr id="10" name="Text 6"/>
          <p:cNvSpPr/>
          <p:nvPr/>
        </p:nvSpPr>
        <p:spPr>
          <a:xfrm>
            <a:off x="566928" y="5760720"/>
            <a:ext cx="6812280" cy="310896"/>
          </a:xfrm>
          <a:prstGeom prst="rect">
            <a:avLst/>
          </a:prstGeom>
          <a:noFill/>
          <a:ln/>
        </p:spPr>
        <p:txBody>
          <a:bodyPr wrap="square" lIns="0" tIns="0" rIns="0" bIns="0" rtlCol="0" anchor="t"/>
          <a:lstStyle/>
          <a:p>
            <a:pPr algn="ctr" indent="0" marL="0">
              <a:buNone/>
            </a:pPr>
            <a:r>
              <a:rPr lang="en-US" sz="1050" i="1" dirty="0">
                <a:solidFill>
                  <a:srgbClr val="4B6072"/>
                </a:solidFill>
                <a:latin typeface="Calibri" pitchFamily="34" charset="0"/>
                <a:ea typeface="Calibri" pitchFamily="34" charset="-122"/>
                <a:cs typeface="Calibri" pitchFamily="34" charset="-120"/>
              </a:rPr>
              <a:t>Figure 10 — top 14 features by Random Forest importance, coloured by family.</a:t>
            </a:r>
            <a:endParaRPr lang="en-US" sz="1050" dirty="0"/>
          </a:p>
        </p:txBody>
      </p:sp>
      <p:sp>
        <p:nvSpPr>
          <p:cNvPr id="11" name="Text 7"/>
          <p:cNvSpPr/>
          <p:nvPr/>
        </p:nvSpPr>
        <p:spPr>
          <a:xfrm>
            <a:off x="7726680" y="1554480"/>
            <a:ext cx="3895344" cy="310896"/>
          </a:xfrm>
          <a:prstGeom prst="rect">
            <a:avLst/>
          </a:prstGeom>
          <a:noFill/>
          <a:ln/>
        </p:spPr>
        <p:txBody>
          <a:bodyPr wrap="square" lIns="0" tIns="0" rIns="0" bIns="0" rtlCol="0" anchor="ctr"/>
          <a:lstStyle/>
          <a:p>
            <a:pPr indent="0" marL="0">
              <a:buNone/>
            </a:pPr>
            <a:r>
              <a:rPr lang="en-US" sz="1400" b="1" dirty="0">
                <a:solidFill>
                  <a:srgbClr val="1F4A68"/>
                </a:solidFill>
                <a:latin typeface="Calibri" pitchFamily="34" charset="0"/>
                <a:ea typeface="Calibri" pitchFamily="34" charset="-122"/>
                <a:cs typeface="Calibri" pitchFamily="34" charset="-120"/>
              </a:rPr>
              <a:t>The share by family</a:t>
            </a:r>
            <a:endParaRPr lang="en-US" sz="1400" dirty="0"/>
          </a:p>
        </p:txBody>
      </p:sp>
      <p:sp>
        <p:nvSpPr>
          <p:cNvPr id="12" name="Text 8"/>
          <p:cNvSpPr/>
          <p:nvPr/>
        </p:nvSpPr>
        <p:spPr>
          <a:xfrm>
            <a:off x="7726680" y="1938528"/>
            <a:ext cx="3895344" cy="2587244"/>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Normalised positions carry 77% of total importance.</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Inter-joint distances carry 14%.</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Angles contribute, but they do not dominate.</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The most useful features describe where the body is, once position and body size are normalised away.</a:t>
            </a:r>
            <a:endParaRPr lang="en-US" sz="1250" dirty="0"/>
          </a:p>
        </p:txBody>
      </p:sp>
      <p:sp>
        <p:nvSpPr>
          <p:cNvPr id="13" name="Shape 9"/>
          <p:cNvSpPr/>
          <p:nvPr/>
        </p:nvSpPr>
        <p:spPr>
          <a:xfrm>
            <a:off x="7726680" y="4726940"/>
            <a:ext cx="3895344" cy="1289812"/>
          </a:xfrm>
          <a:prstGeom prst="roundRect">
            <a:avLst>
              <a:gd name="adj" fmla="val 4963"/>
            </a:avLst>
          </a:prstGeom>
          <a:solidFill>
            <a:srgbClr val="FBEDE6"/>
          </a:solidFill>
          <a:ln w="9525">
            <a:solidFill>
              <a:srgbClr val="F0C9B6"/>
            </a:solidFill>
            <a:prstDash val="solid"/>
          </a:ln>
        </p:spPr>
      </p:sp>
      <p:sp>
        <p:nvSpPr>
          <p:cNvPr id="14" name="Text 10"/>
          <p:cNvSpPr/>
          <p:nvPr/>
        </p:nvSpPr>
        <p:spPr>
          <a:xfrm>
            <a:off x="7946136" y="4854956"/>
            <a:ext cx="3456432" cy="219456"/>
          </a:xfrm>
          <a:prstGeom prst="rect">
            <a:avLst/>
          </a:prstGeom>
          <a:noFill/>
          <a:ln/>
        </p:spPr>
        <p:txBody>
          <a:bodyPr wrap="square" lIns="0" tIns="0" rIns="0" bIns="0" rtlCol="0" anchor="t"/>
          <a:lstStyle/>
          <a:p>
            <a:pPr indent="0" marL="0">
              <a:buNone/>
            </a:pPr>
            <a:r>
              <a:rPr lang="en-US" sz="950" b="1" spc="130" kern="0" dirty="0">
                <a:solidFill>
                  <a:srgbClr val="C85A34"/>
                </a:solidFill>
                <a:latin typeface="Calibri" pitchFamily="34" charset="0"/>
                <a:ea typeface="Calibri" pitchFamily="34" charset="-122"/>
                <a:cs typeface="Calibri" pitchFamily="34" charset="-120"/>
              </a:rPr>
              <a:t>A CORRECTION WE MAKE EXPLICITLY</a:t>
            </a:r>
            <a:endParaRPr lang="en-US" sz="950" dirty="0"/>
          </a:p>
        </p:txBody>
      </p:sp>
      <p:sp>
        <p:nvSpPr>
          <p:cNvPr id="15" name="Text 11"/>
          <p:cNvSpPr/>
          <p:nvPr/>
        </p:nvSpPr>
        <p:spPr>
          <a:xfrm>
            <a:off x="7946136" y="5110988"/>
            <a:ext cx="3456432" cy="796036"/>
          </a:xfrm>
          <a:prstGeom prst="rect">
            <a:avLst/>
          </a:prstGeom>
          <a:noFill/>
          <a:ln/>
        </p:spPr>
        <p:txBody>
          <a:bodyPr wrap="square" lIns="0" tIns="0" rIns="0" bIns="0" rtlCol="0" anchor="t"/>
          <a:lstStyle/>
          <a:p>
            <a:pPr indent="0" marL="0">
              <a:lnSpc>
                <a:spcPct val="105000"/>
              </a:lnSpc>
              <a:buNone/>
            </a:pPr>
            <a:r>
              <a:rPr lang="en-US" sz="1150" dirty="0">
                <a:solidFill>
                  <a:srgbClr val="1C2B3A"/>
                </a:solidFill>
                <a:latin typeface="Calibri" pitchFamily="34" charset="0"/>
                <a:ea typeface="Calibri" pitchFamily="34" charset="-122"/>
                <a:cs typeface="Calibri" pitchFamily="34" charset="-120"/>
              </a:rPr>
              <a:t>It is tempting to say the model works because it measures joint angles. It does not. Positions at 77% and distances at 14% are the load-bearing families.</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Ailuri Rupa Sri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20</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LIMITATIONS</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What this comparison cannot settle</a:t>
            </a:r>
            <a:endParaRPr lang="en-US" sz="2800" dirty="0"/>
          </a:p>
        </p:txBody>
      </p:sp>
      <p:sp>
        <p:nvSpPr>
          <p:cNvPr id="8" name="Shape 5"/>
          <p:cNvSpPr/>
          <p:nvPr/>
        </p:nvSpPr>
        <p:spPr>
          <a:xfrm>
            <a:off x="621792" y="1645920"/>
            <a:ext cx="146304" cy="146304"/>
          </a:xfrm>
          <a:prstGeom prst="ellipse">
            <a:avLst/>
          </a:prstGeom>
          <a:solidFill>
            <a:srgbClr val="E8734A"/>
          </a:solidFill>
          <a:ln w="6350">
            <a:solidFill>
              <a:srgbClr val="E8734A"/>
            </a:solidFill>
            <a:prstDash val="solid"/>
          </a:ln>
        </p:spPr>
      </p:sp>
      <p:sp>
        <p:nvSpPr>
          <p:cNvPr id="9" name="Text 6"/>
          <p:cNvSpPr/>
          <p:nvPr/>
        </p:nvSpPr>
        <p:spPr>
          <a:xfrm>
            <a:off x="1097280" y="1499616"/>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The data is synthetic.</a:t>
            </a:r>
            <a:endParaRPr lang="en-US" sz="1500" dirty="0"/>
          </a:p>
        </p:txBody>
      </p:sp>
      <p:sp>
        <p:nvSpPr>
          <p:cNvPr id="10" name="Text 7"/>
          <p:cNvSpPr/>
          <p:nvPr/>
        </p:nvSpPr>
        <p:spPr>
          <a:xfrm>
            <a:off x="1097280" y="1792224"/>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Every score describes a seeded generator, not children performing physiotherapy.</a:t>
            </a:r>
            <a:endParaRPr lang="en-US" sz="1200" dirty="0"/>
          </a:p>
        </p:txBody>
      </p:sp>
      <p:sp>
        <p:nvSpPr>
          <p:cNvPr id="11" name="Shape 8"/>
          <p:cNvSpPr/>
          <p:nvPr/>
        </p:nvSpPr>
        <p:spPr>
          <a:xfrm>
            <a:off x="621792" y="2549347"/>
            <a:ext cx="146304" cy="146304"/>
          </a:xfrm>
          <a:prstGeom prst="ellipse">
            <a:avLst/>
          </a:prstGeom>
          <a:solidFill>
            <a:srgbClr val="E8734A"/>
          </a:solidFill>
          <a:ln w="6350">
            <a:solidFill>
              <a:srgbClr val="E8734A"/>
            </a:solidFill>
            <a:prstDash val="solid"/>
          </a:ln>
        </p:spPr>
      </p:sp>
      <p:sp>
        <p:nvSpPr>
          <p:cNvPr id="12" name="Text 9"/>
          <p:cNvSpPr/>
          <p:nvPr/>
        </p:nvSpPr>
        <p:spPr>
          <a:xfrm>
            <a:off x="1097280" y="2403043"/>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The test set is small.</a:t>
            </a:r>
            <a:endParaRPr lang="en-US" sz="1500" dirty="0"/>
          </a:p>
        </p:txBody>
      </p:sp>
      <p:sp>
        <p:nvSpPr>
          <p:cNvPr id="13" name="Text 10"/>
          <p:cNvSpPr/>
          <p:nvPr/>
        </p:nvSpPr>
        <p:spPr>
          <a:xfrm>
            <a:off x="1097280" y="2695651"/>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195 frames in total, and calf_control has a support of 14 — its per-class figures are fragile.</a:t>
            </a:r>
            <a:endParaRPr lang="en-US" sz="1200" dirty="0"/>
          </a:p>
        </p:txBody>
      </p:sp>
      <p:sp>
        <p:nvSpPr>
          <p:cNvPr id="14" name="Shape 11"/>
          <p:cNvSpPr/>
          <p:nvPr/>
        </p:nvSpPr>
        <p:spPr>
          <a:xfrm>
            <a:off x="621792" y="3452774"/>
            <a:ext cx="146304" cy="146304"/>
          </a:xfrm>
          <a:prstGeom prst="ellipse">
            <a:avLst/>
          </a:prstGeom>
          <a:solidFill>
            <a:srgbClr val="E8734A"/>
          </a:solidFill>
          <a:ln w="6350">
            <a:solidFill>
              <a:srgbClr val="E8734A"/>
            </a:solidFill>
            <a:prstDash val="solid"/>
          </a:ln>
        </p:spPr>
      </p:sp>
      <p:sp>
        <p:nvSpPr>
          <p:cNvPr id="15" name="Text 12"/>
          <p:cNvSpPr/>
          <p:nvPr/>
        </p:nvSpPr>
        <p:spPr>
          <a:xfrm>
            <a:off x="1097280" y="3306470"/>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Half a point of accuracy is not a real separation.</a:t>
            </a:r>
            <a:endParaRPr lang="en-US" sz="1500" dirty="0"/>
          </a:p>
        </p:txBody>
      </p:sp>
      <p:sp>
        <p:nvSpPr>
          <p:cNvPr id="16" name="Text 13"/>
          <p:cNvSpPr/>
          <p:nvPr/>
        </p:nvSpPr>
        <p:spPr>
          <a:xfrm>
            <a:off x="1097280" y="3599078"/>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The model choice rests on macro F1 and the generalisation gap, not on the accuracy column.</a:t>
            </a:r>
            <a:endParaRPr lang="en-US" sz="1200" dirty="0"/>
          </a:p>
        </p:txBody>
      </p:sp>
      <p:sp>
        <p:nvSpPr>
          <p:cNvPr id="17" name="Shape 14"/>
          <p:cNvSpPr/>
          <p:nvPr/>
        </p:nvSpPr>
        <p:spPr>
          <a:xfrm>
            <a:off x="621792" y="4356202"/>
            <a:ext cx="146304" cy="146304"/>
          </a:xfrm>
          <a:prstGeom prst="ellipse">
            <a:avLst/>
          </a:prstGeom>
          <a:solidFill>
            <a:srgbClr val="E8734A"/>
          </a:solidFill>
          <a:ln w="6350">
            <a:solidFill>
              <a:srgbClr val="E8734A"/>
            </a:solidFill>
            <a:prstDash val="solid"/>
          </a:ln>
        </p:spPr>
      </p:sp>
      <p:sp>
        <p:nvSpPr>
          <p:cNvPr id="18" name="Text 15"/>
          <p:cNvSpPr/>
          <p:nvPr/>
        </p:nvSpPr>
        <p:spPr>
          <a:xfrm>
            <a:off x="1097280" y="4209898"/>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No temporal modelling.</a:t>
            </a:r>
            <a:endParaRPr lang="en-US" sz="1500" dirty="0"/>
          </a:p>
        </p:txBody>
      </p:sp>
      <p:sp>
        <p:nvSpPr>
          <p:cNvPr id="19" name="Text 16"/>
          <p:cNvSpPr/>
          <p:nvPr/>
        </p:nvSpPr>
        <p:spPr>
          <a:xfrm>
            <a:off x="1097280" y="4502506"/>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Frame-level features only, so the remaining confusions are the ones a movement-over-time model should resolve.</a:t>
            </a:r>
            <a:endParaRPr lang="en-US" sz="1200" dirty="0"/>
          </a:p>
        </p:txBody>
      </p:sp>
      <p:sp>
        <p:nvSpPr>
          <p:cNvPr id="20" name="Shape 17"/>
          <p:cNvSpPr/>
          <p:nvPr/>
        </p:nvSpPr>
        <p:spPr>
          <a:xfrm>
            <a:off x="621792" y="5259629"/>
            <a:ext cx="146304" cy="146304"/>
          </a:xfrm>
          <a:prstGeom prst="ellipse">
            <a:avLst/>
          </a:prstGeom>
          <a:solidFill>
            <a:srgbClr val="E8734A"/>
          </a:solidFill>
          <a:ln w="6350">
            <a:solidFill>
              <a:srgbClr val="E8734A"/>
            </a:solidFill>
            <a:prstDash val="solid"/>
          </a:ln>
        </p:spPr>
      </p:sp>
      <p:sp>
        <p:nvSpPr>
          <p:cNvPr id="21" name="Text 18"/>
          <p:cNvSpPr/>
          <p:nvPr/>
        </p:nvSpPr>
        <p:spPr>
          <a:xfrm>
            <a:off x="1097280" y="5113325"/>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No clinical validation.</a:t>
            </a:r>
            <a:endParaRPr lang="en-US" sz="1500" dirty="0"/>
          </a:p>
        </p:txBody>
      </p:sp>
      <p:sp>
        <p:nvSpPr>
          <p:cNvPr id="22" name="Text 19"/>
          <p:cNvSpPr/>
          <p:nvPr/>
        </p:nvSpPr>
        <p:spPr>
          <a:xfrm>
            <a:off x="1097280" y="5405933"/>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No physiotherapist has reviewed the class definitions the model is trained to distinguish.</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Ailuri Rupa Sri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21</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NEXT STEPS</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What would move the modelling forward</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Ordered by expected effect on the numbers that currently limit the system.</a:t>
            </a:r>
            <a:endParaRPr lang="en-US" sz="1350" dirty="0"/>
          </a:p>
        </p:txBody>
      </p:sp>
      <p:sp>
        <p:nvSpPr>
          <p:cNvPr id="9" name="Shape 6"/>
          <p:cNvSpPr/>
          <p:nvPr/>
        </p:nvSpPr>
        <p:spPr>
          <a:xfrm>
            <a:off x="566928" y="2185416"/>
            <a:ext cx="365760" cy="365760"/>
          </a:xfrm>
          <a:prstGeom prst="ellipse">
            <a:avLst/>
          </a:prstGeom>
          <a:solidFill>
            <a:srgbClr val="2F6690"/>
          </a:solidFill>
          <a:ln w="6350">
            <a:solidFill>
              <a:srgbClr val="2F6690"/>
            </a:solidFill>
            <a:prstDash val="solid"/>
          </a:ln>
        </p:spPr>
      </p:sp>
      <p:sp>
        <p:nvSpPr>
          <p:cNvPr id="10" name="Text 7"/>
          <p:cNvSpPr/>
          <p:nvPr/>
        </p:nvSpPr>
        <p:spPr>
          <a:xfrm>
            <a:off x="566928" y="2185416"/>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1" name="Text 8"/>
          <p:cNvSpPr/>
          <p:nvPr/>
        </p:nvSpPr>
        <p:spPr>
          <a:xfrm>
            <a:off x="1097280" y="2148840"/>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Add temporal features over a sliding window</a:t>
            </a:r>
            <a:endParaRPr lang="en-US" sz="1500" dirty="0"/>
          </a:p>
        </p:txBody>
      </p:sp>
      <p:sp>
        <p:nvSpPr>
          <p:cNvPr id="12" name="Text 9"/>
          <p:cNvSpPr/>
          <p:nvPr/>
        </p:nvSpPr>
        <p:spPr>
          <a:xfrm>
            <a:off x="1097280" y="2441448"/>
            <a:ext cx="10524744" cy="58521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Velocity and phase across frames, then re-run this comparison unchanged. The confusion structure predicts exactly where the gain should appear.</a:t>
            </a:r>
            <a:endParaRPr lang="en-US" sz="1200" dirty="0"/>
          </a:p>
        </p:txBody>
      </p:sp>
      <p:sp>
        <p:nvSpPr>
          <p:cNvPr id="13" name="Shape 10"/>
          <p:cNvSpPr/>
          <p:nvPr/>
        </p:nvSpPr>
        <p:spPr>
          <a:xfrm>
            <a:off x="566928" y="3118104"/>
            <a:ext cx="365760" cy="365760"/>
          </a:xfrm>
          <a:prstGeom prst="ellipse">
            <a:avLst/>
          </a:prstGeom>
          <a:solidFill>
            <a:srgbClr val="2F6690"/>
          </a:solidFill>
          <a:ln w="6350">
            <a:solidFill>
              <a:srgbClr val="2F6690"/>
            </a:solidFill>
            <a:prstDash val="solid"/>
          </a:ln>
        </p:spPr>
      </p:sp>
      <p:sp>
        <p:nvSpPr>
          <p:cNvPr id="14" name="Text 11"/>
          <p:cNvSpPr/>
          <p:nvPr/>
        </p:nvSpPr>
        <p:spPr>
          <a:xfrm>
            <a:off x="566928" y="3118104"/>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5" name="Text 12"/>
          <p:cNvSpPr/>
          <p:nvPr/>
        </p:nvSpPr>
        <p:spPr>
          <a:xfrm>
            <a:off x="1097280" y="3081528"/>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Re-derive everything from a consented recorded dataset</a:t>
            </a:r>
            <a:endParaRPr lang="en-US" sz="1500" dirty="0"/>
          </a:p>
        </p:txBody>
      </p:sp>
      <p:sp>
        <p:nvSpPr>
          <p:cNvPr id="16" name="Text 13"/>
          <p:cNvSpPr/>
          <p:nvPr/>
        </p:nvSpPr>
        <p:spPr>
          <a:xfrm>
            <a:off x="1097280" y="3374136"/>
            <a:ext cx="10524744" cy="58521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Even 20 participants would replace every synthetic figure in this deck with a measured one.</a:t>
            </a:r>
            <a:endParaRPr lang="en-US" sz="1200" dirty="0"/>
          </a:p>
        </p:txBody>
      </p:sp>
      <p:sp>
        <p:nvSpPr>
          <p:cNvPr id="17" name="Shape 14"/>
          <p:cNvSpPr/>
          <p:nvPr/>
        </p:nvSpPr>
        <p:spPr>
          <a:xfrm>
            <a:off x="566928" y="4050792"/>
            <a:ext cx="365760" cy="365760"/>
          </a:xfrm>
          <a:prstGeom prst="ellipse">
            <a:avLst/>
          </a:prstGeom>
          <a:solidFill>
            <a:srgbClr val="2F6690"/>
          </a:solidFill>
          <a:ln w="6350">
            <a:solidFill>
              <a:srgbClr val="2F6690"/>
            </a:solidFill>
            <a:prstDash val="solid"/>
          </a:ln>
        </p:spPr>
      </p:sp>
      <p:sp>
        <p:nvSpPr>
          <p:cNvPr id="18" name="Text 15"/>
          <p:cNvSpPr/>
          <p:nvPr/>
        </p:nvSpPr>
        <p:spPr>
          <a:xfrm>
            <a:off x="566928" y="405079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9" name="Text 16"/>
          <p:cNvSpPr/>
          <p:nvPr/>
        </p:nvSpPr>
        <p:spPr>
          <a:xfrm>
            <a:off x="1097280" y="4014216"/>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Report calibrated confidence, not just a class</a:t>
            </a:r>
            <a:endParaRPr lang="en-US" sz="1500" dirty="0"/>
          </a:p>
        </p:txBody>
      </p:sp>
      <p:sp>
        <p:nvSpPr>
          <p:cNvPr id="20" name="Text 17"/>
          <p:cNvSpPr/>
          <p:nvPr/>
        </p:nvSpPr>
        <p:spPr>
          <a:xfrm>
            <a:off x="1097280" y="4306824"/>
            <a:ext cx="10524744" cy="58521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A system that gives feedback to a parent should be able to say when it is unsure.</a:t>
            </a:r>
            <a:endParaRPr lang="en-US" sz="1200" dirty="0"/>
          </a:p>
        </p:txBody>
      </p:sp>
      <p:sp>
        <p:nvSpPr>
          <p:cNvPr id="21" name="Shape 18"/>
          <p:cNvSpPr/>
          <p:nvPr/>
        </p:nvSpPr>
        <p:spPr>
          <a:xfrm>
            <a:off x="566928" y="4983480"/>
            <a:ext cx="365760" cy="365760"/>
          </a:xfrm>
          <a:prstGeom prst="ellipse">
            <a:avLst/>
          </a:prstGeom>
          <a:solidFill>
            <a:srgbClr val="2F6690"/>
          </a:solidFill>
          <a:ln w="6350">
            <a:solidFill>
              <a:srgbClr val="2F6690"/>
            </a:solidFill>
            <a:prstDash val="solid"/>
          </a:ln>
        </p:spPr>
      </p:sp>
      <p:sp>
        <p:nvSpPr>
          <p:cNvPr id="22" name="Text 19"/>
          <p:cNvSpPr/>
          <p:nvPr/>
        </p:nvSpPr>
        <p:spPr>
          <a:xfrm>
            <a:off x="566928" y="4983480"/>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3" name="Text 20"/>
          <p:cNvSpPr/>
          <p:nvPr/>
        </p:nvSpPr>
        <p:spPr>
          <a:xfrm>
            <a:off x="1097280" y="4946904"/>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Have a physiotherapist review the class definitions</a:t>
            </a:r>
            <a:endParaRPr lang="en-US" sz="1500" dirty="0"/>
          </a:p>
        </p:txBody>
      </p:sp>
      <p:sp>
        <p:nvSpPr>
          <p:cNvPr id="24" name="Text 21"/>
          <p:cNvSpPr/>
          <p:nvPr/>
        </p:nvSpPr>
        <p:spPr>
          <a:xfrm>
            <a:off x="1097280" y="5239512"/>
            <a:ext cx="10524744" cy="58521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The six classes come from published exercise text, and a clinical review would test whether they are the right six.</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F4A68"/>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B9CEDD"/>
                </a:solidFill>
                <a:latin typeface="Calibri" pitchFamily="34" charset="0"/>
                <a:ea typeface="Calibri" pitchFamily="34" charset="-122"/>
                <a:cs typeface="Calibri" pitchFamily="34" charset="-120"/>
              </a:rPr>
              <a:t>A60 AI4Mobility  ·  Ailuri Rupa Sri  ·  Team Deepminds</a:t>
            </a:r>
            <a:endParaRPr lang="en-US" sz="900" dirty="0"/>
          </a:p>
        </p:txBody>
      </p:sp>
      <p:sp>
        <p:nvSpPr>
          <p:cNvPr id="3" name="Shape 1"/>
          <p:cNvSpPr/>
          <p:nvPr/>
        </p:nvSpPr>
        <p:spPr>
          <a:xfrm>
            <a:off x="11283696" y="6245352"/>
            <a:ext cx="320040" cy="320040"/>
          </a:xfrm>
          <a:prstGeom prst="ellipse">
            <a:avLst/>
          </a:prstGeom>
          <a:solidFill>
            <a:srgbClr val="E8734A"/>
          </a:solidFill>
          <a:ln w="9525">
            <a:solidFill>
              <a:srgbClr val="E8734A"/>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22</a:t>
            </a:r>
            <a:endParaRPr lang="en-US" sz="1000" dirty="0"/>
          </a:p>
        </p:txBody>
      </p:sp>
      <p:sp>
        <p:nvSpPr>
          <p:cNvPr id="6" name="Text 3"/>
          <p:cNvSpPr/>
          <p:nvPr/>
        </p:nvSpPr>
        <p:spPr>
          <a:xfrm>
            <a:off x="566928" y="786384"/>
            <a:ext cx="11055096" cy="274320"/>
          </a:xfrm>
          <a:prstGeom prst="rect">
            <a:avLst/>
          </a:prstGeom>
          <a:noFill/>
          <a:ln/>
        </p:spPr>
        <p:txBody>
          <a:bodyPr wrap="square" lIns="0" tIns="0" rIns="0" bIns="0" rtlCol="0" anchor="ctr"/>
          <a:lstStyle/>
          <a:p>
            <a:pPr indent="0" marL="0">
              <a:buNone/>
            </a:pPr>
            <a:r>
              <a:rPr lang="en-US" sz="1100" b="1" spc="200" kern="0" dirty="0">
                <a:solidFill>
                  <a:srgbClr val="E8734A"/>
                </a:solidFill>
                <a:latin typeface="Calibri" pitchFamily="34" charset="0"/>
                <a:ea typeface="Calibri" pitchFamily="34" charset="-122"/>
                <a:cs typeface="Calibri" pitchFamily="34" charset="-120"/>
              </a:rPr>
              <a:t>IN CLOSING</a:t>
            </a:r>
            <a:endParaRPr lang="en-US" sz="1100" dirty="0"/>
          </a:p>
        </p:txBody>
      </p:sp>
      <p:sp>
        <p:nvSpPr>
          <p:cNvPr id="7" name="Text 4"/>
          <p:cNvSpPr/>
          <p:nvPr/>
        </p:nvSpPr>
        <p:spPr>
          <a:xfrm>
            <a:off x="566928" y="1133856"/>
            <a:ext cx="10607040" cy="9144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 comparison built to be believed, not to look good</a:t>
            </a:r>
            <a:endParaRPr lang="en-US" sz="3200" dirty="0"/>
          </a:p>
        </p:txBody>
      </p:sp>
      <p:sp>
        <p:nvSpPr>
          <p:cNvPr id="8" name="Shape 5"/>
          <p:cNvSpPr/>
          <p:nvPr/>
        </p:nvSpPr>
        <p:spPr>
          <a:xfrm>
            <a:off x="566928" y="2286000"/>
            <a:ext cx="3514344" cy="1773936"/>
          </a:xfrm>
          <a:prstGeom prst="roundRect">
            <a:avLst>
              <a:gd name="adj" fmla="val 3608"/>
            </a:avLst>
          </a:prstGeom>
          <a:solidFill>
            <a:srgbClr val="2F6690"/>
          </a:solidFill>
          <a:ln w="9525">
            <a:solidFill>
              <a:srgbClr val="3C7AA6"/>
            </a:solidFill>
            <a:prstDash val="solid"/>
          </a:ln>
        </p:spPr>
      </p:sp>
      <p:sp>
        <p:nvSpPr>
          <p:cNvPr id="9" name="Text 6"/>
          <p:cNvSpPr/>
          <p:nvPr/>
        </p:nvSpPr>
        <p:spPr>
          <a:xfrm>
            <a:off x="786384" y="2450592"/>
            <a:ext cx="3075432" cy="40233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Three families, one protocol</a:t>
            </a:r>
            <a:endParaRPr lang="en-US" sz="1400" dirty="0"/>
          </a:p>
        </p:txBody>
      </p:sp>
      <p:sp>
        <p:nvSpPr>
          <p:cNvPr id="10" name="Text 7"/>
          <p:cNvSpPr/>
          <p:nvPr/>
        </p:nvSpPr>
        <p:spPr>
          <a:xfrm>
            <a:off x="786384" y="2871216"/>
            <a:ext cx="3075432" cy="1060704"/>
          </a:xfrm>
          <a:prstGeom prst="rect">
            <a:avLst/>
          </a:prstGeom>
          <a:noFill/>
          <a:ln/>
        </p:spPr>
        <p:txBody>
          <a:bodyPr wrap="square" lIns="0" tIns="0" rIns="0" bIns="0" rtlCol="0" anchor="t"/>
          <a:lstStyle/>
          <a:p>
            <a:pPr indent="0" marL="0">
              <a:lnSpc>
                <a:spcPct val="105000"/>
              </a:lnSpc>
              <a:buNone/>
            </a:pPr>
            <a:r>
              <a:rPr lang="en-US" sz="1150" dirty="0">
                <a:solidFill>
                  <a:srgbClr val="E4EEF5"/>
                </a:solidFill>
                <a:latin typeface="Calibri" pitchFamily="34" charset="0"/>
                <a:ea typeface="Calibri" pitchFamily="34" charset="-122"/>
                <a:cs typeface="Calibri" pitchFamily="34" charset="-120"/>
              </a:rPr>
              <a:t>Identical data, identical splits, five-fold cross-validation on training only, and a test set scored exactly once.</a:t>
            </a:r>
            <a:endParaRPr lang="en-US" sz="1150" dirty="0"/>
          </a:p>
        </p:txBody>
      </p:sp>
      <p:sp>
        <p:nvSpPr>
          <p:cNvPr id="11" name="Shape 8"/>
          <p:cNvSpPr/>
          <p:nvPr/>
        </p:nvSpPr>
        <p:spPr>
          <a:xfrm>
            <a:off x="4337304" y="2286000"/>
            <a:ext cx="3514344" cy="1773936"/>
          </a:xfrm>
          <a:prstGeom prst="roundRect">
            <a:avLst>
              <a:gd name="adj" fmla="val 3608"/>
            </a:avLst>
          </a:prstGeom>
          <a:solidFill>
            <a:srgbClr val="2F6690"/>
          </a:solidFill>
          <a:ln w="9525">
            <a:solidFill>
              <a:srgbClr val="3C7AA6"/>
            </a:solidFill>
            <a:prstDash val="solid"/>
          </a:ln>
        </p:spPr>
      </p:sp>
      <p:sp>
        <p:nvSpPr>
          <p:cNvPr id="12" name="Text 9"/>
          <p:cNvSpPr/>
          <p:nvPr/>
        </p:nvSpPr>
        <p:spPr>
          <a:xfrm>
            <a:off x="4556760" y="2450592"/>
            <a:ext cx="3075432" cy="40233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Selected on the right criteria</a:t>
            </a:r>
            <a:endParaRPr lang="en-US" sz="1400" dirty="0"/>
          </a:p>
        </p:txBody>
      </p:sp>
      <p:sp>
        <p:nvSpPr>
          <p:cNvPr id="13" name="Text 10"/>
          <p:cNvSpPr/>
          <p:nvPr/>
        </p:nvSpPr>
        <p:spPr>
          <a:xfrm>
            <a:off x="4556760" y="2871216"/>
            <a:ext cx="3075432" cy="1060704"/>
          </a:xfrm>
          <a:prstGeom prst="rect">
            <a:avLst/>
          </a:prstGeom>
          <a:noFill/>
          <a:ln/>
        </p:spPr>
        <p:txBody>
          <a:bodyPr wrap="square" lIns="0" tIns="0" rIns="0" bIns="0" rtlCol="0" anchor="t"/>
          <a:lstStyle/>
          <a:p>
            <a:pPr indent="0" marL="0">
              <a:lnSpc>
                <a:spcPct val="105000"/>
              </a:lnSpc>
              <a:buNone/>
            </a:pPr>
            <a:r>
              <a:rPr lang="en-US" sz="1150" dirty="0">
                <a:solidFill>
                  <a:srgbClr val="E4EEF5"/>
                </a:solidFill>
                <a:latin typeface="Calibri" pitchFamily="34" charset="0"/>
                <a:ea typeface="Calibri" pitchFamily="34" charset="-122"/>
                <a:cs typeface="Calibri" pitchFamily="34" charset="-120"/>
              </a:rPr>
              <a:t>Random Forest at 0.935 macro F1 with a +0.037 gap, chosen over two models that memorised their training data.</a:t>
            </a:r>
            <a:endParaRPr lang="en-US" sz="1150" dirty="0"/>
          </a:p>
        </p:txBody>
      </p:sp>
      <p:sp>
        <p:nvSpPr>
          <p:cNvPr id="14" name="Shape 11"/>
          <p:cNvSpPr/>
          <p:nvPr/>
        </p:nvSpPr>
        <p:spPr>
          <a:xfrm>
            <a:off x="8107680" y="2286000"/>
            <a:ext cx="3514344" cy="1773936"/>
          </a:xfrm>
          <a:prstGeom prst="roundRect">
            <a:avLst>
              <a:gd name="adj" fmla="val 3608"/>
            </a:avLst>
          </a:prstGeom>
          <a:solidFill>
            <a:srgbClr val="2F6690"/>
          </a:solidFill>
          <a:ln w="9525">
            <a:solidFill>
              <a:srgbClr val="3C7AA6"/>
            </a:solidFill>
            <a:prstDash val="solid"/>
          </a:ln>
        </p:spPr>
      </p:sp>
      <p:sp>
        <p:nvSpPr>
          <p:cNvPr id="15" name="Text 12"/>
          <p:cNvSpPr/>
          <p:nvPr/>
        </p:nvSpPr>
        <p:spPr>
          <a:xfrm>
            <a:off x="8327136" y="2450592"/>
            <a:ext cx="3075432" cy="40233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Reported without decoration</a:t>
            </a:r>
            <a:endParaRPr lang="en-US" sz="1400" dirty="0"/>
          </a:p>
        </p:txBody>
      </p:sp>
      <p:sp>
        <p:nvSpPr>
          <p:cNvPr id="16" name="Text 13"/>
          <p:cNvSpPr/>
          <p:nvPr/>
        </p:nvSpPr>
        <p:spPr>
          <a:xfrm>
            <a:off x="8327136" y="2871216"/>
            <a:ext cx="3075432" cy="1060704"/>
          </a:xfrm>
          <a:prstGeom prst="rect">
            <a:avLst/>
          </a:prstGeom>
          <a:noFill/>
          <a:ln/>
        </p:spPr>
        <p:txBody>
          <a:bodyPr wrap="square" lIns="0" tIns="0" rIns="0" bIns="0" rtlCol="0" anchor="t"/>
          <a:lstStyle/>
          <a:p>
            <a:pPr indent="0" marL="0">
              <a:lnSpc>
                <a:spcPct val="105000"/>
              </a:lnSpc>
              <a:buNone/>
            </a:pPr>
            <a:r>
              <a:rPr lang="en-US" sz="1150" dirty="0">
                <a:solidFill>
                  <a:srgbClr val="E4EEF5"/>
                </a:solidFill>
                <a:latin typeface="Calibri" pitchFamily="34" charset="0"/>
                <a:ea typeface="Calibri" pitchFamily="34" charset="-122"/>
                <a:cs typeface="Calibri" pitchFamily="34" charset="-120"/>
              </a:rPr>
              <a:t>Per-class precision, recall and F1; the weakest classes named; positions at 77% of importance, not angles.</a:t>
            </a:r>
            <a:endParaRPr lang="en-US" sz="1150" dirty="0"/>
          </a:p>
        </p:txBody>
      </p:sp>
      <p:sp>
        <p:nvSpPr>
          <p:cNvPr id="17" name="Text 14"/>
          <p:cNvSpPr/>
          <p:nvPr/>
        </p:nvSpPr>
        <p:spPr>
          <a:xfrm>
            <a:off x="566928" y="4315968"/>
            <a:ext cx="10607040" cy="822960"/>
          </a:xfrm>
          <a:prstGeom prst="rect">
            <a:avLst/>
          </a:prstGeom>
          <a:noFill/>
          <a:ln/>
        </p:spPr>
        <p:txBody>
          <a:bodyPr wrap="square" lIns="0" tIns="0" rIns="0" bIns="0" rtlCol="0" anchor="t"/>
          <a:lstStyle/>
          <a:p>
            <a:pPr indent="0" marL="0">
              <a:lnSpc>
                <a:spcPct val="110000"/>
              </a:lnSpc>
              <a:buNone/>
            </a:pPr>
            <a:r>
              <a:rPr lang="en-US" sz="1700" i="1" dirty="0">
                <a:solidFill>
                  <a:srgbClr val="FFFFFF"/>
                </a:solidFill>
                <a:latin typeface="Cambria" pitchFamily="34" charset="0"/>
                <a:ea typeface="Cambria" pitchFamily="34" charset="-122"/>
                <a:cs typeface="Cambria" pitchFamily="34" charset="-120"/>
              </a:rPr>
              <a:t>The number worth defending is not the highest one. It is the one produced by a protocol that could have embarrassed us.</a:t>
            </a:r>
            <a:endParaRPr lang="en-US" sz="1700" dirty="0"/>
          </a:p>
        </p:txBody>
      </p:sp>
      <p:sp>
        <p:nvSpPr>
          <p:cNvPr id="18" name="Text 15"/>
          <p:cNvSpPr/>
          <p:nvPr/>
        </p:nvSpPr>
        <p:spPr>
          <a:xfrm>
            <a:off x="566928" y="5248656"/>
            <a:ext cx="10607040" cy="731520"/>
          </a:xfrm>
          <a:prstGeom prst="rect">
            <a:avLst/>
          </a:prstGeom>
          <a:noFill/>
          <a:ln/>
        </p:spPr>
        <p:txBody>
          <a:bodyPr wrap="square" lIns="0" tIns="0" rIns="0" bIns="0" rtlCol="0" anchor="t"/>
          <a:lstStyle/>
          <a:p>
            <a:pPr indent="0" marL="0">
              <a:lnSpc>
                <a:spcPct val="110000"/>
              </a:lnSpc>
              <a:buNone/>
            </a:pPr>
            <a:r>
              <a:rPr lang="en-US" sz="1200" dirty="0">
                <a:solidFill>
                  <a:srgbClr val="B9CEDD"/>
                </a:solidFill>
                <a:latin typeface="Calibri" pitchFamily="34" charset="0"/>
                <a:ea typeface="Calibri" pitchFamily="34" charset="-122"/>
                <a:cs typeface="Calibri" pitchFamily="34" charset="-120"/>
              </a:rPr>
              <a:t>Ailuri Rupa Sri  ·  Model development and evaluation lead</a:t>
            </a:r>
            <a:endParaRPr lang="en-US" sz="1200" dirty="0"/>
          </a:p>
          <a:p>
            <a:pPr indent="0" marL="0">
              <a:lnSpc>
                <a:spcPct val="110000"/>
              </a:lnSpc>
              <a:buNone/>
            </a:pPr>
            <a:r>
              <a:rPr lang="en-US" sz="1200" dirty="0">
                <a:solidFill>
                  <a:srgbClr val="B9CEDD"/>
                </a:solidFill>
                <a:latin typeface="Calibri" pitchFamily="34" charset="0"/>
                <a:ea typeface="Calibri" pitchFamily="34" charset="-122"/>
                <a:cs typeface="Calibri" pitchFamily="34" charset="-120"/>
              </a:rPr>
              <a:t>Project A60  ·  Module 55-708252  ·  Sheffield Hallam University  ·  Team Deepminds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Sheffield Hallam University — Team Deepminds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AI4Mobility — modelling and evaluation</dc:title>
  <dc:subject>A60 AI4Mobility, module 55-708252</dc:subject>
  <dc:creator>Ailuri Rupa Sri</dc:creator>
  <cp:lastModifiedBy>Ailuri Rupa Sri</cp:lastModifiedBy>
  <cp:revision>1</cp:revision>
  <dcterms:created xsi:type="dcterms:W3CDTF">2026-08-18T00:09:17Z</dcterms:created>
  <dcterms:modified xsi:type="dcterms:W3CDTF">2026-08-18T00:09:17Z</dcterms:modified>
</cp:coreProperties>
</file>