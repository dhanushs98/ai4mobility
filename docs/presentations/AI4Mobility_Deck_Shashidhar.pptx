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say which layer of the project this deck covers: everything visual, from the stick figures in the interface to the live camera coach. Make the boundary clear at the start — the illustrations are hand-authored and the classifier data is synthetic, so nothing here is a detection result on real children. Say that the through-line of the deck is a single skeleton definition shared by every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out the three sections and the order they run in. Emphasise that the PCA slide and the tolerance slide are the two places where it would be easy to overclaim, so both carry explicit caveats. Say the deck ends with limitations rather than starting with them, but that nothing is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each member and their responsibility, then say what you owned: the renderer, the pose library, the exploratory figures and the live coach. Point out the dependency in both directions — the pose bank feeds the coach, and the shared skeleton definition feeds the notebook figures. The peer contribution split shown here is the one agreed for the individual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section around consistency: the interface, the notebook figures and the coach all describe the same skeleton. Say that getting this wrong early would have produced figures that looked convincing and were geometrically false. The coordinate bug at the end of the section is the concrete example of that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connection list from head to ankle so the audience can picture it, then explain why sharing it matters more than the list itself. Point out that the classifier angle features are computed at these same vertices, so the drawing and the model are talking about the same joints. Note that the renderer adds feet and hands purely for legibility in the illustrations.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 picture per step was the single most requested thing when parents read a text instruction, so the library covers every step rather than a sample. Be explicit that these are hand-authored coordinates rather than model output, because the visual quality invites the opposite assumption. Close by naming generative illustration as unbuilt work rather than implying it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representative-frame choice: picking the first frame would have produced a tidier and less truthful figure. Point at the standing calf-control panel and the flatter quadruped panels and note how much visual structure separates them. Say that this figure is drawn by the same code path as the interface illustrations, which is why the visual language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this as a short story, because it is the clearest example of why figures need to be reviewed by eye rather than accepted because the code ran. Emphasise that only the standing class made the error obvious, so a dataset without a standing pose would have shipped the bug. The fix is one axis-limit line, but the lesson is that the convention now appears in the comments of all three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exploratory visualisation as the stage where a project decides what it believes. Say that each figure here is followed by an explicit statement of what it does not establish. Remind the audience that the dataset underneath every figure in this section is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it plainly: every figure in this deck is drawn from synthetic, seeded data. Give the useful half — the visual pipeline, the conventions and the review discipline all transfer to real recordings unchanged. Then name the specific overclaims this deck refuses to make, including anything about the coach being 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joints where the boxes are well separated and the joints where they sit on top of each other. Explain that this overlap is deliberate — the generator was built so that classes in the same body position genuinely resemble each other at some movement phases. Add the caveat that the importance analysis puts positions well ahead of angles, so this figure should not be read as evidence that angles carry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number first — 52.3 per cent of variance in two components — and then immediately say what it is not. A projection can look convincing while the remaining variance carries the information that actually distinguishes the hard classes. Say that the honest use of this figure is to predict where confusions will appear, which it does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this figure back to the PCA slide: the groups that touched in the projection are the pairs that get confused here. Say that this is a designed property of the dataset, and that reproducing it is a sanity check rather than a discovery. Note that the same weak classes appear for all three models, which points at the data rather than at any one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coach as the component that closes the loop between the picture and the child. Say up front that it runs entirely on the device and that no frame is uploaded or stored. Flag that the section ends with an honest statement about the tolerances.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chain from camera to cue in one pass, keeping the privacy property prominent: nothing leaves the device. Explain the choice to surface one cue rather than four corrections at once, because a parent cannot act on four at the same time. Finish on graceful degradation, which was tested as part of the pose-coach test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figure to show that the four checked joints behave differently across pose families, which is the argument against a single global tolerance. Explain that the targets are computed rather than typed in, so a corrected illustration updates the coach automatically. Note that this figure is a description of the pose bank, not a measurement taken from any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derivation in one pass — coordinates in the bank, angles computed at the checked vertices, cached per pose. The design point is that there is exactly one description of each position in the whole platform. Then close the loop honestly: this makes the coach consistent with the illustration, not correct in a clinical sense, because the illustration itself has not been reviewed by a physiotherapist.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number and then immediately say what kind of number it is: a usability setting arrived at by testing, not a clinical threshold. Explain that reporting measured-against-target keeps the parent in charge of the judgement rather than the software. Close by pointing at the register entry, so the audience hears it as a documented limitation rather than an admission.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headline numbers, then make the point that matters for this deck: the exploratory figures predicted the weak classes before any model was trained. Say that the three models agree with each other and with the visualisation, which is a consistency argument rather than a performance claim. Repeat that these figures are measured on synthetic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these as facts and resist softening the first two. The point about PCA is worth repeating because it is the figure most likely to be misread as proof. End on the synthetic caveat so the audience carries it into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physiotherapist review, because it is the cheapest step that changes the strength of the claims. Explain that a recorded dataset would let every figure in this deck be redrawn without changing any code. Close on user evaluation, which is the only way to learn whether a cue is actually usable.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points and repeat the two caveats one final time, because they are the sentences most likely to be quoted back. Offer to demonstrate the live coach or walk through the pose bank in questions. Thank the supervisor for pushing the team towards an explicit honest description, which is why the tolerance slide exists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A68"/>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B9CEDD"/>
                </a:solidFill>
                <a:latin typeface="Calibri" pitchFamily="34" charset="0"/>
                <a:ea typeface="Calibri" pitchFamily="34" charset="-122"/>
                <a:cs typeface="Calibri" pitchFamily="34" charset="-120"/>
              </a:rPr>
              <a:t>A60 AI4Mobility  ·  Nandi Reddy Shashidhar Reddy  ·  Team Deepminds</a:t>
            </a:r>
            <a:endParaRPr lang="en-US" sz="900" dirty="0"/>
          </a:p>
        </p:txBody>
      </p:sp>
      <p:sp>
        <p:nvSpPr>
          <p:cNvPr id="3" name="Shape 1"/>
          <p:cNvSpPr/>
          <p:nvPr/>
        </p:nvSpPr>
        <p:spPr>
          <a:xfrm>
            <a:off x="11283696" y="6245352"/>
            <a:ext cx="320040" cy="320040"/>
          </a:xfrm>
          <a:prstGeom prst="ellipse">
            <a:avLst/>
          </a:prstGeom>
          <a:solidFill>
            <a:srgbClr val="E8734A"/>
          </a:solidFill>
          <a:ln w="9525">
            <a:solidFill>
              <a:srgbClr val="E8734A"/>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 name="Text 3"/>
          <p:cNvSpPr/>
          <p:nvPr/>
        </p:nvSpPr>
        <p:spPr>
          <a:xfrm>
            <a:off x="566928" y="822960"/>
            <a:ext cx="11055096" cy="274320"/>
          </a:xfrm>
          <a:prstGeom prst="rect">
            <a:avLst/>
          </a:prstGeom>
          <a:noFill/>
          <a:ln/>
        </p:spPr>
        <p:txBody>
          <a:bodyPr wrap="square" lIns="0" tIns="0" rIns="0" bIns="0" rtlCol="0" anchor="ctr"/>
          <a:lstStyle/>
          <a:p>
            <a:pPr indent="0" marL="0">
              <a:buNone/>
            </a:pPr>
            <a:r>
              <a:rPr lang="en-US" sz="1200" b="1" spc="200" kern="0" dirty="0">
                <a:solidFill>
                  <a:srgbClr val="E8734A"/>
                </a:solidFill>
                <a:latin typeface="Calibri" pitchFamily="34" charset="0"/>
                <a:ea typeface="Calibri" pitchFamily="34" charset="-122"/>
                <a:cs typeface="Calibri" pitchFamily="34" charset="-120"/>
              </a:rPr>
              <a:t>PROJECT A60  ·  MODULE 55-708252</a:t>
            </a:r>
            <a:endParaRPr lang="en-US" sz="1200" dirty="0"/>
          </a:p>
        </p:txBody>
      </p:sp>
      <p:sp>
        <p:nvSpPr>
          <p:cNvPr id="7" name="Text 4"/>
          <p:cNvSpPr/>
          <p:nvPr/>
        </p:nvSpPr>
        <p:spPr>
          <a:xfrm>
            <a:off x="566928" y="1207008"/>
            <a:ext cx="10424160" cy="13716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AI4Mobility</a:t>
            </a:r>
            <a:endParaRPr lang="en-US" sz="4200" dirty="0"/>
          </a:p>
        </p:txBody>
      </p:sp>
      <p:sp>
        <p:nvSpPr>
          <p:cNvPr id="8" name="Text 5"/>
          <p:cNvSpPr/>
          <p:nvPr/>
        </p:nvSpPr>
        <p:spPr>
          <a:xfrm>
            <a:off x="566928" y="2615184"/>
            <a:ext cx="9692640" cy="822960"/>
          </a:xfrm>
          <a:prstGeom prst="rect">
            <a:avLst/>
          </a:prstGeom>
          <a:noFill/>
          <a:ln/>
        </p:spPr>
        <p:txBody>
          <a:bodyPr wrap="square" lIns="0" tIns="0" rIns="0" bIns="0" rtlCol="0" anchor="t"/>
          <a:lstStyle/>
          <a:p>
            <a:pPr indent="0" marL="0">
              <a:lnSpc>
                <a:spcPct val="110000"/>
              </a:lnSpc>
              <a:buNone/>
            </a:pPr>
            <a:r>
              <a:rPr lang="en-US" sz="1500" dirty="0">
                <a:solidFill>
                  <a:srgbClr val="B9CEDD"/>
                </a:solidFill>
                <a:latin typeface="Calibri" pitchFamily="34" charset="0"/>
                <a:ea typeface="Calibri" pitchFamily="34" charset="-122"/>
                <a:cs typeface="Calibri" pitchFamily="34" charset="-120"/>
              </a:rPr>
              <a:t>A multimodal assistive platform for parents supporting children with mobility difficulties. This deck covers how the body is drawn, explored and compared against a reference position.</a:t>
            </a:r>
            <a:endParaRPr lang="en-US" sz="1500" dirty="0"/>
          </a:p>
        </p:txBody>
      </p:sp>
      <p:sp>
        <p:nvSpPr>
          <p:cNvPr id="9" name="Shape 6"/>
          <p:cNvSpPr/>
          <p:nvPr/>
        </p:nvSpPr>
        <p:spPr>
          <a:xfrm>
            <a:off x="566928" y="3611880"/>
            <a:ext cx="5852160" cy="1572768"/>
          </a:xfrm>
          <a:prstGeom prst="roundRect">
            <a:avLst>
              <a:gd name="adj" fmla="val 4070"/>
            </a:avLst>
          </a:prstGeom>
          <a:solidFill>
            <a:srgbClr val="2F6690"/>
          </a:solidFill>
          <a:ln w="9525">
            <a:solidFill>
              <a:srgbClr val="2F6690"/>
            </a:solidFill>
            <a:prstDash val="solid"/>
          </a:ln>
        </p:spPr>
      </p:sp>
      <p:sp>
        <p:nvSpPr>
          <p:cNvPr id="10" name="Text 7"/>
          <p:cNvSpPr/>
          <p:nvPr/>
        </p:nvSpPr>
        <p:spPr>
          <a:xfrm>
            <a:off x="841248" y="3785616"/>
            <a:ext cx="5303520" cy="237744"/>
          </a:xfrm>
          <a:prstGeom prst="rect">
            <a:avLst/>
          </a:prstGeom>
          <a:noFill/>
          <a:ln/>
        </p:spPr>
        <p:txBody>
          <a:bodyPr wrap="square" lIns="0" tIns="0" rIns="0" bIns="0" rtlCol="0" anchor="ctr"/>
          <a:lstStyle/>
          <a:p>
            <a:pPr indent="0" marL="0">
              <a:buNone/>
            </a:pPr>
            <a:r>
              <a:rPr lang="en-US" sz="950" b="1" spc="140" kern="0" dirty="0">
                <a:solidFill>
                  <a:srgbClr val="B9CEDD"/>
                </a:solidFill>
                <a:latin typeface="Calibri" pitchFamily="34" charset="0"/>
                <a:ea typeface="Calibri" pitchFamily="34" charset="-122"/>
                <a:cs typeface="Calibri" pitchFamily="34" charset="-120"/>
              </a:rPr>
              <a:t>PRESENTED BY</a:t>
            </a:r>
            <a:endParaRPr lang="en-US" sz="950" dirty="0"/>
          </a:p>
        </p:txBody>
      </p:sp>
      <p:sp>
        <p:nvSpPr>
          <p:cNvPr id="11" name="Text 8"/>
          <p:cNvSpPr/>
          <p:nvPr/>
        </p:nvSpPr>
        <p:spPr>
          <a:xfrm>
            <a:off x="841248" y="4041648"/>
            <a:ext cx="5303520" cy="420624"/>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Nandi Reddy Shashidhar Reddy</a:t>
            </a:r>
            <a:endParaRPr lang="en-US" sz="2100" dirty="0"/>
          </a:p>
        </p:txBody>
      </p:sp>
      <p:sp>
        <p:nvSpPr>
          <p:cNvPr id="12" name="Text 9"/>
          <p:cNvSpPr/>
          <p:nvPr/>
        </p:nvSpPr>
        <p:spPr>
          <a:xfrm>
            <a:off x="841248" y="4498848"/>
            <a:ext cx="5303520" cy="457200"/>
          </a:xfrm>
          <a:prstGeom prst="rect">
            <a:avLst/>
          </a:prstGeom>
          <a:noFill/>
          <a:ln/>
        </p:spPr>
        <p:txBody>
          <a:bodyPr wrap="square" lIns="0" tIns="0" rIns="0" bIns="0" rtlCol="0" anchor="t"/>
          <a:lstStyle/>
          <a:p>
            <a:pPr indent="0" marL="0">
              <a:buNone/>
            </a:pPr>
            <a:r>
              <a:rPr lang="en-US" sz="1300" dirty="0">
                <a:solidFill>
                  <a:srgbClr val="B9CEDD"/>
                </a:solidFill>
                <a:latin typeface="Calibri" pitchFamily="34" charset="0"/>
                <a:ea typeface="Calibri" pitchFamily="34" charset="-122"/>
                <a:cs typeface="Calibri" pitchFamily="34" charset="-120"/>
              </a:rPr>
              <a:t>Pose estimation and visualisation lead</a:t>
            </a:r>
            <a:endParaRPr lang="en-US" sz="1300" dirty="0"/>
          </a:p>
        </p:txBody>
      </p:sp>
      <p:sp>
        <p:nvSpPr>
          <p:cNvPr id="13" name="Shape 10"/>
          <p:cNvSpPr/>
          <p:nvPr/>
        </p:nvSpPr>
        <p:spPr>
          <a:xfrm>
            <a:off x="6720840" y="3611880"/>
            <a:ext cx="4901184" cy="1572768"/>
          </a:xfrm>
          <a:prstGeom prst="roundRect">
            <a:avLst>
              <a:gd name="adj" fmla="val 4070"/>
            </a:avLst>
          </a:prstGeom>
          <a:solidFill>
            <a:srgbClr val="1F4A68"/>
          </a:solidFill>
          <a:ln w="9525">
            <a:solidFill>
              <a:srgbClr val="355F7C"/>
            </a:solidFill>
            <a:prstDash val="solid"/>
          </a:ln>
        </p:spPr>
      </p:sp>
      <p:sp>
        <p:nvSpPr>
          <p:cNvPr id="14" name="Text 11"/>
          <p:cNvSpPr/>
          <p:nvPr/>
        </p:nvSpPr>
        <p:spPr>
          <a:xfrm>
            <a:off x="6995160" y="3785616"/>
            <a:ext cx="4352544" cy="1225296"/>
          </a:xfrm>
          <a:prstGeom prst="rect">
            <a:avLst/>
          </a:prstGeom>
          <a:noFill/>
          <a:ln/>
        </p:spPr>
        <p:txBody>
          <a:bodyPr wrap="square" lIns="0" tIns="0" rIns="0" bIns="0" rtlCol="0" anchor="ctr"/>
          <a:lstStyle/>
          <a:p>
            <a:pPr indent="0" marL="0">
              <a:lnSpc>
                <a:spcPct val="105000"/>
              </a:lnSpc>
              <a:spcAft>
                <a:spcPts val="500"/>
              </a:spcAft>
              <a:buNone/>
            </a:pPr>
            <a:r>
              <a:rPr lang="en-US" sz="1250" dirty="0">
                <a:solidFill>
                  <a:srgbClr val="FFFFFF"/>
                </a:solidFill>
                <a:latin typeface="Calibri" pitchFamily="34" charset="0"/>
                <a:ea typeface="Calibri" pitchFamily="34" charset="-122"/>
                <a:cs typeface="Calibri" pitchFamily="34" charset="-120"/>
              </a:rPr>
              <a:t>Sheffield Hallam University — MSc</a:t>
            </a:r>
            <a:endParaRPr lang="en-US" sz="1250" dirty="0"/>
          </a:p>
          <a:p>
            <a:pPr indent="0" marL="0">
              <a:lnSpc>
                <a:spcPct val="105000"/>
              </a:lnSpc>
              <a:spcAft>
                <a:spcPts val="500"/>
              </a:spcAft>
              <a:buNone/>
            </a:pPr>
            <a:r>
              <a:rPr lang="en-US" sz="1250" dirty="0">
                <a:solidFill>
                  <a:srgbClr val="FFFFFF"/>
                </a:solidFill>
                <a:latin typeface="Calibri" pitchFamily="34" charset="0"/>
                <a:ea typeface="Calibri" pitchFamily="34" charset="-122"/>
                <a:cs typeface="Calibri" pitchFamily="34" charset="-120"/>
              </a:rPr>
              <a:t>AI Research and Development Project</a:t>
            </a:r>
            <a:endParaRPr lang="en-US" sz="1250" dirty="0"/>
          </a:p>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Team Deepminds  ·  Supervisor: Alejandro</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Nandi Reddy Shashidhar Reddy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2</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AGENDA</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What this deck covers</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From one connection list to a live camera coach, with the caveats attached.</a:t>
            </a:r>
            <a:endParaRPr lang="en-US" sz="1350" dirty="0"/>
          </a:p>
        </p:txBody>
      </p:sp>
      <p:sp>
        <p:nvSpPr>
          <p:cNvPr id="9" name="Shape 6"/>
          <p:cNvSpPr/>
          <p:nvPr/>
        </p:nvSpPr>
        <p:spPr>
          <a:xfrm>
            <a:off x="566928" y="2185416"/>
            <a:ext cx="365760" cy="365760"/>
          </a:xfrm>
          <a:prstGeom prst="ellipse">
            <a:avLst/>
          </a:prstGeom>
          <a:solidFill>
            <a:srgbClr val="2F6690"/>
          </a:solidFill>
          <a:ln w="6350">
            <a:solidFill>
              <a:srgbClr val="2F6690"/>
            </a:solidFill>
            <a:prstDash val="solid"/>
          </a:ln>
        </p:spPr>
      </p:sp>
      <p:sp>
        <p:nvSpPr>
          <p:cNvPr id="10" name="Text 7"/>
          <p:cNvSpPr/>
          <p:nvPr/>
        </p:nvSpPr>
        <p:spPr>
          <a:xfrm>
            <a:off x="566928" y="218541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1" name="Text 8"/>
          <p:cNvSpPr/>
          <p:nvPr/>
        </p:nvSpPr>
        <p:spPr>
          <a:xfrm>
            <a:off x="1097280" y="2148840"/>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Drawing the body</a:t>
            </a:r>
            <a:endParaRPr lang="en-US" sz="1500" dirty="0"/>
          </a:p>
        </p:txBody>
      </p:sp>
      <p:sp>
        <p:nvSpPr>
          <p:cNvPr id="12" name="Text 9"/>
          <p:cNvSpPr/>
          <p:nvPr/>
        </p:nvSpPr>
        <p:spPr>
          <a:xfrm>
            <a:off x="1097280" y="2441448"/>
            <a:ext cx="10524744" cy="58521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The skeleton connection list, the 46-pose illustration library, and the coordinate bug that shaped both.</a:t>
            </a:r>
            <a:endParaRPr lang="en-US" sz="1200" dirty="0"/>
          </a:p>
        </p:txBody>
      </p:sp>
      <p:sp>
        <p:nvSpPr>
          <p:cNvPr id="13" name="Shape 10"/>
          <p:cNvSpPr/>
          <p:nvPr/>
        </p:nvSpPr>
        <p:spPr>
          <a:xfrm>
            <a:off x="566928" y="3118104"/>
            <a:ext cx="365760" cy="365760"/>
          </a:xfrm>
          <a:prstGeom prst="ellipse">
            <a:avLst/>
          </a:prstGeom>
          <a:solidFill>
            <a:srgbClr val="2F6690"/>
          </a:solidFill>
          <a:ln w="6350">
            <a:solidFill>
              <a:srgbClr val="2F6690"/>
            </a:solidFill>
            <a:prstDash val="solid"/>
          </a:ln>
        </p:spPr>
      </p:sp>
      <p:sp>
        <p:nvSpPr>
          <p:cNvPr id="14" name="Text 11"/>
          <p:cNvSpPr/>
          <p:nvPr/>
        </p:nvSpPr>
        <p:spPr>
          <a:xfrm>
            <a:off x="566928" y="311810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5" name="Text 12"/>
          <p:cNvSpPr/>
          <p:nvPr/>
        </p:nvSpPr>
        <p:spPr>
          <a:xfrm>
            <a:off x="1097280" y="3081528"/>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Exploring the data</a:t>
            </a:r>
            <a:endParaRPr lang="en-US" sz="1500" dirty="0"/>
          </a:p>
        </p:txBody>
      </p:sp>
      <p:sp>
        <p:nvSpPr>
          <p:cNvPr id="16" name="Text 13"/>
          <p:cNvSpPr/>
          <p:nvPr/>
        </p:nvSpPr>
        <p:spPr>
          <a:xfrm>
            <a:off x="1097280" y="3374136"/>
            <a:ext cx="10524744" cy="58521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Angle distributions, the PCA projection, and what 52.3% of variance does and does not prove.</a:t>
            </a:r>
            <a:endParaRPr lang="en-US" sz="1200" dirty="0"/>
          </a:p>
        </p:txBody>
      </p:sp>
      <p:sp>
        <p:nvSpPr>
          <p:cNvPr id="17" name="Shape 14"/>
          <p:cNvSpPr/>
          <p:nvPr/>
        </p:nvSpPr>
        <p:spPr>
          <a:xfrm>
            <a:off x="566928" y="4050792"/>
            <a:ext cx="365760" cy="365760"/>
          </a:xfrm>
          <a:prstGeom prst="ellipse">
            <a:avLst/>
          </a:prstGeom>
          <a:solidFill>
            <a:srgbClr val="2F6690"/>
          </a:solidFill>
          <a:ln w="6350">
            <a:solidFill>
              <a:srgbClr val="2F6690"/>
            </a:solidFill>
            <a:prstDash val="solid"/>
          </a:ln>
        </p:spPr>
      </p:sp>
      <p:sp>
        <p:nvSpPr>
          <p:cNvPr id="18" name="Text 15"/>
          <p:cNvSpPr/>
          <p:nvPr/>
        </p:nvSpPr>
        <p:spPr>
          <a:xfrm>
            <a:off x="566928" y="405079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9" name="Text 16"/>
          <p:cNvSpPr/>
          <p:nvPr/>
        </p:nvSpPr>
        <p:spPr>
          <a:xfrm>
            <a:off x="1097280" y="4014216"/>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The live pose coach</a:t>
            </a:r>
            <a:endParaRPr lang="en-US" sz="1500" dirty="0"/>
          </a:p>
        </p:txBody>
      </p:sp>
      <p:sp>
        <p:nvSpPr>
          <p:cNvPr id="20" name="Text 17"/>
          <p:cNvSpPr/>
          <p:nvPr/>
        </p:nvSpPr>
        <p:spPr>
          <a:xfrm>
            <a:off x="1097280" y="4306824"/>
            <a:ext cx="10524744" cy="58521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On-device pose estimation, four joint checks, and where the target angles come from.</a:t>
            </a:r>
            <a:endParaRPr lang="en-US" sz="1200" dirty="0"/>
          </a:p>
        </p:txBody>
      </p:sp>
      <p:sp>
        <p:nvSpPr>
          <p:cNvPr id="21" name="Shape 18"/>
          <p:cNvSpPr/>
          <p:nvPr/>
        </p:nvSpPr>
        <p:spPr>
          <a:xfrm>
            <a:off x="566928" y="4983480"/>
            <a:ext cx="365760" cy="365760"/>
          </a:xfrm>
          <a:prstGeom prst="ellipse">
            <a:avLst/>
          </a:prstGeom>
          <a:solidFill>
            <a:srgbClr val="2F6690"/>
          </a:solidFill>
          <a:ln w="6350">
            <a:solidFill>
              <a:srgbClr val="2F6690"/>
            </a:solidFill>
            <a:prstDash val="solid"/>
          </a:ln>
        </p:spPr>
      </p:sp>
      <p:sp>
        <p:nvSpPr>
          <p:cNvPr id="22" name="Text 19"/>
          <p:cNvSpPr/>
          <p:nvPr/>
        </p:nvSpPr>
        <p:spPr>
          <a:xfrm>
            <a:off x="566928" y="498348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3" name="Text 20"/>
          <p:cNvSpPr/>
          <p:nvPr/>
        </p:nvSpPr>
        <p:spPr>
          <a:xfrm>
            <a:off x="1097280" y="4946904"/>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Results and limits</a:t>
            </a:r>
            <a:endParaRPr lang="en-US" sz="1500" dirty="0"/>
          </a:p>
        </p:txBody>
      </p:sp>
      <p:sp>
        <p:nvSpPr>
          <p:cNvPr id="24" name="Text 21"/>
          <p:cNvSpPr/>
          <p:nvPr/>
        </p:nvSpPr>
        <p:spPr>
          <a:xfrm>
            <a:off x="1097280" y="5239512"/>
            <a:ext cx="10524744" cy="58521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The model comparison, plus an honest account of what is not validated.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Nandi Reddy Shashidhar Reddy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3</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THE TEAM</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Team Deepminds — four roles, one platform</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Four members, four defined responsibilities. This deck presents the pose estimation and visualisation work.</a:t>
            </a:r>
            <a:endParaRPr lang="en-US" sz="1350" dirty="0"/>
          </a:p>
        </p:txBody>
      </p:sp>
      <p:sp>
        <p:nvSpPr>
          <p:cNvPr id="9" name="Shape 6"/>
          <p:cNvSpPr/>
          <p:nvPr/>
        </p:nvSpPr>
        <p:spPr>
          <a:xfrm>
            <a:off x="566928" y="2093976"/>
            <a:ext cx="5390388" cy="1783080"/>
          </a:xfrm>
          <a:prstGeom prst="roundRect">
            <a:avLst>
              <a:gd name="adj" fmla="val 3590"/>
            </a:avLst>
          </a:prstGeom>
          <a:solidFill>
            <a:srgbClr val="F4F7FA"/>
          </a:solidFill>
          <a:ln w="9525">
            <a:solidFill>
              <a:srgbClr val="DDE6EC"/>
            </a:solidFill>
            <a:prstDash val="solid"/>
          </a:ln>
        </p:spPr>
      </p:sp>
      <p:sp>
        <p:nvSpPr>
          <p:cNvPr id="10" name="Text 7"/>
          <p:cNvSpPr/>
          <p:nvPr/>
        </p:nvSpPr>
        <p:spPr>
          <a:xfrm>
            <a:off x="822960" y="2343607"/>
            <a:ext cx="3653028" cy="384048"/>
          </a:xfrm>
          <a:prstGeom prst="rect">
            <a:avLst/>
          </a:prstGeom>
          <a:noFill/>
          <a:ln/>
        </p:spPr>
        <p:txBody>
          <a:bodyPr wrap="square" lIns="0" tIns="0" rIns="0" bIns="0" rtlCol="0" anchor="ctr"/>
          <a:lstStyle/>
          <a:p>
            <a:pPr indent="0" marL="0">
              <a:buNone/>
            </a:pPr>
            <a:r>
              <a:rPr lang="en-US" sz="1700" b="1" dirty="0">
                <a:solidFill>
                  <a:srgbClr val="1F4A68"/>
                </a:solidFill>
                <a:latin typeface="Cambria" pitchFamily="34" charset="0"/>
                <a:ea typeface="Cambria" pitchFamily="34" charset="-122"/>
                <a:cs typeface="Cambria" pitchFamily="34" charset="-120"/>
              </a:rPr>
              <a:t>Krushna Sai Teja Adhala</a:t>
            </a:r>
            <a:endParaRPr lang="en-US" sz="1700" dirty="0"/>
          </a:p>
        </p:txBody>
      </p:sp>
      <p:sp>
        <p:nvSpPr>
          <p:cNvPr id="11" name="Text 8"/>
          <p:cNvSpPr/>
          <p:nvPr/>
        </p:nvSpPr>
        <p:spPr>
          <a:xfrm>
            <a:off x="822960" y="2807208"/>
            <a:ext cx="4878324" cy="347472"/>
          </a:xfrm>
          <a:prstGeom prst="rect">
            <a:avLst/>
          </a:prstGeom>
          <a:noFill/>
          <a:ln/>
        </p:spPr>
        <p:txBody>
          <a:bodyPr wrap="square" lIns="0" tIns="0" rIns="0" bIns="0" rtlCol="0" anchor="ctr"/>
          <a:lstStyle/>
          <a:p>
            <a:pPr indent="0" marL="0">
              <a:buNone/>
            </a:pPr>
            <a:r>
              <a:rPr lang="en-US" sz="1250" dirty="0">
                <a:solidFill>
                  <a:srgbClr val="1C2B3A"/>
                </a:solidFill>
                <a:latin typeface="Calibri" pitchFamily="34" charset="0"/>
                <a:ea typeface="Calibri" pitchFamily="34" charset="-122"/>
                <a:cs typeface="Calibri" pitchFamily="34" charset="-120"/>
              </a:rPr>
              <a:t>Data engineering and pipeline lead</a:t>
            </a:r>
            <a:endParaRPr lang="en-US" sz="1250" dirty="0"/>
          </a:p>
        </p:txBody>
      </p:sp>
      <p:sp>
        <p:nvSpPr>
          <p:cNvPr id="12" name="Text 9"/>
          <p:cNvSpPr/>
          <p:nvPr/>
        </p:nvSpPr>
        <p:spPr>
          <a:xfrm>
            <a:off x="822960" y="3270809"/>
            <a:ext cx="4878324" cy="310896"/>
          </a:xfrm>
          <a:prstGeom prst="rect">
            <a:avLst/>
          </a:prstGeom>
          <a:noFill/>
          <a:ln/>
        </p:spPr>
        <p:txBody>
          <a:bodyPr wrap="square" lIns="0" tIns="0" rIns="0" bIns="0" rtlCol="0" anchor="ctr"/>
          <a:lstStyle/>
          <a:p>
            <a:pPr indent="0" marL="0">
              <a:buNone/>
            </a:pPr>
            <a:r>
              <a:rPr lang="en-US" sz="1100" dirty="0">
                <a:solidFill>
                  <a:srgbClr val="4B6072"/>
                </a:solidFill>
                <a:latin typeface="Calibri" pitchFamily="34" charset="0"/>
                <a:ea typeface="Calibri" pitchFamily="34" charset="-122"/>
                <a:cs typeface="Calibri" pitchFamily="34" charset="-120"/>
              </a:rPr>
              <a:t>Peer contribution split: 28%</a:t>
            </a:r>
            <a:endParaRPr lang="en-US" sz="1100" dirty="0"/>
          </a:p>
        </p:txBody>
      </p:sp>
      <p:sp>
        <p:nvSpPr>
          <p:cNvPr id="13" name="Shape 10"/>
          <p:cNvSpPr/>
          <p:nvPr/>
        </p:nvSpPr>
        <p:spPr>
          <a:xfrm>
            <a:off x="6231636" y="2093976"/>
            <a:ext cx="5390388" cy="1783080"/>
          </a:xfrm>
          <a:prstGeom prst="roundRect">
            <a:avLst>
              <a:gd name="adj" fmla="val 3590"/>
            </a:avLst>
          </a:prstGeom>
          <a:solidFill>
            <a:srgbClr val="F4F7FA"/>
          </a:solidFill>
          <a:ln w="9525">
            <a:solidFill>
              <a:srgbClr val="DDE6EC"/>
            </a:solidFill>
            <a:prstDash val="solid"/>
          </a:ln>
        </p:spPr>
      </p:sp>
      <p:sp>
        <p:nvSpPr>
          <p:cNvPr id="14" name="Text 11"/>
          <p:cNvSpPr/>
          <p:nvPr/>
        </p:nvSpPr>
        <p:spPr>
          <a:xfrm>
            <a:off x="6487668" y="2343607"/>
            <a:ext cx="3653028" cy="384048"/>
          </a:xfrm>
          <a:prstGeom prst="rect">
            <a:avLst/>
          </a:prstGeom>
          <a:noFill/>
          <a:ln/>
        </p:spPr>
        <p:txBody>
          <a:bodyPr wrap="square" lIns="0" tIns="0" rIns="0" bIns="0" rtlCol="0" anchor="ctr"/>
          <a:lstStyle/>
          <a:p>
            <a:pPr indent="0" marL="0">
              <a:buNone/>
            </a:pPr>
            <a:r>
              <a:rPr lang="en-US" sz="1700" b="1" dirty="0">
                <a:solidFill>
                  <a:srgbClr val="1F4A68"/>
                </a:solidFill>
                <a:latin typeface="Cambria" pitchFamily="34" charset="0"/>
                <a:ea typeface="Cambria" pitchFamily="34" charset="-122"/>
                <a:cs typeface="Cambria" pitchFamily="34" charset="-120"/>
              </a:rPr>
              <a:t>Ailuri Rupa Sri</a:t>
            </a:r>
            <a:endParaRPr lang="en-US" sz="1700" dirty="0"/>
          </a:p>
        </p:txBody>
      </p:sp>
      <p:sp>
        <p:nvSpPr>
          <p:cNvPr id="15" name="Text 12"/>
          <p:cNvSpPr/>
          <p:nvPr/>
        </p:nvSpPr>
        <p:spPr>
          <a:xfrm>
            <a:off x="6487668" y="2807208"/>
            <a:ext cx="4878324" cy="347472"/>
          </a:xfrm>
          <a:prstGeom prst="rect">
            <a:avLst/>
          </a:prstGeom>
          <a:noFill/>
          <a:ln/>
        </p:spPr>
        <p:txBody>
          <a:bodyPr wrap="square" lIns="0" tIns="0" rIns="0" bIns="0" rtlCol="0" anchor="ctr"/>
          <a:lstStyle/>
          <a:p>
            <a:pPr indent="0" marL="0">
              <a:buNone/>
            </a:pPr>
            <a:r>
              <a:rPr lang="en-US" sz="1250" dirty="0">
                <a:solidFill>
                  <a:srgbClr val="1C2B3A"/>
                </a:solidFill>
                <a:latin typeface="Calibri" pitchFamily="34" charset="0"/>
                <a:ea typeface="Calibri" pitchFamily="34" charset="-122"/>
                <a:cs typeface="Calibri" pitchFamily="34" charset="-120"/>
              </a:rPr>
              <a:t>Model development and evaluation lead</a:t>
            </a:r>
            <a:endParaRPr lang="en-US" sz="1250" dirty="0"/>
          </a:p>
        </p:txBody>
      </p:sp>
      <p:sp>
        <p:nvSpPr>
          <p:cNvPr id="16" name="Text 13"/>
          <p:cNvSpPr/>
          <p:nvPr/>
        </p:nvSpPr>
        <p:spPr>
          <a:xfrm>
            <a:off x="6487668" y="3270809"/>
            <a:ext cx="4878324" cy="310896"/>
          </a:xfrm>
          <a:prstGeom prst="rect">
            <a:avLst/>
          </a:prstGeom>
          <a:noFill/>
          <a:ln/>
        </p:spPr>
        <p:txBody>
          <a:bodyPr wrap="square" lIns="0" tIns="0" rIns="0" bIns="0" rtlCol="0" anchor="ctr"/>
          <a:lstStyle/>
          <a:p>
            <a:pPr indent="0" marL="0">
              <a:buNone/>
            </a:pPr>
            <a:r>
              <a:rPr lang="en-US" sz="1100" dirty="0">
                <a:solidFill>
                  <a:srgbClr val="4B6072"/>
                </a:solidFill>
                <a:latin typeface="Calibri" pitchFamily="34" charset="0"/>
                <a:ea typeface="Calibri" pitchFamily="34" charset="-122"/>
                <a:cs typeface="Calibri" pitchFamily="34" charset="-120"/>
              </a:rPr>
              <a:t>Peer contribution split: 26%</a:t>
            </a:r>
            <a:endParaRPr lang="en-US" sz="1100" dirty="0"/>
          </a:p>
        </p:txBody>
      </p:sp>
      <p:sp>
        <p:nvSpPr>
          <p:cNvPr id="17" name="Shape 14"/>
          <p:cNvSpPr/>
          <p:nvPr/>
        </p:nvSpPr>
        <p:spPr>
          <a:xfrm>
            <a:off x="566928" y="4151376"/>
            <a:ext cx="5390388" cy="1783080"/>
          </a:xfrm>
          <a:prstGeom prst="roundRect">
            <a:avLst>
              <a:gd name="adj" fmla="val 3590"/>
            </a:avLst>
          </a:prstGeom>
          <a:solidFill>
            <a:srgbClr val="2F6690"/>
          </a:solidFill>
          <a:ln w="9525">
            <a:solidFill>
              <a:srgbClr val="2F6690"/>
            </a:solidFill>
            <a:prstDash val="solid"/>
          </a:ln>
          <a:effectLst>
            <a:outerShdw sx="100000" sy="100000" kx="0" ky="0" algn="bl" rotWithShape="0" blurRad="101600" dist="25400" dir="5400000">
              <a:srgbClr val="9FB3C2">
                <a:alpha val="25000"/>
              </a:srgbClr>
            </a:outerShdw>
          </a:effectLst>
        </p:spPr>
      </p:sp>
      <p:sp>
        <p:nvSpPr>
          <p:cNvPr id="18" name="Text 15"/>
          <p:cNvSpPr/>
          <p:nvPr/>
        </p:nvSpPr>
        <p:spPr>
          <a:xfrm>
            <a:off x="822960" y="4401007"/>
            <a:ext cx="3653028" cy="38404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Nandi Reddy Shashidhar Reddy</a:t>
            </a:r>
            <a:endParaRPr lang="en-US" sz="1700" dirty="0"/>
          </a:p>
        </p:txBody>
      </p:sp>
      <p:sp>
        <p:nvSpPr>
          <p:cNvPr id="19" name="Text 16"/>
          <p:cNvSpPr/>
          <p:nvPr/>
        </p:nvSpPr>
        <p:spPr>
          <a:xfrm>
            <a:off x="822960" y="4864608"/>
            <a:ext cx="4878324" cy="34747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Pose estimation and visualisation lead</a:t>
            </a:r>
            <a:endParaRPr lang="en-US" sz="1250" dirty="0"/>
          </a:p>
        </p:txBody>
      </p:sp>
      <p:sp>
        <p:nvSpPr>
          <p:cNvPr id="20" name="Text 17"/>
          <p:cNvSpPr/>
          <p:nvPr/>
        </p:nvSpPr>
        <p:spPr>
          <a:xfrm>
            <a:off x="822960" y="5328209"/>
            <a:ext cx="4878324" cy="310896"/>
          </a:xfrm>
          <a:prstGeom prst="rect">
            <a:avLst/>
          </a:prstGeom>
          <a:noFill/>
          <a:ln/>
        </p:spPr>
        <p:txBody>
          <a:bodyPr wrap="square" lIns="0" tIns="0" rIns="0" bIns="0" rtlCol="0" anchor="ctr"/>
          <a:lstStyle/>
          <a:p>
            <a:pPr indent="0" marL="0">
              <a:buNone/>
            </a:pPr>
            <a:r>
              <a:rPr lang="en-US" sz="1100" dirty="0">
                <a:solidFill>
                  <a:srgbClr val="B9CEDD"/>
                </a:solidFill>
                <a:latin typeface="Calibri" pitchFamily="34" charset="0"/>
                <a:ea typeface="Calibri" pitchFamily="34" charset="-122"/>
                <a:cs typeface="Calibri" pitchFamily="34" charset="-120"/>
              </a:rPr>
              <a:t>Peer contribution split: 24%</a:t>
            </a:r>
            <a:endParaRPr lang="en-US" sz="1100" dirty="0"/>
          </a:p>
        </p:txBody>
      </p:sp>
      <p:sp>
        <p:nvSpPr>
          <p:cNvPr id="21" name="Text 18"/>
          <p:cNvSpPr/>
          <p:nvPr/>
        </p:nvSpPr>
        <p:spPr>
          <a:xfrm>
            <a:off x="4539996" y="4465015"/>
            <a:ext cx="1161288" cy="256032"/>
          </a:xfrm>
          <a:prstGeom prst="rect">
            <a:avLst/>
          </a:prstGeom>
          <a:solidFill>
            <a:srgbClr val="FFFFFF"/>
          </a:solidFill>
          <a:ln/>
        </p:spPr>
        <p:txBody>
          <a:bodyPr wrap="square" lIns="0" tIns="0" rIns="0" bIns="0" rtlCol="0" anchor="ctr"/>
          <a:lstStyle/>
          <a:p>
            <a:pPr algn="ctr" indent="0" marL="0">
              <a:buNone/>
            </a:pPr>
            <a:r>
              <a:rPr lang="en-US" sz="900" b="1" spc="120" kern="0" dirty="0">
                <a:solidFill>
                  <a:srgbClr val="1F4A68"/>
                </a:solidFill>
                <a:latin typeface="Calibri" pitchFamily="34" charset="0"/>
                <a:ea typeface="Calibri" pitchFamily="34" charset="-122"/>
                <a:cs typeface="Calibri" pitchFamily="34" charset="-120"/>
              </a:rPr>
              <a:t>THIS DECK</a:t>
            </a:r>
            <a:endParaRPr lang="en-US" sz="900" dirty="0"/>
          </a:p>
        </p:txBody>
      </p:sp>
      <p:sp>
        <p:nvSpPr>
          <p:cNvPr id="22" name="Shape 19"/>
          <p:cNvSpPr/>
          <p:nvPr/>
        </p:nvSpPr>
        <p:spPr>
          <a:xfrm>
            <a:off x="6231636" y="4151376"/>
            <a:ext cx="5390388" cy="1783080"/>
          </a:xfrm>
          <a:prstGeom prst="roundRect">
            <a:avLst>
              <a:gd name="adj" fmla="val 3590"/>
            </a:avLst>
          </a:prstGeom>
          <a:solidFill>
            <a:srgbClr val="F4F7FA"/>
          </a:solidFill>
          <a:ln w="9525">
            <a:solidFill>
              <a:srgbClr val="DDE6EC"/>
            </a:solidFill>
            <a:prstDash val="solid"/>
          </a:ln>
        </p:spPr>
      </p:sp>
      <p:sp>
        <p:nvSpPr>
          <p:cNvPr id="23" name="Text 20"/>
          <p:cNvSpPr/>
          <p:nvPr/>
        </p:nvSpPr>
        <p:spPr>
          <a:xfrm>
            <a:off x="6487668" y="4401007"/>
            <a:ext cx="3653028" cy="384048"/>
          </a:xfrm>
          <a:prstGeom prst="rect">
            <a:avLst/>
          </a:prstGeom>
          <a:noFill/>
          <a:ln/>
        </p:spPr>
        <p:txBody>
          <a:bodyPr wrap="square" lIns="0" tIns="0" rIns="0" bIns="0" rtlCol="0" anchor="ctr"/>
          <a:lstStyle/>
          <a:p>
            <a:pPr indent="0" marL="0">
              <a:buNone/>
            </a:pPr>
            <a:r>
              <a:rPr lang="en-US" sz="1700" b="1" dirty="0">
                <a:solidFill>
                  <a:srgbClr val="1F4A68"/>
                </a:solidFill>
                <a:latin typeface="Cambria" pitchFamily="34" charset="0"/>
                <a:ea typeface="Cambria" pitchFamily="34" charset="-122"/>
                <a:cs typeface="Cambria" pitchFamily="34" charset="-120"/>
              </a:rPr>
              <a:t>Dhanush Sanjay</a:t>
            </a:r>
            <a:endParaRPr lang="en-US" sz="1700" dirty="0"/>
          </a:p>
        </p:txBody>
      </p:sp>
      <p:sp>
        <p:nvSpPr>
          <p:cNvPr id="24" name="Text 21"/>
          <p:cNvSpPr/>
          <p:nvPr/>
        </p:nvSpPr>
        <p:spPr>
          <a:xfrm>
            <a:off x="6487668" y="4864608"/>
            <a:ext cx="4878324" cy="347472"/>
          </a:xfrm>
          <a:prstGeom prst="rect">
            <a:avLst/>
          </a:prstGeom>
          <a:noFill/>
          <a:ln/>
        </p:spPr>
        <p:txBody>
          <a:bodyPr wrap="square" lIns="0" tIns="0" rIns="0" bIns="0" rtlCol="0" anchor="ctr"/>
          <a:lstStyle/>
          <a:p>
            <a:pPr indent="0" marL="0">
              <a:buNone/>
            </a:pPr>
            <a:r>
              <a:rPr lang="en-US" sz="1250" dirty="0">
                <a:solidFill>
                  <a:srgbClr val="1C2B3A"/>
                </a:solidFill>
                <a:latin typeface="Calibri" pitchFamily="34" charset="0"/>
                <a:ea typeface="Calibri" pitchFamily="34" charset="-122"/>
                <a:cs typeface="Calibri" pitchFamily="34" charset="-120"/>
              </a:rPr>
              <a:t>Research and documentation lead</a:t>
            </a:r>
            <a:endParaRPr lang="en-US" sz="1250" dirty="0"/>
          </a:p>
        </p:txBody>
      </p:sp>
      <p:sp>
        <p:nvSpPr>
          <p:cNvPr id="25" name="Text 22"/>
          <p:cNvSpPr/>
          <p:nvPr/>
        </p:nvSpPr>
        <p:spPr>
          <a:xfrm>
            <a:off x="6487668" y="5328209"/>
            <a:ext cx="4878324" cy="310896"/>
          </a:xfrm>
          <a:prstGeom prst="rect">
            <a:avLst/>
          </a:prstGeom>
          <a:noFill/>
          <a:ln/>
        </p:spPr>
        <p:txBody>
          <a:bodyPr wrap="square" lIns="0" tIns="0" rIns="0" bIns="0" rtlCol="0" anchor="ctr"/>
          <a:lstStyle/>
          <a:p>
            <a:pPr indent="0" marL="0">
              <a:buNone/>
            </a:pPr>
            <a:r>
              <a:rPr lang="en-US" sz="1100" dirty="0">
                <a:solidFill>
                  <a:srgbClr val="4B6072"/>
                </a:solidFill>
                <a:latin typeface="Calibri" pitchFamily="34" charset="0"/>
                <a:ea typeface="Calibri" pitchFamily="34" charset="-122"/>
                <a:cs typeface="Calibri" pitchFamily="34" charset="-120"/>
              </a:rPr>
              <a:t>Peer contribution split: 22%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4A68"/>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B9CEDD"/>
                </a:solidFill>
                <a:latin typeface="Calibri" pitchFamily="34" charset="0"/>
                <a:ea typeface="Calibri" pitchFamily="34" charset="-122"/>
                <a:cs typeface="Calibri" pitchFamily="34" charset="-120"/>
              </a:rPr>
              <a:t>A60 AI4Mobility  ·  Nandi Reddy Shashidhar Reddy  ·  Team Deepminds</a:t>
            </a:r>
            <a:endParaRPr lang="en-US" sz="900" dirty="0"/>
          </a:p>
        </p:txBody>
      </p:sp>
      <p:sp>
        <p:nvSpPr>
          <p:cNvPr id="3" name="Shape 1"/>
          <p:cNvSpPr/>
          <p:nvPr/>
        </p:nvSpPr>
        <p:spPr>
          <a:xfrm>
            <a:off x="11283696" y="6245352"/>
            <a:ext cx="320040" cy="320040"/>
          </a:xfrm>
          <a:prstGeom prst="ellipse">
            <a:avLst/>
          </a:prstGeom>
          <a:solidFill>
            <a:srgbClr val="E8734A"/>
          </a:solidFill>
          <a:ln w="9525">
            <a:solidFill>
              <a:srgbClr val="E8734A"/>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6" name="Shape 3"/>
          <p:cNvSpPr/>
          <p:nvPr/>
        </p:nvSpPr>
        <p:spPr>
          <a:xfrm>
            <a:off x="566928" y="2286000"/>
            <a:ext cx="786384" cy="786384"/>
          </a:xfrm>
          <a:prstGeom prst="ellipse">
            <a:avLst/>
          </a:prstGeom>
          <a:solidFill>
            <a:srgbClr val="E8734A"/>
          </a:solidFill>
          <a:ln w="6350">
            <a:solidFill>
              <a:srgbClr val="E8734A"/>
            </a:solidFill>
            <a:prstDash val="solid"/>
          </a:ln>
        </p:spPr>
      </p:sp>
      <p:sp>
        <p:nvSpPr>
          <p:cNvPr id="7" name="Text 4"/>
          <p:cNvSpPr/>
          <p:nvPr/>
        </p:nvSpPr>
        <p:spPr>
          <a:xfrm>
            <a:off x="566928" y="2286000"/>
            <a:ext cx="786384" cy="78638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01</a:t>
            </a:r>
            <a:endParaRPr lang="en-US" sz="2600" dirty="0"/>
          </a:p>
        </p:txBody>
      </p:sp>
      <p:sp>
        <p:nvSpPr>
          <p:cNvPr id="8" name="Text 5"/>
          <p:cNvSpPr/>
          <p:nvPr/>
        </p:nvSpPr>
        <p:spPr>
          <a:xfrm>
            <a:off x="566928" y="3255264"/>
            <a:ext cx="987552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Drawing the body</a:t>
            </a:r>
            <a:endParaRPr lang="en-US" sz="3400" dirty="0"/>
          </a:p>
        </p:txBody>
      </p:sp>
      <p:sp>
        <p:nvSpPr>
          <p:cNvPr id="9" name="Text 6"/>
          <p:cNvSpPr/>
          <p:nvPr/>
        </p:nvSpPr>
        <p:spPr>
          <a:xfrm>
            <a:off x="566928" y="4133088"/>
            <a:ext cx="8961120" cy="731520"/>
          </a:xfrm>
          <a:prstGeom prst="rect">
            <a:avLst/>
          </a:prstGeom>
          <a:noFill/>
          <a:ln/>
        </p:spPr>
        <p:txBody>
          <a:bodyPr wrap="square" lIns="0" tIns="0" rIns="0" bIns="0" rtlCol="0" anchor="t"/>
          <a:lstStyle/>
          <a:p>
            <a:pPr indent="0" marL="0">
              <a:lnSpc>
                <a:spcPct val="110000"/>
              </a:lnSpc>
              <a:buNone/>
            </a:pPr>
            <a:r>
              <a:rPr lang="en-US" sz="1400" dirty="0">
                <a:solidFill>
                  <a:srgbClr val="B9CEDD"/>
                </a:solidFill>
                <a:latin typeface="Calibri" pitchFamily="34" charset="0"/>
                <a:ea typeface="Calibri" pitchFamily="34" charset="-122"/>
                <a:cs typeface="Calibri" pitchFamily="34" charset="-120"/>
              </a:rPr>
              <a:t>One connection list, 46 hand-authored poses, and the coordinate convention that had to be right before anything else could be.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Nandi Reddy Shashidhar Reddy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5</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THE SKELETON</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One connection list, used everywhere</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Thirteen landmarks, joined the same way in the notebook figures and in the platform illustrations.</a:t>
            </a:r>
            <a:endParaRPr lang="en-US" sz="1350" dirty="0"/>
          </a:p>
        </p:txBody>
      </p:sp>
      <p:sp>
        <p:nvSpPr>
          <p:cNvPr id="9" name="Shape 6"/>
          <p:cNvSpPr/>
          <p:nvPr/>
        </p:nvSpPr>
        <p:spPr>
          <a:xfrm>
            <a:off x="566928" y="2406172"/>
            <a:ext cx="5372100" cy="2844800"/>
          </a:xfrm>
          <a:prstGeom prst="roundRect">
            <a:avLst>
              <a:gd name="adj" fmla="val 2250"/>
            </a:avLst>
          </a:prstGeom>
          <a:solidFill>
            <a:srgbClr val="F4F7FA"/>
          </a:solidFill>
          <a:ln w="9525">
            <a:solidFill>
              <a:srgbClr val="DDE6EC"/>
            </a:solidFill>
            <a:prstDash val="solid"/>
          </a:ln>
        </p:spPr>
      </p:sp>
      <p:sp>
        <p:nvSpPr>
          <p:cNvPr id="10" name="Text 7"/>
          <p:cNvSpPr/>
          <p:nvPr/>
        </p:nvSpPr>
        <p:spPr>
          <a:xfrm>
            <a:off x="822960" y="2589052"/>
            <a:ext cx="4860036" cy="365760"/>
          </a:xfrm>
          <a:prstGeom prst="rect">
            <a:avLst/>
          </a:prstGeom>
          <a:noFill/>
          <a:ln/>
        </p:spPr>
        <p:txBody>
          <a:bodyPr wrap="square" lIns="0" tIns="0" rIns="0" bIns="0" rtlCol="0" anchor="ctr"/>
          <a:lstStyle/>
          <a:p>
            <a:pPr indent="0" marL="0">
              <a:buNone/>
            </a:pPr>
            <a:r>
              <a:rPr lang="en-US" sz="1500" b="1" dirty="0">
                <a:solidFill>
                  <a:srgbClr val="1F4A68"/>
                </a:solidFill>
                <a:latin typeface="Calibri" pitchFamily="34" charset="0"/>
                <a:ea typeface="Calibri" pitchFamily="34" charset="-122"/>
                <a:cs typeface="Calibri" pitchFamily="34" charset="-120"/>
              </a:rPr>
              <a:t>The connections</a:t>
            </a:r>
            <a:endParaRPr lang="en-US" sz="1500" dirty="0"/>
          </a:p>
        </p:txBody>
      </p:sp>
      <p:sp>
        <p:nvSpPr>
          <p:cNvPr id="11" name="Text 8"/>
          <p:cNvSpPr/>
          <p:nvPr/>
        </p:nvSpPr>
        <p:spPr>
          <a:xfrm>
            <a:off x="822960" y="3009676"/>
            <a:ext cx="4860036" cy="2058416"/>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Head to neck, then neck to each shoulder.</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Shoulder to elbow to wrist, on each side.</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Neck to hip as the trunk segment.</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Hip to knee to ankle, on each side.</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The platform renderer extends the same list to feet and hands so the illustrations read clearly.</a:t>
            </a:r>
            <a:endParaRPr lang="en-US" sz="1250" dirty="0"/>
          </a:p>
        </p:txBody>
      </p:sp>
      <p:sp>
        <p:nvSpPr>
          <p:cNvPr id="12" name="Shape 9"/>
          <p:cNvSpPr/>
          <p:nvPr/>
        </p:nvSpPr>
        <p:spPr>
          <a:xfrm>
            <a:off x="6249924" y="2406172"/>
            <a:ext cx="5372100" cy="2844800"/>
          </a:xfrm>
          <a:prstGeom prst="roundRect">
            <a:avLst>
              <a:gd name="adj" fmla="val 2250"/>
            </a:avLst>
          </a:prstGeom>
          <a:solidFill>
            <a:srgbClr val="F4F7FA"/>
          </a:solidFill>
          <a:ln w="9525">
            <a:solidFill>
              <a:srgbClr val="DDE6EC"/>
            </a:solidFill>
            <a:prstDash val="solid"/>
          </a:ln>
        </p:spPr>
      </p:sp>
      <p:sp>
        <p:nvSpPr>
          <p:cNvPr id="13" name="Text 10"/>
          <p:cNvSpPr/>
          <p:nvPr/>
        </p:nvSpPr>
        <p:spPr>
          <a:xfrm>
            <a:off x="6505956" y="2589052"/>
            <a:ext cx="4860036" cy="365760"/>
          </a:xfrm>
          <a:prstGeom prst="rect">
            <a:avLst/>
          </a:prstGeom>
          <a:noFill/>
          <a:ln/>
        </p:spPr>
        <p:txBody>
          <a:bodyPr wrap="square" lIns="0" tIns="0" rIns="0" bIns="0" rtlCol="0" anchor="ctr"/>
          <a:lstStyle/>
          <a:p>
            <a:pPr indent="0" marL="0">
              <a:buNone/>
            </a:pPr>
            <a:r>
              <a:rPr lang="en-US" sz="1500" b="1" dirty="0">
                <a:solidFill>
                  <a:srgbClr val="1F4A68"/>
                </a:solidFill>
                <a:latin typeface="Calibri" pitchFamily="34" charset="0"/>
                <a:ea typeface="Calibri" pitchFamily="34" charset="-122"/>
                <a:cs typeface="Calibri" pitchFamily="34" charset="-120"/>
              </a:rPr>
              <a:t>Why it is shared</a:t>
            </a:r>
            <a:endParaRPr lang="en-US" sz="1500" dirty="0"/>
          </a:p>
        </p:txBody>
      </p:sp>
      <p:sp>
        <p:nvSpPr>
          <p:cNvPr id="14" name="Text 11"/>
          <p:cNvSpPr/>
          <p:nvPr/>
        </p:nvSpPr>
        <p:spPr>
          <a:xfrm>
            <a:off x="6505956" y="3009676"/>
            <a:ext cx="4860036" cy="2058416"/>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A figure in the report and a figure in the interface describe the same body.</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classifier features are computed at the same joints the drawing connects.</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coach checks angles at vertices that already exist in the drawing.</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One definition means one place to correct if a joint is wrong.</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Nandi Reddy Shashidhar Reddy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6</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ILLUSTRATION LIBRARY</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46 hand-authored stick-figure poses</a:t>
            </a:r>
            <a:endParaRPr lang="en-US" sz="2800" dirty="0"/>
          </a:p>
        </p:txBody>
      </p:sp>
      <p:sp>
        <p:nvSpPr>
          <p:cNvPr id="8" name="Shape 5"/>
          <p:cNvSpPr/>
          <p:nvPr/>
        </p:nvSpPr>
        <p:spPr>
          <a:xfrm>
            <a:off x="566928" y="1536192"/>
            <a:ext cx="365760" cy="365760"/>
          </a:xfrm>
          <a:prstGeom prst="ellipse">
            <a:avLst/>
          </a:prstGeom>
          <a:solidFill>
            <a:srgbClr val="2F6690"/>
          </a:solidFill>
          <a:ln w="6350">
            <a:solidFill>
              <a:srgbClr val="2F6690"/>
            </a:solidFill>
            <a:prstDash val="solid"/>
          </a:ln>
        </p:spPr>
      </p:sp>
      <p:sp>
        <p:nvSpPr>
          <p:cNvPr id="9" name="Text 6"/>
          <p:cNvSpPr/>
          <p:nvPr/>
        </p:nvSpPr>
        <p:spPr>
          <a:xfrm>
            <a:off x="566928" y="153619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0" name="Text 7"/>
          <p:cNvSpPr/>
          <p:nvPr/>
        </p:nvSpPr>
        <p:spPr>
          <a:xfrm>
            <a:off x="1097280" y="1499616"/>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Every step in every programme has a picture</a:t>
            </a:r>
            <a:endParaRPr lang="en-US" sz="1500" dirty="0"/>
          </a:p>
        </p:txBody>
      </p:sp>
      <p:sp>
        <p:nvSpPr>
          <p:cNvPr id="11" name="Text 8"/>
          <p:cNvSpPr/>
          <p:nvPr/>
        </p:nvSpPr>
        <p:spPr>
          <a:xfrm>
            <a:off x="1097280" y="1792224"/>
            <a:ext cx="10524744" cy="491172"/>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Poses cover lying, kneeling, quadruped, seated and standing positions across the ten programmes.</a:t>
            </a:r>
            <a:endParaRPr lang="en-US" sz="1200" dirty="0"/>
          </a:p>
        </p:txBody>
      </p:sp>
      <p:sp>
        <p:nvSpPr>
          <p:cNvPr id="12" name="Shape 9"/>
          <p:cNvSpPr/>
          <p:nvPr/>
        </p:nvSpPr>
        <p:spPr>
          <a:xfrm>
            <a:off x="566928" y="2374837"/>
            <a:ext cx="365760" cy="365760"/>
          </a:xfrm>
          <a:prstGeom prst="ellipse">
            <a:avLst/>
          </a:prstGeom>
          <a:solidFill>
            <a:srgbClr val="2F6690"/>
          </a:solidFill>
          <a:ln w="6350">
            <a:solidFill>
              <a:srgbClr val="2F6690"/>
            </a:solidFill>
            <a:prstDash val="solid"/>
          </a:ln>
        </p:spPr>
      </p:sp>
      <p:sp>
        <p:nvSpPr>
          <p:cNvPr id="13" name="Text 10"/>
          <p:cNvSpPr/>
          <p:nvPr/>
        </p:nvSpPr>
        <p:spPr>
          <a:xfrm>
            <a:off x="566928" y="2374837"/>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4" name="Text 11"/>
          <p:cNvSpPr/>
          <p:nvPr/>
        </p:nvSpPr>
        <p:spPr>
          <a:xfrm>
            <a:off x="1097280" y="2338261"/>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Props are drawn where the exercise needs them</a:t>
            </a:r>
            <a:endParaRPr lang="en-US" sz="1500" dirty="0"/>
          </a:p>
        </p:txBody>
      </p:sp>
      <p:sp>
        <p:nvSpPr>
          <p:cNvPr id="15" name="Text 12"/>
          <p:cNvSpPr/>
          <p:nvPr/>
        </p:nvSpPr>
        <p:spPr>
          <a:xfrm>
            <a:off x="1097280" y="2630868"/>
            <a:ext cx="10524744" cy="491172"/>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Chair, wall, step and table, so the picture matches the instruction rather than a generic figure.</a:t>
            </a:r>
            <a:endParaRPr lang="en-US" sz="1200" dirty="0"/>
          </a:p>
        </p:txBody>
      </p:sp>
      <p:sp>
        <p:nvSpPr>
          <p:cNvPr id="16" name="Shape 13"/>
          <p:cNvSpPr/>
          <p:nvPr/>
        </p:nvSpPr>
        <p:spPr>
          <a:xfrm>
            <a:off x="566928" y="3213481"/>
            <a:ext cx="365760" cy="365760"/>
          </a:xfrm>
          <a:prstGeom prst="ellipse">
            <a:avLst/>
          </a:prstGeom>
          <a:solidFill>
            <a:srgbClr val="2F6690"/>
          </a:solidFill>
          <a:ln w="6350">
            <a:solidFill>
              <a:srgbClr val="2F6690"/>
            </a:solidFill>
            <a:prstDash val="solid"/>
          </a:ln>
        </p:spPr>
      </p:sp>
      <p:sp>
        <p:nvSpPr>
          <p:cNvPr id="17" name="Text 14"/>
          <p:cNvSpPr/>
          <p:nvPr/>
        </p:nvSpPr>
        <p:spPr>
          <a:xfrm>
            <a:off x="566928" y="3213481"/>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5"/>
          <p:cNvSpPr/>
          <p:nvPr/>
        </p:nvSpPr>
        <p:spPr>
          <a:xfrm>
            <a:off x="1097280" y="3176905"/>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Drawn as inline SVG in the browser</a:t>
            </a:r>
            <a:endParaRPr lang="en-US" sz="1500" dirty="0"/>
          </a:p>
        </p:txBody>
      </p:sp>
      <p:sp>
        <p:nvSpPr>
          <p:cNvPr id="19" name="Text 16"/>
          <p:cNvSpPr/>
          <p:nvPr/>
        </p:nvSpPr>
        <p:spPr>
          <a:xfrm>
            <a:off x="1097280" y="3469513"/>
            <a:ext cx="10524744" cy="491172"/>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No image files to load, so the illustrations scale with the accessibility settings and reduced-motion preference.</a:t>
            </a:r>
            <a:endParaRPr lang="en-US" sz="1200" dirty="0"/>
          </a:p>
        </p:txBody>
      </p:sp>
      <p:sp>
        <p:nvSpPr>
          <p:cNvPr id="20" name="Shape 17"/>
          <p:cNvSpPr/>
          <p:nvPr/>
        </p:nvSpPr>
        <p:spPr>
          <a:xfrm>
            <a:off x="566928" y="4052125"/>
            <a:ext cx="365760" cy="365760"/>
          </a:xfrm>
          <a:prstGeom prst="ellipse">
            <a:avLst/>
          </a:prstGeom>
          <a:solidFill>
            <a:srgbClr val="2F6690"/>
          </a:solidFill>
          <a:ln w="6350">
            <a:solidFill>
              <a:srgbClr val="2F6690"/>
            </a:solidFill>
            <a:prstDash val="solid"/>
          </a:ln>
        </p:spPr>
      </p:sp>
      <p:sp>
        <p:nvSpPr>
          <p:cNvPr id="21" name="Text 18"/>
          <p:cNvSpPr/>
          <p:nvPr/>
        </p:nvSpPr>
        <p:spPr>
          <a:xfrm>
            <a:off x="566928" y="4052125"/>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19"/>
          <p:cNvSpPr/>
          <p:nvPr/>
        </p:nvSpPr>
        <p:spPr>
          <a:xfrm>
            <a:off x="1097280" y="4015549"/>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Hand-authored joint coordinates</a:t>
            </a:r>
            <a:endParaRPr lang="en-US" sz="1500" dirty="0"/>
          </a:p>
        </p:txBody>
      </p:sp>
      <p:sp>
        <p:nvSpPr>
          <p:cNvPr id="23" name="Text 20"/>
          <p:cNvSpPr/>
          <p:nvPr/>
        </p:nvSpPr>
        <p:spPr>
          <a:xfrm>
            <a:off x="1097280" y="4308158"/>
            <a:ext cx="10524744" cy="491172"/>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They are not the output of a pose estimation model, and the code says so in its own header comment.</a:t>
            </a:r>
            <a:endParaRPr lang="en-US" sz="1200" dirty="0"/>
          </a:p>
        </p:txBody>
      </p:sp>
      <p:sp>
        <p:nvSpPr>
          <p:cNvPr id="24" name="Shape 21"/>
          <p:cNvSpPr/>
          <p:nvPr/>
        </p:nvSpPr>
        <p:spPr>
          <a:xfrm>
            <a:off x="566928" y="5073650"/>
            <a:ext cx="11055096" cy="943102"/>
          </a:xfrm>
          <a:prstGeom prst="roundRect">
            <a:avLst>
              <a:gd name="adj" fmla="val 6787"/>
            </a:avLst>
          </a:prstGeom>
          <a:solidFill>
            <a:srgbClr val="FBEDE6"/>
          </a:solidFill>
          <a:ln w="9525">
            <a:solidFill>
              <a:srgbClr val="F0C9B6"/>
            </a:solidFill>
            <a:prstDash val="solid"/>
          </a:ln>
        </p:spPr>
      </p:sp>
      <p:sp>
        <p:nvSpPr>
          <p:cNvPr id="25" name="Text 22"/>
          <p:cNvSpPr/>
          <p:nvPr/>
        </p:nvSpPr>
        <p:spPr>
          <a:xfrm>
            <a:off x="786384" y="5201666"/>
            <a:ext cx="10616184" cy="219456"/>
          </a:xfrm>
          <a:prstGeom prst="rect">
            <a:avLst/>
          </a:prstGeom>
          <a:noFill/>
          <a:ln/>
        </p:spPr>
        <p:txBody>
          <a:bodyPr wrap="square" lIns="0" tIns="0" rIns="0" bIns="0" rtlCol="0" anchor="t"/>
          <a:lstStyle/>
          <a:p>
            <a:pPr indent="0" marL="0">
              <a:buNone/>
            </a:pPr>
            <a:r>
              <a:rPr lang="en-US" sz="950" b="1" spc="130" kern="0" dirty="0">
                <a:solidFill>
                  <a:srgbClr val="C85A34"/>
                </a:solidFill>
                <a:latin typeface="Calibri" pitchFamily="34" charset="0"/>
                <a:ea typeface="Calibri" pitchFamily="34" charset="-122"/>
                <a:cs typeface="Calibri" pitchFamily="34" charset="-120"/>
              </a:rPr>
              <a:t>WHAT THIS STANDS IN FOR</a:t>
            </a:r>
            <a:endParaRPr lang="en-US" sz="950" dirty="0"/>
          </a:p>
        </p:txBody>
      </p:sp>
      <p:sp>
        <p:nvSpPr>
          <p:cNvPr id="26" name="Text 23"/>
          <p:cNvSpPr/>
          <p:nvPr/>
        </p:nvSpPr>
        <p:spPr>
          <a:xfrm>
            <a:off x="786384" y="5457698"/>
            <a:ext cx="10616184" cy="449326"/>
          </a:xfrm>
          <a:prstGeom prst="rect">
            <a:avLst/>
          </a:prstGeom>
          <a:noFill/>
          <a:ln/>
        </p:spPr>
        <p:txBody>
          <a:bodyPr wrap="square" lIns="0" tIns="0" rIns="0" bIns="0" rtlCol="0" anchor="t"/>
          <a:lstStyle/>
          <a:p>
            <a:pPr indent="0" marL="0">
              <a:lnSpc>
                <a:spcPct val="105000"/>
              </a:lnSpc>
              <a:buNone/>
            </a:pPr>
            <a:r>
              <a:rPr lang="en-US" sz="1250" dirty="0">
                <a:solidFill>
                  <a:srgbClr val="1C2B3A"/>
                </a:solidFill>
                <a:latin typeface="Calibri" pitchFamily="34" charset="0"/>
                <a:ea typeface="Calibri" pitchFamily="34" charset="-122"/>
                <a:cs typeface="Calibri" pitchFamily="34" charset="-120"/>
              </a:rPr>
              <a:t>Generative illustration is NOT built. The 46 poses are a hand-authored stand-in for a generative vision model, and the register in the report records it as such.</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Nandi Reddy Shashidhar Reddy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7</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FIGURE 1</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The same skeleton, drawn from the data</a:t>
            </a:r>
            <a:endParaRPr lang="en-US" sz="2800" dirty="0"/>
          </a:p>
        </p:txBody>
      </p:sp>
      <p:sp>
        <p:nvSpPr>
          <p:cNvPr id="8" name="Shape 5"/>
          <p:cNvSpPr/>
          <p:nvPr/>
        </p:nvSpPr>
        <p:spPr>
          <a:xfrm>
            <a:off x="1130926" y="1444752"/>
            <a:ext cx="5684284" cy="4242816"/>
          </a:xfrm>
          <a:prstGeom prst="roundRect">
            <a:avLst>
              <a:gd name="adj" fmla="val 1509"/>
            </a:avLst>
          </a:prstGeom>
          <a:solidFill>
            <a:srgbClr val="FFFFFF"/>
          </a:solidFill>
          <a:ln w="9525">
            <a:solidFill>
              <a:srgbClr val="DDE6EC"/>
            </a:solidFill>
            <a:prstDash val="solid"/>
          </a:ln>
          <a:effectLst>
            <a:outerShdw sx="100000" sy="100000" kx="0" ky="0" algn="bl" rotWithShape="0" blurRad="101600" dist="25400" dir="5400000">
              <a:srgbClr val="9FB3C2">
                <a:alpha val="25000"/>
              </a:srgbClr>
            </a:outerShdw>
          </a:effectLst>
        </p:spPr>
      </p:sp>
      <p:pic>
        <p:nvPicPr>
          <p:cNvPr id="9" name="Image 0" descr="/home/claude/repo/ai4mobility/docs/figures/f01_pose_gallery.png">    </p:cNvPr>
          <p:cNvPicPr>
            <a:picLocks noChangeAspect="1"/>
          </p:cNvPicPr>
          <p:nvPr/>
        </p:nvPicPr>
        <p:blipFill>
          <a:blip r:embed="rId1"/>
          <a:stretch>
            <a:fillRect/>
          </a:stretch>
        </p:blipFill>
        <p:spPr>
          <a:xfrm>
            <a:off x="1240654" y="1554480"/>
            <a:ext cx="5464828" cy="4023360"/>
          </a:xfrm>
          <a:prstGeom prst="rect">
            <a:avLst/>
          </a:prstGeom>
        </p:spPr>
      </p:pic>
      <p:sp>
        <p:nvSpPr>
          <p:cNvPr id="10" name="Text 6"/>
          <p:cNvSpPr/>
          <p:nvPr/>
        </p:nvSpPr>
        <p:spPr>
          <a:xfrm>
            <a:off x="566928" y="5760720"/>
            <a:ext cx="6812280" cy="310896"/>
          </a:xfrm>
          <a:prstGeom prst="rect">
            <a:avLst/>
          </a:prstGeom>
          <a:noFill/>
          <a:ln/>
        </p:spPr>
        <p:txBody>
          <a:bodyPr wrap="square" lIns="0" tIns="0" rIns="0" bIns="0" rtlCol="0" anchor="t"/>
          <a:lstStyle/>
          <a:p>
            <a:pPr algn="ctr" indent="0" marL="0">
              <a:buNone/>
            </a:pPr>
            <a:r>
              <a:rPr lang="en-US" sz="1050" i="1" dirty="0">
                <a:solidFill>
                  <a:srgbClr val="4B6072"/>
                </a:solidFill>
                <a:latin typeface="Calibri" pitchFamily="34" charset="0"/>
                <a:ea typeface="Calibri" pitchFamily="34" charset="-122"/>
                <a:cs typeface="Calibri" pitchFamily="34" charset="-120"/>
              </a:rPr>
              <a:t>Figure 1 — one representative frame per class, drawn with the shared connection list.</a:t>
            </a:r>
            <a:endParaRPr lang="en-US" sz="1050" dirty="0"/>
          </a:p>
        </p:txBody>
      </p:sp>
      <p:sp>
        <p:nvSpPr>
          <p:cNvPr id="11" name="Text 7"/>
          <p:cNvSpPr/>
          <p:nvPr/>
        </p:nvSpPr>
        <p:spPr>
          <a:xfrm>
            <a:off x="7726680" y="1554480"/>
            <a:ext cx="3895344" cy="310896"/>
          </a:xfrm>
          <a:prstGeom prst="rect">
            <a:avLst/>
          </a:prstGeom>
          <a:noFill/>
          <a:ln/>
        </p:spPr>
        <p:txBody>
          <a:bodyPr wrap="square" lIns="0" tIns="0" rIns="0" bIns="0" rtlCol="0" anchor="ctr"/>
          <a:lstStyle/>
          <a:p>
            <a:pPr indent="0" marL="0">
              <a:buNone/>
            </a:pPr>
            <a:r>
              <a:rPr lang="en-US" sz="1400" b="1" dirty="0">
                <a:solidFill>
                  <a:srgbClr val="1F4A68"/>
                </a:solidFill>
                <a:latin typeface="Calibri" pitchFamily="34" charset="0"/>
                <a:ea typeface="Calibri" pitchFamily="34" charset="-122"/>
                <a:cs typeface="Calibri" pitchFamily="34" charset="-120"/>
              </a:rPr>
              <a:t>How to read it</a:t>
            </a:r>
            <a:endParaRPr lang="en-US" sz="1400" dirty="0"/>
          </a:p>
        </p:txBody>
      </p:sp>
      <p:sp>
        <p:nvSpPr>
          <p:cNvPr id="12" name="Text 8"/>
          <p:cNvSpPr/>
          <p:nvPr/>
        </p:nvSpPr>
        <p:spPr>
          <a:xfrm>
            <a:off x="7726680" y="1938528"/>
            <a:ext cx="3895344" cy="4078224"/>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Each panel is the frame closest to that class mean, not the first frame available.</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Orange markers are tracked joints; the larger dark marker is the head.</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y increases downward, matching the raw landmark frame rather than a mathematical axis.</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The quadruped-derived classes look alike here, and the confusion analysis later says the same thing numerically.</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Nandi Reddy Shashidhar Reddy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8</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A BUG WORTH DESCRIBING</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The image-coordinate inversion problem</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Landmark data uses the image convention, where y increases downward. Plotting libraries do not.</a:t>
            </a:r>
            <a:endParaRPr lang="en-US" sz="1350" dirty="0"/>
          </a:p>
        </p:txBody>
      </p:sp>
      <p:sp>
        <p:nvSpPr>
          <p:cNvPr id="9" name="Shape 6"/>
          <p:cNvSpPr/>
          <p:nvPr/>
        </p:nvSpPr>
        <p:spPr>
          <a:xfrm>
            <a:off x="566928" y="2337084"/>
            <a:ext cx="5372100" cy="3048000"/>
          </a:xfrm>
          <a:prstGeom prst="roundRect">
            <a:avLst>
              <a:gd name="adj" fmla="val 2100"/>
            </a:avLst>
          </a:prstGeom>
          <a:solidFill>
            <a:srgbClr val="FBEDE6"/>
          </a:solidFill>
          <a:ln w="9525">
            <a:solidFill>
              <a:srgbClr val="F0C9B6"/>
            </a:solidFill>
            <a:prstDash val="solid"/>
          </a:ln>
        </p:spPr>
      </p:sp>
      <p:sp>
        <p:nvSpPr>
          <p:cNvPr id="10" name="Text 7"/>
          <p:cNvSpPr/>
          <p:nvPr/>
        </p:nvSpPr>
        <p:spPr>
          <a:xfrm>
            <a:off x="822960" y="2519964"/>
            <a:ext cx="4860036" cy="365760"/>
          </a:xfrm>
          <a:prstGeom prst="rect">
            <a:avLst/>
          </a:prstGeom>
          <a:noFill/>
          <a:ln/>
        </p:spPr>
        <p:txBody>
          <a:bodyPr wrap="square" lIns="0" tIns="0" rIns="0" bIns="0" rtlCol="0" anchor="ctr"/>
          <a:lstStyle/>
          <a:p>
            <a:pPr indent="0" marL="0">
              <a:buNone/>
            </a:pPr>
            <a:r>
              <a:rPr lang="en-US" sz="1500" b="1" dirty="0">
                <a:solidFill>
                  <a:srgbClr val="1F4A68"/>
                </a:solidFill>
                <a:latin typeface="Calibri" pitchFamily="34" charset="0"/>
                <a:ea typeface="Calibri" pitchFamily="34" charset="-122"/>
                <a:cs typeface="Calibri" pitchFamily="34" charset="-120"/>
              </a:rPr>
              <a:t>The symptom, and how it surfaced</a:t>
            </a:r>
            <a:endParaRPr lang="en-US" sz="1500" dirty="0"/>
          </a:p>
        </p:txBody>
      </p:sp>
      <p:sp>
        <p:nvSpPr>
          <p:cNvPr id="11" name="Text 8"/>
          <p:cNvSpPr/>
          <p:nvPr/>
        </p:nvSpPr>
        <p:spPr>
          <a:xfrm>
            <a:off x="822960" y="2940588"/>
            <a:ext cx="4860036" cy="2261616"/>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Drawn on a standard axis, every pose came out vertically mirrored.</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It was caught in visual review of the pose gallery: the standing class rendered head-down against the floor.</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lying and quadruped classes looked merely unusual, not obviously wrong — the failure was silent for four of six classes.</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No metric would have caught it: the features are computed from coordinates, not from the picture.</a:t>
            </a:r>
            <a:endParaRPr lang="en-US" sz="1250" dirty="0"/>
          </a:p>
        </p:txBody>
      </p:sp>
      <p:sp>
        <p:nvSpPr>
          <p:cNvPr id="12" name="Shape 9"/>
          <p:cNvSpPr/>
          <p:nvPr/>
        </p:nvSpPr>
        <p:spPr>
          <a:xfrm>
            <a:off x="6249924" y="2337084"/>
            <a:ext cx="5372100" cy="3048000"/>
          </a:xfrm>
          <a:prstGeom prst="roundRect">
            <a:avLst>
              <a:gd name="adj" fmla="val 2100"/>
            </a:avLst>
          </a:prstGeom>
          <a:solidFill>
            <a:srgbClr val="F4F7FA"/>
          </a:solidFill>
          <a:ln w="9525">
            <a:solidFill>
              <a:srgbClr val="DDE6EC"/>
            </a:solidFill>
            <a:prstDash val="solid"/>
          </a:ln>
        </p:spPr>
      </p:sp>
      <p:sp>
        <p:nvSpPr>
          <p:cNvPr id="13" name="Text 10"/>
          <p:cNvSpPr/>
          <p:nvPr/>
        </p:nvSpPr>
        <p:spPr>
          <a:xfrm>
            <a:off x="6505956" y="2519964"/>
            <a:ext cx="4860036" cy="365760"/>
          </a:xfrm>
          <a:prstGeom prst="rect">
            <a:avLst/>
          </a:prstGeom>
          <a:noFill/>
          <a:ln/>
        </p:spPr>
        <p:txBody>
          <a:bodyPr wrap="square" lIns="0" tIns="0" rIns="0" bIns="0" rtlCol="0" anchor="ctr"/>
          <a:lstStyle/>
          <a:p>
            <a:pPr indent="0" marL="0">
              <a:buNone/>
            </a:pPr>
            <a:r>
              <a:rPr lang="en-US" sz="1500" b="1" dirty="0">
                <a:solidFill>
                  <a:srgbClr val="1F4A68"/>
                </a:solidFill>
                <a:latin typeface="Calibri" pitchFamily="34" charset="0"/>
                <a:ea typeface="Calibri" pitchFamily="34" charset="-122"/>
                <a:cs typeface="Calibri" pitchFamily="34" charset="-120"/>
              </a:rPr>
              <a:t>The fix, and what it changed</a:t>
            </a:r>
            <a:endParaRPr lang="en-US" sz="1500" dirty="0"/>
          </a:p>
        </p:txBody>
      </p:sp>
      <p:sp>
        <p:nvSpPr>
          <p:cNvPr id="14" name="Text 11"/>
          <p:cNvSpPr/>
          <p:nvPr/>
        </p:nvSpPr>
        <p:spPr>
          <a:xfrm>
            <a:off x="6505956" y="2940588"/>
            <a:ext cx="4860036" cy="2261616"/>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plotting axis is inverted so the drawing matches the image frame.</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same convention is stated in the generator, the notebook renderer and the platform renderer.</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platform draws in a viewBox where y increases downward, with the floor at a fixed line.</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Every later figure inherits the convention rather than repeating the correction.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4A68"/>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B9CEDD"/>
                </a:solidFill>
                <a:latin typeface="Calibri" pitchFamily="34" charset="0"/>
                <a:ea typeface="Calibri" pitchFamily="34" charset="-122"/>
                <a:cs typeface="Calibri" pitchFamily="34" charset="-120"/>
              </a:rPr>
              <a:t>A60 AI4Mobility  ·  Nandi Reddy Shashidhar Reddy  ·  Team Deepminds</a:t>
            </a:r>
            <a:endParaRPr lang="en-US" sz="900" dirty="0"/>
          </a:p>
        </p:txBody>
      </p:sp>
      <p:sp>
        <p:nvSpPr>
          <p:cNvPr id="3" name="Shape 1"/>
          <p:cNvSpPr/>
          <p:nvPr/>
        </p:nvSpPr>
        <p:spPr>
          <a:xfrm>
            <a:off x="11283696" y="6245352"/>
            <a:ext cx="320040" cy="320040"/>
          </a:xfrm>
          <a:prstGeom prst="ellipse">
            <a:avLst/>
          </a:prstGeom>
          <a:solidFill>
            <a:srgbClr val="E8734A"/>
          </a:solidFill>
          <a:ln w="9525">
            <a:solidFill>
              <a:srgbClr val="E8734A"/>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6" name="Shape 3"/>
          <p:cNvSpPr/>
          <p:nvPr/>
        </p:nvSpPr>
        <p:spPr>
          <a:xfrm>
            <a:off x="566928" y="2286000"/>
            <a:ext cx="786384" cy="786384"/>
          </a:xfrm>
          <a:prstGeom prst="ellipse">
            <a:avLst/>
          </a:prstGeom>
          <a:solidFill>
            <a:srgbClr val="E8734A"/>
          </a:solidFill>
          <a:ln w="6350">
            <a:solidFill>
              <a:srgbClr val="E8734A"/>
            </a:solidFill>
            <a:prstDash val="solid"/>
          </a:ln>
        </p:spPr>
      </p:sp>
      <p:sp>
        <p:nvSpPr>
          <p:cNvPr id="7" name="Text 4"/>
          <p:cNvSpPr/>
          <p:nvPr/>
        </p:nvSpPr>
        <p:spPr>
          <a:xfrm>
            <a:off x="566928" y="2286000"/>
            <a:ext cx="786384" cy="78638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02</a:t>
            </a:r>
            <a:endParaRPr lang="en-US" sz="2600" dirty="0"/>
          </a:p>
        </p:txBody>
      </p:sp>
      <p:sp>
        <p:nvSpPr>
          <p:cNvPr id="8" name="Text 5"/>
          <p:cNvSpPr/>
          <p:nvPr/>
        </p:nvSpPr>
        <p:spPr>
          <a:xfrm>
            <a:off x="566928" y="3255264"/>
            <a:ext cx="987552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Exploring the data</a:t>
            </a:r>
            <a:endParaRPr lang="en-US" sz="3400" dirty="0"/>
          </a:p>
        </p:txBody>
      </p:sp>
      <p:sp>
        <p:nvSpPr>
          <p:cNvPr id="9" name="Text 6"/>
          <p:cNvSpPr/>
          <p:nvPr/>
        </p:nvSpPr>
        <p:spPr>
          <a:xfrm>
            <a:off x="566928" y="4133088"/>
            <a:ext cx="8961120" cy="731520"/>
          </a:xfrm>
          <a:prstGeom prst="rect">
            <a:avLst/>
          </a:prstGeom>
          <a:noFill/>
          <a:ln/>
        </p:spPr>
        <p:txBody>
          <a:bodyPr wrap="square" lIns="0" tIns="0" rIns="0" bIns="0" rtlCol="0" anchor="t"/>
          <a:lstStyle/>
          <a:p>
            <a:pPr indent="0" marL="0">
              <a:lnSpc>
                <a:spcPct val="110000"/>
              </a:lnSpc>
              <a:buNone/>
            </a:pPr>
            <a:r>
              <a:rPr lang="en-US" sz="1400" dirty="0">
                <a:solidFill>
                  <a:srgbClr val="B9CEDD"/>
                </a:solidFill>
                <a:latin typeface="Calibri" pitchFamily="34" charset="0"/>
                <a:ea typeface="Calibri" pitchFamily="34" charset="-122"/>
                <a:cs typeface="Calibri" pitchFamily="34" charset="-120"/>
              </a:rPr>
              <a:t>Angle distributions, a two-component projection and a confusion matrix — read carefully, not optimistically.</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Nandi Reddy Shashidhar Reddy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10</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HONEST STATEMENT</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The dataset is synthetic</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It is not recorded video of children and it is not a public dataset. Every figure in this deck describes the generator.</a:t>
            </a:r>
            <a:endParaRPr lang="en-US" sz="1350" dirty="0"/>
          </a:p>
        </p:txBody>
      </p:sp>
      <p:sp>
        <p:nvSpPr>
          <p:cNvPr id="9" name="Shape 6"/>
          <p:cNvSpPr/>
          <p:nvPr/>
        </p:nvSpPr>
        <p:spPr>
          <a:xfrm>
            <a:off x="566928" y="2406172"/>
            <a:ext cx="5372100" cy="2844800"/>
          </a:xfrm>
          <a:prstGeom prst="roundRect">
            <a:avLst>
              <a:gd name="adj" fmla="val 2250"/>
            </a:avLst>
          </a:prstGeom>
          <a:solidFill>
            <a:srgbClr val="F4F7FA"/>
          </a:solidFill>
          <a:ln w="9525">
            <a:solidFill>
              <a:srgbClr val="DDE6EC"/>
            </a:solidFill>
            <a:prstDash val="solid"/>
          </a:ln>
        </p:spPr>
      </p:sp>
      <p:sp>
        <p:nvSpPr>
          <p:cNvPr id="10" name="Text 7"/>
          <p:cNvSpPr/>
          <p:nvPr/>
        </p:nvSpPr>
        <p:spPr>
          <a:xfrm>
            <a:off x="822960" y="2589052"/>
            <a:ext cx="4860036" cy="365760"/>
          </a:xfrm>
          <a:prstGeom prst="rect">
            <a:avLst/>
          </a:prstGeom>
          <a:noFill/>
          <a:ln/>
        </p:spPr>
        <p:txBody>
          <a:bodyPr wrap="square" lIns="0" tIns="0" rIns="0" bIns="0" rtlCol="0" anchor="ctr"/>
          <a:lstStyle/>
          <a:p>
            <a:pPr indent="0" marL="0">
              <a:buNone/>
            </a:pPr>
            <a:r>
              <a:rPr lang="en-US" sz="1500" b="1" dirty="0">
                <a:solidFill>
                  <a:srgbClr val="1F4A68"/>
                </a:solidFill>
                <a:latin typeface="Calibri" pitchFamily="34" charset="0"/>
                <a:ea typeface="Calibri" pitchFamily="34" charset="-122"/>
                <a:cs typeface="Calibri" pitchFamily="34" charset="-120"/>
              </a:rPr>
              <a:t>What the figures license us to claim</a:t>
            </a:r>
            <a:endParaRPr lang="en-US" sz="1500" dirty="0"/>
          </a:p>
        </p:txBody>
      </p:sp>
      <p:sp>
        <p:nvSpPr>
          <p:cNvPr id="11" name="Text 8"/>
          <p:cNvSpPr/>
          <p:nvPr/>
        </p:nvSpPr>
        <p:spPr>
          <a:xfrm>
            <a:off x="822960" y="3009676"/>
            <a:ext cx="4860036" cy="2058416"/>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visualisation pipeline works and is reproducible under random_state=42.</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classes are separable in the way the generator constructed them to be.</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exploratory findings agree with the model results, which is a consistency check on the method.</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The same figures would be produced, unchanged, from a recorded dataset.</a:t>
            </a:r>
            <a:endParaRPr lang="en-US" sz="1250" dirty="0"/>
          </a:p>
        </p:txBody>
      </p:sp>
      <p:sp>
        <p:nvSpPr>
          <p:cNvPr id="12" name="Shape 9"/>
          <p:cNvSpPr/>
          <p:nvPr/>
        </p:nvSpPr>
        <p:spPr>
          <a:xfrm>
            <a:off x="6249924" y="2406172"/>
            <a:ext cx="5372100" cy="2844800"/>
          </a:xfrm>
          <a:prstGeom prst="roundRect">
            <a:avLst>
              <a:gd name="adj" fmla="val 2250"/>
            </a:avLst>
          </a:prstGeom>
          <a:solidFill>
            <a:srgbClr val="FBEDE6"/>
          </a:solidFill>
          <a:ln w="9525">
            <a:solidFill>
              <a:srgbClr val="F0C9B6"/>
            </a:solidFill>
            <a:prstDash val="solid"/>
          </a:ln>
        </p:spPr>
      </p:sp>
      <p:sp>
        <p:nvSpPr>
          <p:cNvPr id="13" name="Text 10"/>
          <p:cNvSpPr/>
          <p:nvPr/>
        </p:nvSpPr>
        <p:spPr>
          <a:xfrm>
            <a:off x="6505956" y="2589052"/>
            <a:ext cx="4860036" cy="365760"/>
          </a:xfrm>
          <a:prstGeom prst="rect">
            <a:avLst/>
          </a:prstGeom>
          <a:noFill/>
          <a:ln/>
        </p:spPr>
        <p:txBody>
          <a:bodyPr wrap="square" lIns="0" tIns="0" rIns="0" bIns="0" rtlCol="0" anchor="ctr"/>
          <a:lstStyle/>
          <a:p>
            <a:pPr indent="0" marL="0">
              <a:buNone/>
            </a:pPr>
            <a:r>
              <a:rPr lang="en-US" sz="1500" b="1" dirty="0">
                <a:solidFill>
                  <a:srgbClr val="1F4A68"/>
                </a:solidFill>
                <a:latin typeface="Calibri" pitchFamily="34" charset="0"/>
                <a:ea typeface="Calibri" pitchFamily="34" charset="-122"/>
                <a:cs typeface="Calibri" pitchFamily="34" charset="-120"/>
              </a:rPr>
              <a:t>What they do not license</a:t>
            </a:r>
            <a:endParaRPr lang="en-US" sz="1500" dirty="0"/>
          </a:p>
        </p:txBody>
      </p:sp>
      <p:sp>
        <p:nvSpPr>
          <p:cNvPr id="14" name="Text 11"/>
          <p:cNvSpPr/>
          <p:nvPr/>
        </p:nvSpPr>
        <p:spPr>
          <a:xfrm>
            <a:off x="6505956" y="3009676"/>
            <a:ext cx="4860036" cy="2058416"/>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No claim that a real child's pose would separate this cleanly.</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No claim that the live coach has been validated on anyone.</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No clinical claim about posture or technique.</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No claim that the illustrations have been reviewed by a physiotherapist.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Nandi Reddy Shashidhar Reddy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11</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FIGURE 4</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Angles separate some classes far better than others</a:t>
            </a:r>
            <a:endParaRPr lang="en-US" sz="2800" dirty="0"/>
          </a:p>
        </p:txBody>
      </p:sp>
      <p:sp>
        <p:nvSpPr>
          <p:cNvPr id="8" name="Shape 5"/>
          <p:cNvSpPr/>
          <p:nvPr/>
        </p:nvSpPr>
        <p:spPr>
          <a:xfrm>
            <a:off x="725890" y="1444752"/>
            <a:ext cx="6494357" cy="4242816"/>
          </a:xfrm>
          <a:prstGeom prst="roundRect">
            <a:avLst>
              <a:gd name="adj" fmla="val 1509"/>
            </a:avLst>
          </a:prstGeom>
          <a:solidFill>
            <a:srgbClr val="FFFFFF"/>
          </a:solidFill>
          <a:ln w="9525">
            <a:solidFill>
              <a:srgbClr val="DDE6EC"/>
            </a:solidFill>
            <a:prstDash val="solid"/>
          </a:ln>
          <a:effectLst>
            <a:outerShdw sx="100000" sy="100000" kx="0" ky="0" algn="bl" rotWithShape="0" blurRad="101600" dist="25400" dir="5400000">
              <a:srgbClr val="9FB3C2">
                <a:alpha val="25000"/>
              </a:srgbClr>
            </a:outerShdw>
          </a:effectLst>
        </p:spPr>
      </p:sp>
      <p:pic>
        <p:nvPicPr>
          <p:cNvPr id="9" name="Image 0" descr="/home/claude/repo/ai4mobility/docs/figures/f04_angle_distributions.png">    </p:cNvPr>
          <p:cNvPicPr>
            <a:picLocks noChangeAspect="1"/>
          </p:cNvPicPr>
          <p:nvPr/>
        </p:nvPicPr>
        <p:blipFill>
          <a:blip r:embed="rId1"/>
          <a:stretch>
            <a:fillRect/>
          </a:stretch>
        </p:blipFill>
        <p:spPr>
          <a:xfrm>
            <a:off x="835618" y="1554480"/>
            <a:ext cx="6274901" cy="4023360"/>
          </a:xfrm>
          <a:prstGeom prst="rect">
            <a:avLst/>
          </a:prstGeom>
        </p:spPr>
      </p:pic>
      <p:sp>
        <p:nvSpPr>
          <p:cNvPr id="10" name="Text 6"/>
          <p:cNvSpPr/>
          <p:nvPr/>
        </p:nvSpPr>
        <p:spPr>
          <a:xfrm>
            <a:off x="566928" y="5760720"/>
            <a:ext cx="6812280" cy="310896"/>
          </a:xfrm>
          <a:prstGeom prst="rect">
            <a:avLst/>
          </a:prstGeom>
          <a:noFill/>
          <a:ln/>
        </p:spPr>
        <p:txBody>
          <a:bodyPr wrap="square" lIns="0" tIns="0" rIns="0" bIns="0" rtlCol="0" anchor="t"/>
          <a:lstStyle/>
          <a:p>
            <a:pPr algn="ctr" indent="0" marL="0">
              <a:buNone/>
            </a:pPr>
            <a:r>
              <a:rPr lang="en-US" sz="1050" i="1" dirty="0">
                <a:solidFill>
                  <a:srgbClr val="4B6072"/>
                </a:solidFill>
                <a:latin typeface="Calibri" pitchFamily="34" charset="0"/>
                <a:ea typeface="Calibri" pitchFamily="34" charset="-122"/>
                <a:cs typeface="Calibri" pitchFamily="34" charset="-120"/>
              </a:rPr>
              <a:t>Figure 4 — joint-angle distributions by class.</a:t>
            </a:r>
            <a:endParaRPr lang="en-US" sz="1050" dirty="0"/>
          </a:p>
        </p:txBody>
      </p:sp>
      <p:sp>
        <p:nvSpPr>
          <p:cNvPr id="11" name="Text 7"/>
          <p:cNvSpPr/>
          <p:nvPr/>
        </p:nvSpPr>
        <p:spPr>
          <a:xfrm>
            <a:off x="7726680" y="1554480"/>
            <a:ext cx="3895344" cy="310896"/>
          </a:xfrm>
          <a:prstGeom prst="rect">
            <a:avLst/>
          </a:prstGeom>
          <a:noFill/>
          <a:ln/>
        </p:spPr>
        <p:txBody>
          <a:bodyPr wrap="square" lIns="0" tIns="0" rIns="0" bIns="0" rtlCol="0" anchor="ctr"/>
          <a:lstStyle/>
          <a:p>
            <a:pPr indent="0" marL="0">
              <a:buNone/>
            </a:pPr>
            <a:r>
              <a:rPr lang="en-US" sz="1400" b="1" dirty="0">
                <a:solidFill>
                  <a:srgbClr val="1F4A68"/>
                </a:solidFill>
                <a:latin typeface="Calibri" pitchFamily="34" charset="0"/>
                <a:ea typeface="Calibri" pitchFamily="34" charset="-122"/>
                <a:cs typeface="Calibri" pitchFamily="34" charset="-120"/>
              </a:rPr>
              <a:t>What the boxplots say</a:t>
            </a:r>
            <a:endParaRPr lang="en-US" sz="1400" dirty="0"/>
          </a:p>
        </p:txBody>
      </p:sp>
      <p:sp>
        <p:nvSpPr>
          <p:cNvPr id="12" name="Text 8"/>
          <p:cNvSpPr/>
          <p:nvPr/>
        </p:nvSpPr>
        <p:spPr>
          <a:xfrm>
            <a:off x="7726680" y="1938528"/>
            <a:ext cx="3895344" cy="2777109"/>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Elbow and shoulder angles separate the standing and quadruped groups clearly.</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Within the quadruped group the distributions overlap heavily.</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Angles are recorded as missing rather than zero when a segment is degenerate.</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This is the first place the later confusion structure becomes visible.</a:t>
            </a:r>
            <a:endParaRPr lang="en-US" sz="1250" dirty="0"/>
          </a:p>
        </p:txBody>
      </p:sp>
      <p:sp>
        <p:nvSpPr>
          <p:cNvPr id="13" name="Shape 9"/>
          <p:cNvSpPr/>
          <p:nvPr/>
        </p:nvSpPr>
        <p:spPr>
          <a:xfrm>
            <a:off x="7726680" y="4916805"/>
            <a:ext cx="3895344" cy="1099947"/>
          </a:xfrm>
          <a:prstGeom prst="roundRect">
            <a:avLst>
              <a:gd name="adj" fmla="val 5819"/>
            </a:avLst>
          </a:prstGeom>
          <a:solidFill>
            <a:srgbClr val="FBEDE6"/>
          </a:solidFill>
          <a:ln w="9525">
            <a:solidFill>
              <a:srgbClr val="F0C9B6"/>
            </a:solidFill>
            <a:prstDash val="solid"/>
          </a:ln>
        </p:spPr>
      </p:sp>
      <p:sp>
        <p:nvSpPr>
          <p:cNvPr id="14" name="Text 10"/>
          <p:cNvSpPr/>
          <p:nvPr/>
        </p:nvSpPr>
        <p:spPr>
          <a:xfrm>
            <a:off x="7946136" y="5044821"/>
            <a:ext cx="3456432" cy="219456"/>
          </a:xfrm>
          <a:prstGeom prst="rect">
            <a:avLst/>
          </a:prstGeom>
          <a:noFill/>
          <a:ln/>
        </p:spPr>
        <p:txBody>
          <a:bodyPr wrap="square" lIns="0" tIns="0" rIns="0" bIns="0" rtlCol="0" anchor="t"/>
          <a:lstStyle/>
          <a:p>
            <a:pPr indent="0" marL="0">
              <a:buNone/>
            </a:pPr>
            <a:r>
              <a:rPr lang="en-US" sz="950" b="1" spc="130" kern="0" dirty="0">
                <a:solidFill>
                  <a:srgbClr val="C85A34"/>
                </a:solidFill>
                <a:latin typeface="Calibri" pitchFamily="34" charset="0"/>
                <a:ea typeface="Calibri" pitchFamily="34" charset="-122"/>
                <a:cs typeface="Calibri" pitchFamily="34" charset="-120"/>
              </a:rPr>
              <a:t>KEEP THIS IN PROPORTION</a:t>
            </a:r>
            <a:endParaRPr lang="en-US" sz="950" dirty="0"/>
          </a:p>
        </p:txBody>
      </p:sp>
      <p:sp>
        <p:nvSpPr>
          <p:cNvPr id="15" name="Text 11"/>
          <p:cNvSpPr/>
          <p:nvPr/>
        </p:nvSpPr>
        <p:spPr>
          <a:xfrm>
            <a:off x="7946136" y="5300853"/>
            <a:ext cx="3456432" cy="606171"/>
          </a:xfrm>
          <a:prstGeom prst="rect">
            <a:avLst/>
          </a:prstGeom>
          <a:noFill/>
          <a:ln/>
        </p:spPr>
        <p:txBody>
          <a:bodyPr wrap="square" lIns="0" tIns="0" rIns="0" bIns="0" rtlCol="0" anchor="t"/>
          <a:lstStyle/>
          <a:p>
            <a:pPr indent="0" marL="0">
              <a:lnSpc>
                <a:spcPct val="105000"/>
              </a:lnSpc>
              <a:buNone/>
            </a:pPr>
            <a:r>
              <a:rPr lang="en-US" sz="1150" dirty="0">
                <a:solidFill>
                  <a:srgbClr val="1C2B3A"/>
                </a:solidFill>
                <a:latin typeface="Calibri" pitchFamily="34" charset="0"/>
                <a:ea typeface="Calibri" pitchFamily="34" charset="-122"/>
                <a:cs typeface="Calibri" pitchFamily="34" charset="-120"/>
              </a:rPr>
              <a:t>Angles are informative but they do not dominate the model: normalised positions carry 77% of feature importance.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Nandi Reddy Shashidhar Reddy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12</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FIGURE 5</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PCA: 52.3% of variance in two components</a:t>
            </a:r>
            <a:endParaRPr lang="en-US" sz="2800" dirty="0"/>
          </a:p>
        </p:txBody>
      </p:sp>
      <p:sp>
        <p:nvSpPr>
          <p:cNvPr id="8" name="Shape 5"/>
          <p:cNvSpPr/>
          <p:nvPr/>
        </p:nvSpPr>
        <p:spPr>
          <a:xfrm>
            <a:off x="1525345" y="1444752"/>
            <a:ext cx="4895447" cy="4242816"/>
          </a:xfrm>
          <a:prstGeom prst="roundRect">
            <a:avLst>
              <a:gd name="adj" fmla="val 1509"/>
            </a:avLst>
          </a:prstGeom>
          <a:solidFill>
            <a:srgbClr val="FFFFFF"/>
          </a:solidFill>
          <a:ln w="9525">
            <a:solidFill>
              <a:srgbClr val="DDE6EC"/>
            </a:solidFill>
            <a:prstDash val="solid"/>
          </a:ln>
          <a:effectLst>
            <a:outerShdw sx="100000" sy="100000" kx="0" ky="0" algn="bl" rotWithShape="0" blurRad="101600" dist="25400" dir="5400000">
              <a:srgbClr val="9FB3C2">
                <a:alpha val="25000"/>
              </a:srgbClr>
            </a:outerShdw>
          </a:effectLst>
        </p:spPr>
      </p:sp>
      <p:pic>
        <p:nvPicPr>
          <p:cNvPr id="9" name="Image 0" descr="/home/claude/repo/ai4mobility/docs/figures/f05_pca.png">    </p:cNvPr>
          <p:cNvPicPr>
            <a:picLocks noChangeAspect="1"/>
          </p:cNvPicPr>
          <p:nvPr/>
        </p:nvPicPr>
        <p:blipFill>
          <a:blip r:embed="rId1"/>
          <a:stretch>
            <a:fillRect/>
          </a:stretch>
        </p:blipFill>
        <p:spPr>
          <a:xfrm>
            <a:off x="1635073" y="1554480"/>
            <a:ext cx="4675991" cy="4023360"/>
          </a:xfrm>
          <a:prstGeom prst="rect">
            <a:avLst/>
          </a:prstGeom>
        </p:spPr>
      </p:pic>
      <p:sp>
        <p:nvSpPr>
          <p:cNvPr id="10" name="Text 6"/>
          <p:cNvSpPr/>
          <p:nvPr/>
        </p:nvSpPr>
        <p:spPr>
          <a:xfrm>
            <a:off x="566928" y="5760720"/>
            <a:ext cx="6812280" cy="310896"/>
          </a:xfrm>
          <a:prstGeom prst="rect">
            <a:avLst/>
          </a:prstGeom>
          <a:noFill/>
          <a:ln/>
        </p:spPr>
        <p:txBody>
          <a:bodyPr wrap="square" lIns="0" tIns="0" rIns="0" bIns="0" rtlCol="0" anchor="t"/>
          <a:lstStyle/>
          <a:p>
            <a:pPr algn="ctr" indent="0" marL="0">
              <a:buNone/>
            </a:pPr>
            <a:r>
              <a:rPr lang="en-US" sz="1050" i="1" dirty="0">
                <a:solidFill>
                  <a:srgbClr val="4B6072"/>
                </a:solidFill>
                <a:latin typeface="Calibri" pitchFamily="34" charset="0"/>
                <a:ea typeface="Calibri" pitchFamily="34" charset="-122"/>
                <a:cs typeface="Calibri" pitchFamily="34" charset="-120"/>
              </a:rPr>
              <a:t>Figure 5 — PCA projection of the feature table, coloured by class.</a:t>
            </a:r>
            <a:endParaRPr lang="en-US" sz="1050" dirty="0"/>
          </a:p>
        </p:txBody>
      </p:sp>
      <p:sp>
        <p:nvSpPr>
          <p:cNvPr id="11" name="Text 7"/>
          <p:cNvSpPr/>
          <p:nvPr/>
        </p:nvSpPr>
        <p:spPr>
          <a:xfrm>
            <a:off x="7726680" y="1554480"/>
            <a:ext cx="3895344" cy="310896"/>
          </a:xfrm>
          <a:prstGeom prst="rect">
            <a:avLst/>
          </a:prstGeom>
          <a:noFill/>
          <a:ln/>
        </p:spPr>
        <p:txBody>
          <a:bodyPr wrap="square" lIns="0" tIns="0" rIns="0" bIns="0" rtlCol="0" anchor="ctr"/>
          <a:lstStyle/>
          <a:p>
            <a:pPr indent="0" marL="0">
              <a:buNone/>
            </a:pPr>
            <a:r>
              <a:rPr lang="en-US" sz="1400" b="1" dirty="0">
                <a:solidFill>
                  <a:srgbClr val="1F4A68"/>
                </a:solidFill>
                <a:latin typeface="Calibri" pitchFamily="34" charset="0"/>
                <a:ea typeface="Calibri" pitchFamily="34" charset="-122"/>
                <a:cs typeface="Calibri" pitchFamily="34" charset="-120"/>
              </a:rPr>
              <a:t>Reading it correctly</a:t>
            </a:r>
            <a:endParaRPr lang="en-US" sz="1400" dirty="0"/>
          </a:p>
        </p:txBody>
      </p:sp>
      <p:sp>
        <p:nvSpPr>
          <p:cNvPr id="12" name="Text 8"/>
          <p:cNvSpPr/>
          <p:nvPr/>
        </p:nvSpPr>
        <p:spPr>
          <a:xfrm>
            <a:off x="7726680" y="1938528"/>
            <a:ext cx="3895344" cy="2777109"/>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Two components account for 52.3% of total variance.</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Classes form visible groups, and the groups that touch are the ones performed in similar body positions.</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Just under half the variance is not shown at all in this view.</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A projection that separates classes is encouraging; it is not a measurement of accuracy.</a:t>
            </a:r>
            <a:endParaRPr lang="en-US" sz="1250" dirty="0"/>
          </a:p>
        </p:txBody>
      </p:sp>
      <p:sp>
        <p:nvSpPr>
          <p:cNvPr id="13" name="Shape 9"/>
          <p:cNvSpPr/>
          <p:nvPr/>
        </p:nvSpPr>
        <p:spPr>
          <a:xfrm>
            <a:off x="7726680" y="4916805"/>
            <a:ext cx="3895344" cy="1099947"/>
          </a:xfrm>
          <a:prstGeom prst="roundRect">
            <a:avLst>
              <a:gd name="adj" fmla="val 5819"/>
            </a:avLst>
          </a:prstGeom>
          <a:solidFill>
            <a:srgbClr val="FBEDE6"/>
          </a:solidFill>
          <a:ln w="9525">
            <a:solidFill>
              <a:srgbClr val="F0C9B6"/>
            </a:solidFill>
            <a:prstDash val="solid"/>
          </a:ln>
        </p:spPr>
      </p:sp>
      <p:sp>
        <p:nvSpPr>
          <p:cNvPr id="14" name="Text 10"/>
          <p:cNvSpPr/>
          <p:nvPr/>
        </p:nvSpPr>
        <p:spPr>
          <a:xfrm>
            <a:off x="7946136" y="5044821"/>
            <a:ext cx="3456432" cy="219456"/>
          </a:xfrm>
          <a:prstGeom prst="rect">
            <a:avLst/>
          </a:prstGeom>
          <a:noFill/>
          <a:ln/>
        </p:spPr>
        <p:txBody>
          <a:bodyPr wrap="square" lIns="0" tIns="0" rIns="0" bIns="0" rtlCol="0" anchor="t"/>
          <a:lstStyle/>
          <a:p>
            <a:pPr indent="0" marL="0">
              <a:buNone/>
            </a:pPr>
            <a:r>
              <a:rPr lang="en-US" sz="950" b="1" spc="130" kern="0" dirty="0">
                <a:solidFill>
                  <a:srgbClr val="C85A34"/>
                </a:solidFill>
                <a:latin typeface="Calibri" pitchFamily="34" charset="0"/>
                <a:ea typeface="Calibri" pitchFamily="34" charset="-122"/>
                <a:cs typeface="Calibri" pitchFamily="34" charset="-120"/>
              </a:rPr>
              <a:t>AN INDICATION, NOT PROOF</a:t>
            </a:r>
            <a:endParaRPr lang="en-US" sz="950" dirty="0"/>
          </a:p>
        </p:txBody>
      </p:sp>
      <p:sp>
        <p:nvSpPr>
          <p:cNvPr id="15" name="Text 11"/>
          <p:cNvSpPr/>
          <p:nvPr/>
        </p:nvSpPr>
        <p:spPr>
          <a:xfrm>
            <a:off x="7946136" y="5300853"/>
            <a:ext cx="3456432" cy="606171"/>
          </a:xfrm>
          <a:prstGeom prst="rect">
            <a:avLst/>
          </a:prstGeom>
          <a:noFill/>
          <a:ln/>
        </p:spPr>
        <p:txBody>
          <a:bodyPr wrap="square" lIns="0" tIns="0" rIns="0" bIns="0" rtlCol="0" anchor="t"/>
          <a:lstStyle/>
          <a:p>
            <a:pPr indent="0" marL="0">
              <a:lnSpc>
                <a:spcPct val="105000"/>
              </a:lnSpc>
              <a:buNone/>
            </a:pPr>
            <a:r>
              <a:rPr lang="en-US" sz="1150" dirty="0">
                <a:solidFill>
                  <a:srgbClr val="1C2B3A"/>
                </a:solidFill>
                <a:latin typeface="Calibri" pitchFamily="34" charset="0"/>
                <a:ea typeface="Calibri" pitchFamily="34" charset="-122"/>
                <a:cs typeface="Calibri" pitchFamily="34" charset="-120"/>
              </a:rPr>
              <a:t>This figure indicates separability. It does not prove it. The evidence for separability is the held-out test score, not the projection.</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Nandi Reddy Shashidhar Reddy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13</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FIGURE 8</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The confusions land where the projection said they would</a:t>
            </a:r>
            <a:endParaRPr lang="en-US" sz="2800" dirty="0"/>
          </a:p>
        </p:txBody>
      </p:sp>
      <p:sp>
        <p:nvSpPr>
          <p:cNvPr id="8" name="Shape 5"/>
          <p:cNvSpPr/>
          <p:nvPr/>
        </p:nvSpPr>
        <p:spPr>
          <a:xfrm>
            <a:off x="1463341" y="1444752"/>
            <a:ext cx="5019453" cy="4242816"/>
          </a:xfrm>
          <a:prstGeom prst="roundRect">
            <a:avLst>
              <a:gd name="adj" fmla="val 1509"/>
            </a:avLst>
          </a:prstGeom>
          <a:solidFill>
            <a:srgbClr val="FFFFFF"/>
          </a:solidFill>
          <a:ln w="9525">
            <a:solidFill>
              <a:srgbClr val="DDE6EC"/>
            </a:solidFill>
            <a:prstDash val="solid"/>
          </a:ln>
          <a:effectLst>
            <a:outerShdw sx="100000" sy="100000" kx="0" ky="0" algn="bl" rotWithShape="0" blurRad="101600" dist="25400" dir="5400000">
              <a:srgbClr val="9FB3C2">
                <a:alpha val="25000"/>
              </a:srgbClr>
            </a:outerShdw>
          </a:effectLst>
        </p:spPr>
      </p:sp>
      <p:pic>
        <p:nvPicPr>
          <p:cNvPr id="9" name="Image 0" descr="/home/claude/repo/ai4mobility/docs/figures/f08_confusion.png">    </p:cNvPr>
          <p:cNvPicPr>
            <a:picLocks noChangeAspect="1"/>
          </p:cNvPicPr>
          <p:nvPr/>
        </p:nvPicPr>
        <p:blipFill>
          <a:blip r:embed="rId1"/>
          <a:stretch>
            <a:fillRect/>
          </a:stretch>
        </p:blipFill>
        <p:spPr>
          <a:xfrm>
            <a:off x="1573069" y="1554480"/>
            <a:ext cx="4799997" cy="4023360"/>
          </a:xfrm>
          <a:prstGeom prst="rect">
            <a:avLst/>
          </a:prstGeom>
        </p:spPr>
      </p:pic>
      <p:sp>
        <p:nvSpPr>
          <p:cNvPr id="10" name="Text 6"/>
          <p:cNvSpPr/>
          <p:nvPr/>
        </p:nvSpPr>
        <p:spPr>
          <a:xfrm>
            <a:off x="566928" y="5760720"/>
            <a:ext cx="6812280" cy="310896"/>
          </a:xfrm>
          <a:prstGeom prst="rect">
            <a:avLst/>
          </a:prstGeom>
          <a:noFill/>
          <a:ln/>
        </p:spPr>
        <p:txBody>
          <a:bodyPr wrap="square" lIns="0" tIns="0" rIns="0" bIns="0" rtlCol="0" anchor="t"/>
          <a:lstStyle/>
          <a:p>
            <a:pPr algn="ctr" indent="0" marL="0">
              <a:buNone/>
            </a:pPr>
            <a:r>
              <a:rPr lang="en-US" sz="1050" i="1" dirty="0">
                <a:solidFill>
                  <a:srgbClr val="4B6072"/>
                </a:solidFill>
                <a:latin typeface="Calibri" pitchFamily="34" charset="0"/>
                <a:ea typeface="Calibri" pitchFamily="34" charset="-122"/>
                <a:cs typeface="Calibri" pitchFamily="34" charset="-120"/>
              </a:rPr>
              <a:t>Figure 8 — Random Forest confusion matrix on the held-out test set.</a:t>
            </a:r>
            <a:endParaRPr lang="en-US" sz="1050" dirty="0"/>
          </a:p>
        </p:txBody>
      </p:sp>
      <p:sp>
        <p:nvSpPr>
          <p:cNvPr id="11" name="Text 7"/>
          <p:cNvSpPr/>
          <p:nvPr/>
        </p:nvSpPr>
        <p:spPr>
          <a:xfrm>
            <a:off x="7726680" y="1554480"/>
            <a:ext cx="3895344" cy="310896"/>
          </a:xfrm>
          <a:prstGeom prst="rect">
            <a:avLst/>
          </a:prstGeom>
          <a:noFill/>
          <a:ln/>
        </p:spPr>
        <p:txBody>
          <a:bodyPr wrap="square" lIns="0" tIns="0" rIns="0" bIns="0" rtlCol="0" anchor="ctr"/>
          <a:lstStyle/>
          <a:p>
            <a:pPr indent="0" marL="0">
              <a:buNone/>
            </a:pPr>
            <a:r>
              <a:rPr lang="en-US" sz="1400" b="1" dirty="0">
                <a:solidFill>
                  <a:srgbClr val="1F4A68"/>
                </a:solidFill>
                <a:latin typeface="Calibri" pitchFamily="34" charset="0"/>
                <a:ea typeface="Calibri" pitchFamily="34" charset="-122"/>
                <a:cs typeface="Calibri" pitchFamily="34" charset="-120"/>
              </a:rPr>
              <a:t>The pattern</a:t>
            </a:r>
            <a:endParaRPr lang="en-US" sz="1400" dirty="0"/>
          </a:p>
        </p:txBody>
      </p:sp>
      <p:sp>
        <p:nvSpPr>
          <p:cNvPr id="12" name="Text 8"/>
          <p:cNvSpPr/>
          <p:nvPr/>
        </p:nvSpPr>
        <p:spPr>
          <a:xfrm>
            <a:off x="7726680" y="1938528"/>
            <a:ext cx="3895344" cy="4078224"/>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Errors concentrate between exercises performed in similar body positions.</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Quadruped-derived classes are confused with each other; the two lying-down classes with each other.</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lower_limb and thread_the_needle are the weakest classes across all three models, at F1 near 0.90.</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The structure was built into the generator deliberately, so finding it is a check that the pipeline measures what we intended.</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4A68"/>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B9CEDD"/>
                </a:solidFill>
                <a:latin typeface="Calibri" pitchFamily="34" charset="0"/>
                <a:ea typeface="Calibri" pitchFamily="34" charset="-122"/>
                <a:cs typeface="Calibri" pitchFamily="34" charset="-120"/>
              </a:rPr>
              <a:t>A60 AI4Mobility  ·  Nandi Reddy Shashidhar Reddy  ·  Team Deepminds</a:t>
            </a:r>
            <a:endParaRPr lang="en-US" sz="900" dirty="0"/>
          </a:p>
        </p:txBody>
      </p:sp>
      <p:sp>
        <p:nvSpPr>
          <p:cNvPr id="3" name="Shape 1"/>
          <p:cNvSpPr/>
          <p:nvPr/>
        </p:nvSpPr>
        <p:spPr>
          <a:xfrm>
            <a:off x="11283696" y="6245352"/>
            <a:ext cx="320040" cy="320040"/>
          </a:xfrm>
          <a:prstGeom prst="ellipse">
            <a:avLst/>
          </a:prstGeom>
          <a:solidFill>
            <a:srgbClr val="E8734A"/>
          </a:solidFill>
          <a:ln w="9525">
            <a:solidFill>
              <a:srgbClr val="E8734A"/>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14</a:t>
            </a:r>
            <a:endParaRPr lang="en-US" sz="1000" dirty="0"/>
          </a:p>
        </p:txBody>
      </p:sp>
      <p:sp>
        <p:nvSpPr>
          <p:cNvPr id="6" name="Shape 3"/>
          <p:cNvSpPr/>
          <p:nvPr/>
        </p:nvSpPr>
        <p:spPr>
          <a:xfrm>
            <a:off x="566928" y="2286000"/>
            <a:ext cx="786384" cy="786384"/>
          </a:xfrm>
          <a:prstGeom prst="ellipse">
            <a:avLst/>
          </a:prstGeom>
          <a:solidFill>
            <a:srgbClr val="E8734A"/>
          </a:solidFill>
          <a:ln w="6350">
            <a:solidFill>
              <a:srgbClr val="E8734A"/>
            </a:solidFill>
            <a:prstDash val="solid"/>
          </a:ln>
        </p:spPr>
      </p:sp>
      <p:sp>
        <p:nvSpPr>
          <p:cNvPr id="7" name="Text 4"/>
          <p:cNvSpPr/>
          <p:nvPr/>
        </p:nvSpPr>
        <p:spPr>
          <a:xfrm>
            <a:off x="566928" y="2286000"/>
            <a:ext cx="786384" cy="786384"/>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03</a:t>
            </a:r>
            <a:endParaRPr lang="en-US" sz="2600" dirty="0"/>
          </a:p>
        </p:txBody>
      </p:sp>
      <p:sp>
        <p:nvSpPr>
          <p:cNvPr id="8" name="Text 5"/>
          <p:cNvSpPr/>
          <p:nvPr/>
        </p:nvSpPr>
        <p:spPr>
          <a:xfrm>
            <a:off x="566928" y="3255264"/>
            <a:ext cx="987552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live pose coach</a:t>
            </a:r>
            <a:endParaRPr lang="en-US" sz="3400" dirty="0"/>
          </a:p>
        </p:txBody>
      </p:sp>
      <p:sp>
        <p:nvSpPr>
          <p:cNvPr id="9" name="Text 6"/>
          <p:cNvSpPr/>
          <p:nvPr/>
        </p:nvSpPr>
        <p:spPr>
          <a:xfrm>
            <a:off x="566928" y="4133088"/>
            <a:ext cx="8961120" cy="731520"/>
          </a:xfrm>
          <a:prstGeom prst="rect">
            <a:avLst/>
          </a:prstGeom>
          <a:noFill/>
          <a:ln/>
        </p:spPr>
        <p:txBody>
          <a:bodyPr wrap="square" lIns="0" tIns="0" rIns="0" bIns="0" rtlCol="0" anchor="t"/>
          <a:lstStyle/>
          <a:p>
            <a:pPr indent="0" marL="0">
              <a:lnSpc>
                <a:spcPct val="110000"/>
              </a:lnSpc>
              <a:buNone/>
            </a:pPr>
            <a:r>
              <a:rPr lang="en-US" sz="1400" dirty="0">
                <a:solidFill>
                  <a:srgbClr val="B9CEDD"/>
                </a:solidFill>
                <a:latin typeface="Calibri" pitchFamily="34" charset="0"/>
                <a:ea typeface="Calibri" pitchFamily="34" charset="-122"/>
                <a:cs typeface="Calibri" pitchFamily="34" charset="-120"/>
              </a:rPr>
              <a:t>On-device pose estimation, four joint checks, and targets taken from the same pose bank the illustrations use.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Nandi Reddy Shashidhar Reddy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15</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HOW IT WORKS</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Four joints, checked against the picture on screen</a:t>
            </a:r>
            <a:endParaRPr lang="en-US" sz="2800" dirty="0"/>
          </a:p>
        </p:txBody>
      </p:sp>
      <p:sp>
        <p:nvSpPr>
          <p:cNvPr id="8" name="Shape 5"/>
          <p:cNvSpPr/>
          <p:nvPr/>
        </p:nvSpPr>
        <p:spPr>
          <a:xfrm>
            <a:off x="566928" y="1536192"/>
            <a:ext cx="365760" cy="365760"/>
          </a:xfrm>
          <a:prstGeom prst="ellipse">
            <a:avLst/>
          </a:prstGeom>
          <a:solidFill>
            <a:srgbClr val="2F6690"/>
          </a:solidFill>
          <a:ln w="6350">
            <a:solidFill>
              <a:srgbClr val="2F6690"/>
            </a:solidFill>
            <a:prstDash val="solid"/>
          </a:ln>
        </p:spPr>
      </p:sp>
      <p:sp>
        <p:nvSpPr>
          <p:cNvPr id="9" name="Text 6"/>
          <p:cNvSpPr/>
          <p:nvPr/>
        </p:nvSpPr>
        <p:spPr>
          <a:xfrm>
            <a:off x="566928" y="153619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0" name="Text 7"/>
          <p:cNvSpPr/>
          <p:nvPr/>
        </p:nvSpPr>
        <p:spPr>
          <a:xfrm>
            <a:off x="1097280" y="1499616"/>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MediaPipe Pose Landmarker, running on-device</a:t>
            </a:r>
            <a:endParaRPr lang="en-US" sz="1500" dirty="0"/>
          </a:p>
        </p:txBody>
      </p:sp>
      <p:sp>
        <p:nvSpPr>
          <p:cNvPr id="11" name="Text 8"/>
          <p:cNvSpPr/>
          <p:nvPr/>
        </p:nvSpPr>
        <p:spPr>
          <a:xfrm>
            <a:off x="1097280" y="1792224"/>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The video element is the only place the image exists. No frame is uploaded and no recording is made.</a:t>
            </a:r>
            <a:endParaRPr lang="en-US" sz="1200" dirty="0"/>
          </a:p>
        </p:txBody>
      </p:sp>
      <p:sp>
        <p:nvSpPr>
          <p:cNvPr id="12" name="Shape 9"/>
          <p:cNvSpPr/>
          <p:nvPr/>
        </p:nvSpPr>
        <p:spPr>
          <a:xfrm>
            <a:off x="566928" y="2439619"/>
            <a:ext cx="365760" cy="365760"/>
          </a:xfrm>
          <a:prstGeom prst="ellipse">
            <a:avLst/>
          </a:prstGeom>
          <a:solidFill>
            <a:srgbClr val="2F6690"/>
          </a:solidFill>
          <a:ln w="6350">
            <a:solidFill>
              <a:srgbClr val="2F6690"/>
            </a:solidFill>
            <a:prstDash val="solid"/>
          </a:ln>
        </p:spPr>
      </p:sp>
      <p:sp>
        <p:nvSpPr>
          <p:cNvPr id="13" name="Text 10"/>
          <p:cNvSpPr/>
          <p:nvPr/>
        </p:nvSpPr>
        <p:spPr>
          <a:xfrm>
            <a:off x="566928" y="2439619"/>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4" name="Text 11"/>
          <p:cNvSpPr/>
          <p:nvPr/>
        </p:nvSpPr>
        <p:spPr>
          <a:xfrm>
            <a:off x="1097280" y="2403043"/>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A mirrored skeleton overlay</a:t>
            </a:r>
            <a:endParaRPr lang="en-US" sz="1500" dirty="0"/>
          </a:p>
        </p:txBody>
      </p:sp>
      <p:sp>
        <p:nvSpPr>
          <p:cNvPr id="15" name="Text 12"/>
          <p:cNvSpPr/>
          <p:nvPr/>
        </p:nvSpPr>
        <p:spPr>
          <a:xfrm>
            <a:off x="1097280" y="2695651"/>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Drawn on a canvas over the video, so the child sees themselves the way a mirror would show them.</a:t>
            </a:r>
            <a:endParaRPr lang="en-US" sz="1200" dirty="0"/>
          </a:p>
        </p:txBody>
      </p:sp>
      <p:sp>
        <p:nvSpPr>
          <p:cNvPr id="16" name="Shape 13"/>
          <p:cNvSpPr/>
          <p:nvPr/>
        </p:nvSpPr>
        <p:spPr>
          <a:xfrm>
            <a:off x="566928" y="3343046"/>
            <a:ext cx="365760" cy="365760"/>
          </a:xfrm>
          <a:prstGeom prst="ellipse">
            <a:avLst/>
          </a:prstGeom>
          <a:solidFill>
            <a:srgbClr val="2F6690"/>
          </a:solidFill>
          <a:ln w="6350">
            <a:solidFill>
              <a:srgbClr val="2F6690"/>
            </a:solidFill>
            <a:prstDash val="solid"/>
          </a:ln>
        </p:spPr>
      </p:sp>
      <p:sp>
        <p:nvSpPr>
          <p:cNvPr id="17" name="Text 14"/>
          <p:cNvSpPr/>
          <p:nvPr/>
        </p:nvSpPr>
        <p:spPr>
          <a:xfrm>
            <a:off x="566928" y="334304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5"/>
          <p:cNvSpPr/>
          <p:nvPr/>
        </p:nvSpPr>
        <p:spPr>
          <a:xfrm>
            <a:off x="1097280" y="3306470"/>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Elbow, knee, hip and trunk angles</a:t>
            </a:r>
            <a:endParaRPr lang="en-US" sz="1500" dirty="0"/>
          </a:p>
        </p:txBody>
      </p:sp>
      <p:sp>
        <p:nvSpPr>
          <p:cNvPr id="19" name="Text 16"/>
          <p:cNvSpPr/>
          <p:nvPr/>
        </p:nvSpPr>
        <p:spPr>
          <a:xfrm>
            <a:off x="1097280" y="3599078"/>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Each is compared against a target for the pose the parent has selected.</a:t>
            </a:r>
            <a:endParaRPr lang="en-US" sz="1200" dirty="0"/>
          </a:p>
        </p:txBody>
      </p:sp>
      <p:sp>
        <p:nvSpPr>
          <p:cNvPr id="20" name="Shape 17"/>
          <p:cNvSpPr/>
          <p:nvPr/>
        </p:nvSpPr>
        <p:spPr>
          <a:xfrm>
            <a:off x="566928" y="4246474"/>
            <a:ext cx="365760" cy="365760"/>
          </a:xfrm>
          <a:prstGeom prst="ellipse">
            <a:avLst/>
          </a:prstGeom>
          <a:solidFill>
            <a:srgbClr val="2F6690"/>
          </a:solidFill>
          <a:ln w="6350">
            <a:solidFill>
              <a:srgbClr val="2F6690"/>
            </a:solidFill>
            <a:prstDash val="solid"/>
          </a:ln>
        </p:spPr>
      </p:sp>
      <p:sp>
        <p:nvSpPr>
          <p:cNvPr id="21" name="Text 18"/>
          <p:cNvSpPr/>
          <p:nvPr/>
        </p:nvSpPr>
        <p:spPr>
          <a:xfrm>
            <a:off x="566928" y="424647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19"/>
          <p:cNvSpPr/>
          <p:nvPr/>
        </p:nvSpPr>
        <p:spPr>
          <a:xfrm>
            <a:off x="1097280" y="4209898"/>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One plain-English cue, plus the detail</a:t>
            </a:r>
            <a:endParaRPr lang="en-US" sz="1500" dirty="0"/>
          </a:p>
        </p:txBody>
      </p:sp>
      <p:sp>
        <p:nvSpPr>
          <p:cNvPr id="23" name="Text 20"/>
          <p:cNvSpPr/>
          <p:nvPr/>
        </p:nvSpPr>
        <p:spPr>
          <a:xfrm>
            <a:off x="1097280" y="4502506"/>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A single cue to act on, with a per-joint measured-against-target breakdown underneath for the parent.</a:t>
            </a:r>
            <a:endParaRPr lang="en-US" sz="1200" dirty="0"/>
          </a:p>
        </p:txBody>
      </p:sp>
      <p:sp>
        <p:nvSpPr>
          <p:cNvPr id="24" name="Shape 21"/>
          <p:cNvSpPr/>
          <p:nvPr/>
        </p:nvSpPr>
        <p:spPr>
          <a:xfrm>
            <a:off x="566928" y="5149901"/>
            <a:ext cx="365760" cy="365760"/>
          </a:xfrm>
          <a:prstGeom prst="ellipse">
            <a:avLst/>
          </a:prstGeom>
          <a:solidFill>
            <a:srgbClr val="2F6690"/>
          </a:solidFill>
          <a:ln w="6350">
            <a:solidFill>
              <a:srgbClr val="2F6690"/>
            </a:solidFill>
            <a:prstDash val="solid"/>
          </a:ln>
        </p:spPr>
      </p:sp>
      <p:sp>
        <p:nvSpPr>
          <p:cNvPr id="25" name="Text 22"/>
          <p:cNvSpPr/>
          <p:nvPr/>
        </p:nvSpPr>
        <p:spPr>
          <a:xfrm>
            <a:off x="566928" y="5149901"/>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6" name="Text 23"/>
          <p:cNvSpPr/>
          <p:nvPr/>
        </p:nvSpPr>
        <p:spPr>
          <a:xfrm>
            <a:off x="1097280" y="5113325"/>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It degrades cleanly</a:t>
            </a:r>
            <a:endParaRPr lang="en-US" sz="1500" dirty="0"/>
          </a:p>
        </p:txBody>
      </p:sp>
      <p:sp>
        <p:nvSpPr>
          <p:cNvPr id="27" name="Text 24"/>
          <p:cNvSpPr/>
          <p:nvPr/>
        </p:nvSpPr>
        <p:spPr>
          <a:xfrm>
            <a:off x="1097280" y="5405933"/>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If the model cannot be fetched, the browser has no camera, or permission is refused, the coach says so and the rest of the interface keeps working.</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Nandi Reddy Shashidhar Reddy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16</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FIGURE 12</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Target joint angles per pose family</a:t>
            </a:r>
            <a:endParaRPr lang="en-US" sz="2800" dirty="0"/>
          </a:p>
        </p:txBody>
      </p:sp>
      <p:sp>
        <p:nvSpPr>
          <p:cNvPr id="8" name="Shape 5"/>
          <p:cNvSpPr/>
          <p:nvPr/>
        </p:nvSpPr>
        <p:spPr>
          <a:xfrm>
            <a:off x="779501" y="1444752"/>
            <a:ext cx="6387134" cy="4242816"/>
          </a:xfrm>
          <a:prstGeom prst="roundRect">
            <a:avLst>
              <a:gd name="adj" fmla="val 1509"/>
            </a:avLst>
          </a:prstGeom>
          <a:solidFill>
            <a:srgbClr val="FFFFFF"/>
          </a:solidFill>
          <a:ln w="9525">
            <a:solidFill>
              <a:srgbClr val="DDE6EC"/>
            </a:solidFill>
            <a:prstDash val="solid"/>
          </a:ln>
          <a:effectLst>
            <a:outerShdw sx="100000" sy="100000" kx="0" ky="0" algn="bl" rotWithShape="0" blurRad="101600" dist="25400" dir="5400000">
              <a:srgbClr val="9FB3C2">
                <a:alpha val="25000"/>
              </a:srgbClr>
            </a:outerShdw>
          </a:effectLst>
        </p:spPr>
      </p:sp>
      <p:pic>
        <p:nvPicPr>
          <p:cNvPr id="9" name="Image 0" descr="/home/claude/repo/ai4mobility/docs/figures/f12_coach_targets.png">    </p:cNvPr>
          <p:cNvPicPr>
            <a:picLocks noChangeAspect="1"/>
          </p:cNvPicPr>
          <p:nvPr/>
        </p:nvPicPr>
        <p:blipFill>
          <a:blip r:embed="rId1"/>
          <a:stretch>
            <a:fillRect/>
          </a:stretch>
        </p:blipFill>
        <p:spPr>
          <a:xfrm>
            <a:off x="889229" y="1554480"/>
            <a:ext cx="6167678" cy="4023360"/>
          </a:xfrm>
          <a:prstGeom prst="rect">
            <a:avLst/>
          </a:prstGeom>
        </p:spPr>
      </p:pic>
      <p:sp>
        <p:nvSpPr>
          <p:cNvPr id="10" name="Text 6"/>
          <p:cNvSpPr/>
          <p:nvPr/>
        </p:nvSpPr>
        <p:spPr>
          <a:xfrm>
            <a:off x="566928" y="5760720"/>
            <a:ext cx="6812280" cy="310896"/>
          </a:xfrm>
          <a:prstGeom prst="rect">
            <a:avLst/>
          </a:prstGeom>
          <a:noFill/>
          <a:ln/>
        </p:spPr>
        <p:txBody>
          <a:bodyPr wrap="square" lIns="0" tIns="0" rIns="0" bIns="0" rtlCol="0" anchor="t"/>
          <a:lstStyle/>
          <a:p>
            <a:pPr algn="ctr" indent="0" marL="0">
              <a:buNone/>
            </a:pPr>
            <a:r>
              <a:rPr lang="en-US" sz="1050" i="1" dirty="0">
                <a:solidFill>
                  <a:srgbClr val="4B6072"/>
                </a:solidFill>
                <a:latin typeface="Calibri" pitchFamily="34" charset="0"/>
                <a:ea typeface="Calibri" pitchFamily="34" charset="-122"/>
                <a:cs typeface="Calibri" pitchFamily="34" charset="-120"/>
              </a:rPr>
              <a:t>Figure 12 — target joint angles by pose family, derived from the hand-authored pose bank.</a:t>
            </a:r>
            <a:endParaRPr lang="en-US" sz="1050" dirty="0"/>
          </a:p>
        </p:txBody>
      </p:sp>
      <p:sp>
        <p:nvSpPr>
          <p:cNvPr id="11" name="Text 7"/>
          <p:cNvSpPr/>
          <p:nvPr/>
        </p:nvSpPr>
        <p:spPr>
          <a:xfrm>
            <a:off x="7726680" y="1554480"/>
            <a:ext cx="3895344" cy="310896"/>
          </a:xfrm>
          <a:prstGeom prst="rect">
            <a:avLst/>
          </a:prstGeom>
          <a:noFill/>
          <a:ln/>
        </p:spPr>
        <p:txBody>
          <a:bodyPr wrap="square" lIns="0" tIns="0" rIns="0" bIns="0" rtlCol="0" anchor="ctr"/>
          <a:lstStyle/>
          <a:p>
            <a:pPr indent="0" marL="0">
              <a:buNone/>
            </a:pPr>
            <a:r>
              <a:rPr lang="en-US" sz="1400" b="1" dirty="0">
                <a:solidFill>
                  <a:srgbClr val="1F4A68"/>
                </a:solidFill>
                <a:latin typeface="Calibri" pitchFamily="34" charset="0"/>
                <a:ea typeface="Calibri" pitchFamily="34" charset="-122"/>
                <a:cs typeface="Calibri" pitchFamily="34" charset="-120"/>
              </a:rPr>
              <a:t>Where the targets come from</a:t>
            </a:r>
            <a:endParaRPr lang="en-US" sz="1400" dirty="0"/>
          </a:p>
        </p:txBody>
      </p:sp>
      <p:sp>
        <p:nvSpPr>
          <p:cNvPr id="12" name="Text 8"/>
          <p:cNvSpPr/>
          <p:nvPr/>
        </p:nvSpPr>
        <p:spPr>
          <a:xfrm>
            <a:off x="7726680" y="1938528"/>
            <a:ext cx="3895344" cy="4078224"/>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Each target is computed from the joint coordinates of the pose the illustration draws.</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Different pose families give genuinely different target profiles, which is why one global threshold would not work.</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trunk and hip targets carry most of the difference between lying, kneeling and standing families.</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The figure is drawn from the same bank the interface renders, so it cannot drift out of step.</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Nandi Reddy Shashidhar Reddy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17</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ONE SOURCE OF TRUTH</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The coach checks the position the picture shows</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Target angles are derived from the same hand-authored pose bank the illustrations are drawn from.</a:t>
            </a:r>
            <a:endParaRPr lang="en-US" sz="1350" dirty="0"/>
          </a:p>
        </p:txBody>
      </p:sp>
      <p:sp>
        <p:nvSpPr>
          <p:cNvPr id="9" name="Shape 6"/>
          <p:cNvSpPr/>
          <p:nvPr/>
        </p:nvSpPr>
        <p:spPr>
          <a:xfrm>
            <a:off x="566928" y="2406172"/>
            <a:ext cx="5372100" cy="2844800"/>
          </a:xfrm>
          <a:prstGeom prst="roundRect">
            <a:avLst>
              <a:gd name="adj" fmla="val 2250"/>
            </a:avLst>
          </a:prstGeom>
          <a:solidFill>
            <a:srgbClr val="F4F7FA"/>
          </a:solidFill>
          <a:ln w="9525">
            <a:solidFill>
              <a:srgbClr val="DDE6EC"/>
            </a:solidFill>
            <a:prstDash val="solid"/>
          </a:ln>
        </p:spPr>
      </p:sp>
      <p:sp>
        <p:nvSpPr>
          <p:cNvPr id="10" name="Text 7"/>
          <p:cNvSpPr/>
          <p:nvPr/>
        </p:nvSpPr>
        <p:spPr>
          <a:xfrm>
            <a:off x="822960" y="2589052"/>
            <a:ext cx="4860036" cy="365760"/>
          </a:xfrm>
          <a:prstGeom prst="rect">
            <a:avLst/>
          </a:prstGeom>
          <a:noFill/>
          <a:ln/>
        </p:spPr>
        <p:txBody>
          <a:bodyPr wrap="square" lIns="0" tIns="0" rIns="0" bIns="0" rtlCol="0" anchor="ctr"/>
          <a:lstStyle/>
          <a:p>
            <a:pPr indent="0" marL="0">
              <a:buNone/>
            </a:pPr>
            <a:r>
              <a:rPr lang="en-US" sz="1500" b="1" dirty="0">
                <a:solidFill>
                  <a:srgbClr val="1F4A68"/>
                </a:solidFill>
                <a:latin typeface="Calibri" pitchFamily="34" charset="0"/>
                <a:ea typeface="Calibri" pitchFamily="34" charset="-122"/>
                <a:cs typeface="Calibri" pitchFamily="34" charset="-120"/>
              </a:rPr>
              <a:t>How the derivation works</a:t>
            </a:r>
            <a:endParaRPr lang="en-US" sz="1500" dirty="0"/>
          </a:p>
        </p:txBody>
      </p:sp>
      <p:sp>
        <p:nvSpPr>
          <p:cNvPr id="11" name="Text 8"/>
          <p:cNvSpPr/>
          <p:nvPr/>
        </p:nvSpPr>
        <p:spPr>
          <a:xfrm>
            <a:off x="822960" y="3009676"/>
            <a:ext cx="4860036" cy="2058416"/>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pose bank stores joint coordinates for every illustrated pose.</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For a selected pose, the angle at each checked vertex is computed from those coordinates.</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Pose aliases are followed, so a flow position resolves to the pose it is drawn as.</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Results are cached per pose, so the derivation happens once rather than every frame.</a:t>
            </a:r>
            <a:endParaRPr lang="en-US" sz="1250" dirty="0"/>
          </a:p>
        </p:txBody>
      </p:sp>
      <p:sp>
        <p:nvSpPr>
          <p:cNvPr id="12" name="Shape 9"/>
          <p:cNvSpPr/>
          <p:nvPr/>
        </p:nvSpPr>
        <p:spPr>
          <a:xfrm>
            <a:off x="6249924" y="2406172"/>
            <a:ext cx="5372100" cy="2844800"/>
          </a:xfrm>
          <a:prstGeom prst="roundRect">
            <a:avLst>
              <a:gd name="adj" fmla="val 2250"/>
            </a:avLst>
          </a:prstGeom>
          <a:solidFill>
            <a:srgbClr val="F4F7FA"/>
          </a:solidFill>
          <a:ln w="9525">
            <a:solidFill>
              <a:srgbClr val="DDE6EC"/>
            </a:solidFill>
            <a:prstDash val="solid"/>
          </a:ln>
        </p:spPr>
      </p:sp>
      <p:sp>
        <p:nvSpPr>
          <p:cNvPr id="13" name="Text 10"/>
          <p:cNvSpPr/>
          <p:nvPr/>
        </p:nvSpPr>
        <p:spPr>
          <a:xfrm>
            <a:off x="6505956" y="2589052"/>
            <a:ext cx="4860036" cy="365760"/>
          </a:xfrm>
          <a:prstGeom prst="rect">
            <a:avLst/>
          </a:prstGeom>
          <a:noFill/>
          <a:ln/>
        </p:spPr>
        <p:txBody>
          <a:bodyPr wrap="square" lIns="0" tIns="0" rIns="0" bIns="0" rtlCol="0" anchor="ctr"/>
          <a:lstStyle/>
          <a:p>
            <a:pPr indent="0" marL="0">
              <a:buNone/>
            </a:pPr>
            <a:r>
              <a:rPr lang="en-US" sz="1500" b="1" dirty="0">
                <a:solidFill>
                  <a:srgbClr val="1F4A68"/>
                </a:solidFill>
                <a:latin typeface="Calibri" pitchFamily="34" charset="0"/>
                <a:ea typeface="Calibri" pitchFamily="34" charset="-122"/>
                <a:cs typeface="Calibri" pitchFamily="34" charset="-120"/>
              </a:rPr>
              <a:t>Why it matters</a:t>
            </a:r>
            <a:endParaRPr lang="en-US" sz="1500" dirty="0"/>
          </a:p>
        </p:txBody>
      </p:sp>
      <p:sp>
        <p:nvSpPr>
          <p:cNvPr id="14" name="Text 11"/>
          <p:cNvSpPr/>
          <p:nvPr/>
        </p:nvSpPr>
        <p:spPr>
          <a:xfrm>
            <a:off x="6505956" y="3009676"/>
            <a:ext cx="4860036" cy="2058416"/>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 child is checked against exactly the position the picture shows them.</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There is no second set of numbers to maintain or to fall out of step.</a:t>
            </a:r>
            <a:endParaRPr lang="en-US" sz="1250" dirty="0"/>
          </a:p>
          <a:p>
            <a:pPr marL="342900" indent="-342900">
              <a:lnSpc>
                <a:spcPct val="105000"/>
              </a:lnSpc>
              <a:spcAft>
                <a:spcPts val="800"/>
              </a:spcAft>
              <a:buSzPct val="100000"/>
              <a:buChar char="•"/>
            </a:pPr>
            <a:r>
              <a:rPr lang="en-US" sz="1250" dirty="0">
                <a:solidFill>
                  <a:srgbClr val="1C2B3A"/>
                </a:solidFill>
                <a:latin typeface="Calibri" pitchFamily="34" charset="0"/>
                <a:ea typeface="Calibri" pitchFamily="34" charset="-122"/>
                <a:cs typeface="Calibri" pitchFamily="34" charset="-120"/>
              </a:rPr>
              <a:t>Correcting an illustration corrects the coach at the same time.</a:t>
            </a:r>
            <a:endParaRPr lang="en-US" sz="1250" dirty="0"/>
          </a:p>
          <a:p>
            <a:pPr marL="342900" indent="-342900">
              <a:lnSpc>
                <a:spcPct val="105000"/>
              </a:lnSpc>
              <a:buSzPct val="100000"/>
              <a:buChar char="•"/>
            </a:pPr>
            <a:r>
              <a:rPr lang="en-US" sz="1250" dirty="0">
                <a:solidFill>
                  <a:srgbClr val="1C2B3A"/>
                </a:solidFill>
                <a:latin typeface="Calibri" pitchFamily="34" charset="0"/>
                <a:ea typeface="Calibri" pitchFamily="34" charset="-122"/>
                <a:cs typeface="Calibri" pitchFamily="34" charset="-120"/>
              </a:rPr>
              <a:t>It also bounds the claim: the coach is only as right as the hand-authored pose.</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Nandi Reddy Shashidhar Reddy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18</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HONEST STATEMENT</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The tolerances are engineering judgement</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Twenty to twenty-four degrees per joint, chosen so the coach is usable — not derived from clinical evidence.</a:t>
            </a:r>
            <a:endParaRPr lang="en-US" sz="1350" dirty="0"/>
          </a:p>
        </p:txBody>
      </p:sp>
      <p:sp>
        <p:nvSpPr>
          <p:cNvPr id="9" name="Shape 6"/>
          <p:cNvSpPr/>
          <p:nvPr/>
        </p:nvSpPr>
        <p:spPr>
          <a:xfrm>
            <a:off x="621792" y="2180209"/>
            <a:ext cx="146304" cy="146304"/>
          </a:xfrm>
          <a:prstGeom prst="ellipse">
            <a:avLst/>
          </a:prstGeom>
          <a:solidFill>
            <a:srgbClr val="E8734A"/>
          </a:solidFill>
          <a:ln w="6350">
            <a:solidFill>
              <a:srgbClr val="E8734A"/>
            </a:solidFill>
            <a:prstDash val="solid"/>
          </a:ln>
        </p:spPr>
      </p:sp>
      <p:sp>
        <p:nvSpPr>
          <p:cNvPr id="10" name="Text 7"/>
          <p:cNvSpPr/>
          <p:nvPr/>
        </p:nvSpPr>
        <p:spPr>
          <a:xfrm>
            <a:off x="1097280" y="2033905"/>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Tolerances of 20 to 24 degrees per joint, set per checked joint.</a:t>
            </a:r>
            <a:endParaRPr lang="en-US" sz="1500" dirty="0"/>
          </a:p>
        </p:txBody>
      </p:sp>
      <p:sp>
        <p:nvSpPr>
          <p:cNvPr id="11" name="Text 8"/>
          <p:cNvSpPr/>
          <p:nvPr/>
        </p:nvSpPr>
        <p:spPr>
          <a:xfrm>
            <a:off x="1097280" y="2326513"/>
            <a:ext cx="10524744" cy="58521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Tighter values made the coach reject positions a parent would call correct; looser values accepted positions that were visibly wrong.</a:t>
            </a:r>
            <a:endParaRPr lang="en-US" sz="1200" dirty="0"/>
          </a:p>
        </p:txBody>
      </p:sp>
      <p:sp>
        <p:nvSpPr>
          <p:cNvPr id="12" name="Shape 9"/>
          <p:cNvSpPr/>
          <p:nvPr/>
        </p:nvSpPr>
        <p:spPr>
          <a:xfrm>
            <a:off x="621792" y="3112897"/>
            <a:ext cx="146304" cy="146304"/>
          </a:xfrm>
          <a:prstGeom prst="ellipse">
            <a:avLst/>
          </a:prstGeom>
          <a:solidFill>
            <a:srgbClr val="E8734A"/>
          </a:solidFill>
          <a:ln w="6350">
            <a:solidFill>
              <a:srgbClr val="E8734A"/>
            </a:solidFill>
            <a:prstDash val="solid"/>
          </a:ln>
        </p:spPr>
      </p:sp>
      <p:sp>
        <p:nvSpPr>
          <p:cNvPr id="13" name="Text 10"/>
          <p:cNvSpPr/>
          <p:nvPr/>
        </p:nvSpPr>
        <p:spPr>
          <a:xfrm>
            <a:off x="1097280" y="2966593"/>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That is a usability judgement, not a clinical threshold.</a:t>
            </a:r>
            <a:endParaRPr lang="en-US" sz="1500" dirty="0"/>
          </a:p>
        </p:txBody>
      </p:sp>
      <p:sp>
        <p:nvSpPr>
          <p:cNvPr id="14" name="Text 11"/>
          <p:cNvSpPr/>
          <p:nvPr/>
        </p:nvSpPr>
        <p:spPr>
          <a:xfrm>
            <a:off x="1097280" y="3259201"/>
            <a:ext cx="10524744" cy="58521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No physiotherapist has reviewed these numbers, and no calibration study has been run.</a:t>
            </a:r>
            <a:endParaRPr lang="en-US" sz="1200" dirty="0"/>
          </a:p>
        </p:txBody>
      </p:sp>
      <p:sp>
        <p:nvSpPr>
          <p:cNvPr id="15" name="Shape 12"/>
          <p:cNvSpPr/>
          <p:nvPr/>
        </p:nvSpPr>
        <p:spPr>
          <a:xfrm>
            <a:off x="621792" y="4045585"/>
            <a:ext cx="146304" cy="146304"/>
          </a:xfrm>
          <a:prstGeom prst="ellipse">
            <a:avLst/>
          </a:prstGeom>
          <a:solidFill>
            <a:srgbClr val="E8734A"/>
          </a:solidFill>
          <a:ln w="6350">
            <a:solidFill>
              <a:srgbClr val="E8734A"/>
            </a:solidFill>
            <a:prstDash val="solid"/>
          </a:ln>
        </p:spPr>
      </p:sp>
      <p:sp>
        <p:nvSpPr>
          <p:cNvPr id="16" name="Text 13"/>
          <p:cNvSpPr/>
          <p:nvPr/>
        </p:nvSpPr>
        <p:spPr>
          <a:xfrm>
            <a:off x="1097280" y="3899281"/>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The coach reports measured against target rather than pass or fail alone.</a:t>
            </a:r>
            <a:endParaRPr lang="en-US" sz="1500" dirty="0"/>
          </a:p>
        </p:txBody>
      </p:sp>
      <p:sp>
        <p:nvSpPr>
          <p:cNvPr id="17" name="Text 14"/>
          <p:cNvSpPr/>
          <p:nvPr/>
        </p:nvSpPr>
        <p:spPr>
          <a:xfrm>
            <a:off x="1097280" y="4191889"/>
            <a:ext cx="10524744" cy="58521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A parent can see how far off a joint is, instead of being told only that something is wrong.</a:t>
            </a:r>
            <a:endParaRPr lang="en-US" sz="1200" dirty="0"/>
          </a:p>
        </p:txBody>
      </p:sp>
      <p:sp>
        <p:nvSpPr>
          <p:cNvPr id="18" name="Shape 15"/>
          <p:cNvSpPr/>
          <p:nvPr/>
        </p:nvSpPr>
        <p:spPr>
          <a:xfrm>
            <a:off x="566928" y="5073650"/>
            <a:ext cx="11055096" cy="943102"/>
          </a:xfrm>
          <a:prstGeom prst="roundRect">
            <a:avLst>
              <a:gd name="adj" fmla="val 6787"/>
            </a:avLst>
          </a:prstGeom>
          <a:solidFill>
            <a:srgbClr val="FBEDE6"/>
          </a:solidFill>
          <a:ln w="9525">
            <a:solidFill>
              <a:srgbClr val="F0C9B6"/>
            </a:solidFill>
            <a:prstDash val="solid"/>
          </a:ln>
        </p:spPr>
      </p:sp>
      <p:sp>
        <p:nvSpPr>
          <p:cNvPr id="19" name="Text 16"/>
          <p:cNvSpPr/>
          <p:nvPr/>
        </p:nvSpPr>
        <p:spPr>
          <a:xfrm>
            <a:off x="786384" y="5201666"/>
            <a:ext cx="10616184" cy="219456"/>
          </a:xfrm>
          <a:prstGeom prst="rect">
            <a:avLst/>
          </a:prstGeom>
          <a:noFill/>
          <a:ln/>
        </p:spPr>
        <p:txBody>
          <a:bodyPr wrap="square" lIns="0" tIns="0" rIns="0" bIns="0" rtlCol="0" anchor="t"/>
          <a:lstStyle/>
          <a:p>
            <a:pPr indent="0" marL="0">
              <a:buNone/>
            </a:pPr>
            <a:r>
              <a:rPr lang="en-US" sz="950" b="1" spc="130" kern="0" dirty="0">
                <a:solidFill>
                  <a:srgbClr val="C85A34"/>
                </a:solidFill>
                <a:latin typeface="Calibri" pitchFamily="34" charset="0"/>
                <a:ea typeface="Calibri" pitchFamily="34" charset="-122"/>
                <a:cs typeface="Calibri" pitchFamily="34" charset="-120"/>
              </a:rPr>
              <a:t>RECORDED AS NOT VALIDATED</a:t>
            </a:r>
            <a:endParaRPr lang="en-US" sz="950" dirty="0"/>
          </a:p>
        </p:txBody>
      </p:sp>
      <p:sp>
        <p:nvSpPr>
          <p:cNvPr id="20" name="Text 17"/>
          <p:cNvSpPr/>
          <p:nvPr/>
        </p:nvSpPr>
        <p:spPr>
          <a:xfrm>
            <a:off x="786384" y="5457698"/>
            <a:ext cx="10616184" cy="449326"/>
          </a:xfrm>
          <a:prstGeom prst="rect">
            <a:avLst/>
          </a:prstGeom>
          <a:noFill/>
          <a:ln/>
        </p:spPr>
        <p:txBody>
          <a:bodyPr wrap="square" lIns="0" tIns="0" rIns="0" bIns="0" rtlCol="0" anchor="t"/>
          <a:lstStyle/>
          <a:p>
            <a:pPr indent="0" marL="0">
              <a:lnSpc>
                <a:spcPct val="105000"/>
              </a:lnSpc>
              <a:buNone/>
            </a:pPr>
            <a:r>
              <a:rPr lang="en-US" sz="1250" dirty="0">
                <a:solidFill>
                  <a:srgbClr val="1C2B3A"/>
                </a:solidFill>
                <a:latin typeface="Calibri" pitchFamily="34" charset="0"/>
                <a:ea typeface="Calibri" pitchFamily="34" charset="-122"/>
                <a:cs typeface="Calibri" pitchFamily="34" charset="-120"/>
              </a:rPr>
              <a:t>Pose coach calibration is listed as NOT VALIDATED in the project register. The next step is a physiotherapist review of both the tolerances and the pose bank they are derived from.</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Nandi Reddy Shashidhar Reddy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19</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RESULTS</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Where the visual findings meet the model results</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Three model families, identical data and identical splits. Measured on synthetic data.</a:t>
            </a:r>
            <a:endParaRPr lang="en-US" sz="13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2011680"/>
          <a:ext cx="11055096" cy="914400"/>
        </p:xfrm>
        <a:graphic>
          <a:graphicData uri="http://schemas.openxmlformats.org/drawingml/2006/table">
            <a:tbl>
              <a:tblPr/>
              <a:tblGrid>
                <a:gridCol w="2606040"/>
                <a:gridCol w="1600200"/>
                <a:gridCol w="1600200"/>
                <a:gridCol w="2423160"/>
                <a:gridCol w="1463040"/>
                <a:gridCol w="1362456"/>
              </a:tblGrid>
              <a:tr h="56692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Test accuracy</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Test macro F1</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CV macro F1 (5-fold, train only)</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Train accuracy</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Generalisation gap</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2F6690"/>
                    </a:solidFill>
                  </a:tcPr>
                </a:tc>
              </a:tr>
              <a:tr h="566928">
                <a:tc>
                  <a:txBody>
                    <a:bodyPr/>
                    <a:lstStyle/>
                    <a:p>
                      <a:pPr algn="l" indent="0" marL="0">
                        <a:buNone/>
                      </a:pPr>
                      <a:r>
                        <a:rPr lang="en-US" sz="1200" b="1" dirty="0">
                          <a:solidFill>
                            <a:srgbClr val="1F4A68"/>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0.928</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0.935</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0.955 ± 0.017</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0.965</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c>
                  <a:txBody>
                    <a:bodyPr/>
                    <a:lstStyle/>
                    <a:p>
                      <a:pPr algn="ctr" indent="0" marL="0">
                        <a:buNone/>
                      </a:pPr>
                      <a:r>
                        <a:rPr lang="en-US" sz="1200" b="1" dirty="0">
                          <a:solidFill>
                            <a:srgbClr val="1F4A68"/>
                          </a:solidFill>
                          <a:latin typeface="Calibri" pitchFamily="34" charset="0"/>
                          <a:ea typeface="Calibri" pitchFamily="34" charset="-122"/>
                          <a:cs typeface="Calibri" pitchFamily="34" charset="-120"/>
                        </a:rPr>
                        <a:t>+0.037</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E9F0F6"/>
                    </a:solidFill>
                  </a:tcPr>
                </a:tc>
              </a:tr>
              <a:tr h="566928">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Gradient Boosting</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0.923</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0.931</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0.939 ± 0.016</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+0.077</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4F7FA"/>
                    </a:solidFill>
                  </a:tcPr>
                </a:tc>
              </a:tr>
              <a:tr h="566928">
                <a:tc>
                  <a:txBody>
                    <a:bodyPr/>
                    <a:lstStyle/>
                    <a:p>
                      <a:pPr algn="l" indent="0" marL="0">
                        <a:buNone/>
                      </a:pPr>
                      <a:r>
                        <a:rPr lang="en-US" sz="1200" dirty="0">
                          <a:solidFill>
                            <a:srgbClr val="1C2B3A"/>
                          </a:solidFill>
                          <a:latin typeface="Calibri" pitchFamily="34" charset="0"/>
                          <a:ea typeface="Calibri" pitchFamily="34" charset="-122"/>
                          <a:cs typeface="Calibri" pitchFamily="34" charset="-120"/>
                        </a:rPr>
                        <a:t>Neural Network (MLP)</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0.923</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0.932</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0.939 ± 0.019</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B3A"/>
                          </a:solidFill>
                          <a:latin typeface="Calibri" pitchFamily="34" charset="0"/>
                          <a:ea typeface="Calibri" pitchFamily="34" charset="-122"/>
                          <a:cs typeface="Calibri" pitchFamily="34" charset="-120"/>
                        </a:rPr>
                        <a:t>+0.077</a:t>
                      </a:r>
                      <a:endParaRPr lang="en-US" sz="1200" dirty="0">
                        <a:latin typeface="Calibri" charset="0"/>
                        <a:ea typeface="Calibri" charset="0"/>
                        <a:cs typeface="Calibri" charset="0"/>
                      </a:endParaRPr>
                    </a:p>
                  </a:txBody>
                  <a:tcPr marL="101600" marR="101600" marT="50800" marB="50800" anchor="ctr">
                    <a:lnL w="6350" cap="flat" cmpd="sng" algn="ctr">
                      <a:solidFill>
                        <a:srgbClr val="DDE6EC"/>
                      </a:solidFill>
                      <a:prstDash val="solid"/>
                      <a:round/>
                      <a:headEnd type="none" w="med" len="med"/>
                      <a:tailEnd type="none" w="med" len="med"/>
                    </a:lnL>
                    <a:lnR w="6350" cap="flat" cmpd="sng" algn="ctr">
                      <a:solidFill>
                        <a:srgbClr val="DDE6EC"/>
                      </a:solidFill>
                      <a:prstDash val="solid"/>
                      <a:round/>
                      <a:headEnd type="none" w="med" len="med"/>
                      <a:tailEnd type="none" w="med" len="med"/>
                    </a:lnR>
                    <a:lnT w="6350" cap="flat" cmpd="sng" algn="ctr">
                      <a:solidFill>
                        <a:srgbClr val="DDE6EC"/>
                      </a:solidFill>
                      <a:prstDash val="solid"/>
                      <a:round/>
                      <a:headEnd type="none" w="med" len="med"/>
                      <a:tailEnd type="none" w="med" len="med"/>
                    </a:lnT>
                    <a:lnB w="6350" cap="flat" cmpd="sng" algn="ctr">
                      <a:solidFill>
                        <a:srgbClr val="DDE6EC"/>
                      </a:solidFill>
                      <a:prstDash val="solid"/>
                      <a:round/>
                      <a:headEnd type="none" w="med" len="med"/>
                      <a:tailEnd type="none" w="med" len="med"/>
                    </a:lnB>
                    <a:solidFill>
                      <a:srgbClr val="FFFFFF"/>
                    </a:solidFill>
                  </a:tcPr>
                </a:tc>
              </a:tr>
            </a:tbl>
          </a:graphicData>
        </a:graphic>
      </p:graphicFrame>
      <p:sp>
        <p:nvSpPr>
          <p:cNvPr id="10" name="Text 6"/>
          <p:cNvSpPr/>
          <p:nvPr/>
        </p:nvSpPr>
        <p:spPr>
          <a:xfrm>
            <a:off x="566928" y="4389120"/>
            <a:ext cx="11055096" cy="329184"/>
          </a:xfrm>
          <a:prstGeom prst="rect">
            <a:avLst/>
          </a:prstGeom>
          <a:noFill/>
          <a:ln/>
        </p:spPr>
        <p:txBody>
          <a:bodyPr wrap="square" lIns="0" tIns="0" rIns="0" bIns="0" rtlCol="0" anchor="t"/>
          <a:lstStyle/>
          <a:p>
            <a:pPr indent="0" marL="0">
              <a:buNone/>
            </a:pPr>
            <a:r>
              <a:rPr lang="en-US" sz="1050" i="1" dirty="0">
                <a:solidFill>
                  <a:srgbClr val="4B6072"/>
                </a:solidFill>
                <a:latin typeface="Calibri" pitchFamily="34" charset="0"/>
                <a:ea typeface="Calibri" pitchFamily="34" charset="-122"/>
                <a:cs typeface="Calibri" pitchFamily="34" charset="-120"/>
              </a:rPr>
              <a:t>Cross-validation is five-fold on the training partition only. The test set was scored once, after all model selection was complete.</a:t>
            </a:r>
            <a:endParaRPr lang="en-US" sz="1050" dirty="0"/>
          </a:p>
        </p:txBody>
      </p:sp>
      <p:sp>
        <p:nvSpPr>
          <p:cNvPr id="11" name="Shape 7"/>
          <p:cNvSpPr/>
          <p:nvPr/>
        </p:nvSpPr>
        <p:spPr>
          <a:xfrm>
            <a:off x="566928" y="5073650"/>
            <a:ext cx="11055096" cy="943102"/>
          </a:xfrm>
          <a:prstGeom prst="roundRect">
            <a:avLst>
              <a:gd name="adj" fmla="val 6787"/>
            </a:avLst>
          </a:prstGeom>
          <a:solidFill>
            <a:srgbClr val="E9F0F6"/>
          </a:solidFill>
          <a:ln w="9525">
            <a:solidFill>
              <a:srgbClr val="C6D8E5"/>
            </a:solidFill>
            <a:prstDash val="solid"/>
          </a:ln>
        </p:spPr>
      </p:sp>
      <p:sp>
        <p:nvSpPr>
          <p:cNvPr id="12" name="Text 8"/>
          <p:cNvSpPr/>
          <p:nvPr/>
        </p:nvSpPr>
        <p:spPr>
          <a:xfrm>
            <a:off x="786384" y="5201666"/>
            <a:ext cx="10616184" cy="219456"/>
          </a:xfrm>
          <a:prstGeom prst="rect">
            <a:avLst/>
          </a:prstGeom>
          <a:noFill/>
          <a:ln/>
        </p:spPr>
        <p:txBody>
          <a:bodyPr wrap="square" lIns="0" tIns="0" rIns="0" bIns="0" rtlCol="0" anchor="t"/>
          <a:lstStyle/>
          <a:p>
            <a:pPr indent="0" marL="0">
              <a:buNone/>
            </a:pPr>
            <a:r>
              <a:rPr lang="en-US" sz="950" b="1" spc="130" kern="0" dirty="0">
                <a:solidFill>
                  <a:srgbClr val="1F4A68"/>
                </a:solidFill>
                <a:latin typeface="Calibri" pitchFamily="34" charset="0"/>
                <a:ea typeface="Calibri" pitchFamily="34" charset="-122"/>
                <a:cs typeface="Calibri" pitchFamily="34" charset="-120"/>
              </a:rPr>
              <a:t>THE VISUAL AGREEMENT</a:t>
            </a:r>
            <a:endParaRPr lang="en-US" sz="950" dirty="0"/>
          </a:p>
        </p:txBody>
      </p:sp>
      <p:sp>
        <p:nvSpPr>
          <p:cNvPr id="13" name="Text 9"/>
          <p:cNvSpPr/>
          <p:nvPr/>
        </p:nvSpPr>
        <p:spPr>
          <a:xfrm>
            <a:off x="786384" y="5457698"/>
            <a:ext cx="10616184" cy="449326"/>
          </a:xfrm>
          <a:prstGeom prst="rect">
            <a:avLst/>
          </a:prstGeom>
          <a:noFill/>
          <a:ln/>
        </p:spPr>
        <p:txBody>
          <a:bodyPr wrap="square" lIns="0" tIns="0" rIns="0" bIns="0" rtlCol="0" anchor="t"/>
          <a:lstStyle/>
          <a:p>
            <a:pPr indent="0" marL="0">
              <a:lnSpc>
                <a:spcPct val="105000"/>
              </a:lnSpc>
              <a:buNone/>
            </a:pPr>
            <a:r>
              <a:rPr lang="en-US" sz="1250" dirty="0">
                <a:solidFill>
                  <a:srgbClr val="1C2B3A"/>
                </a:solidFill>
                <a:latin typeface="Calibri" pitchFamily="34" charset="0"/>
                <a:ea typeface="Calibri" pitchFamily="34" charset="-122"/>
                <a:cs typeface="Calibri" pitchFamily="34" charset="-120"/>
              </a:rPr>
              <a:t>Random Forest leads on macro F1 at 0.935 with the smallest generalisation gap at +0.037. Its weakest classes are the ones the PCA projection and the angle boxplots both flagged.</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Nandi Reddy Shashidhar Reddy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20</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LIMITATIONS</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What the visual work does not establish</a:t>
            </a:r>
            <a:endParaRPr lang="en-US" sz="2800" dirty="0"/>
          </a:p>
        </p:txBody>
      </p:sp>
      <p:sp>
        <p:nvSpPr>
          <p:cNvPr id="8" name="Shape 5"/>
          <p:cNvSpPr/>
          <p:nvPr/>
        </p:nvSpPr>
        <p:spPr>
          <a:xfrm>
            <a:off x="621792" y="1645920"/>
            <a:ext cx="146304" cy="146304"/>
          </a:xfrm>
          <a:prstGeom prst="ellipse">
            <a:avLst/>
          </a:prstGeom>
          <a:solidFill>
            <a:srgbClr val="E8734A"/>
          </a:solidFill>
          <a:ln w="6350">
            <a:solidFill>
              <a:srgbClr val="E8734A"/>
            </a:solidFill>
            <a:prstDash val="solid"/>
          </a:ln>
        </p:spPr>
      </p:sp>
      <p:sp>
        <p:nvSpPr>
          <p:cNvPr id="9" name="Text 6"/>
          <p:cNvSpPr/>
          <p:nvPr/>
        </p:nvSpPr>
        <p:spPr>
          <a:xfrm>
            <a:off x="1097280" y="1499616"/>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The illustrations are hand-authored, not generated.</a:t>
            </a:r>
            <a:endParaRPr lang="en-US" sz="1500" dirty="0"/>
          </a:p>
        </p:txBody>
      </p:sp>
      <p:sp>
        <p:nvSpPr>
          <p:cNvPr id="10" name="Text 7"/>
          <p:cNvSpPr/>
          <p:nvPr/>
        </p:nvSpPr>
        <p:spPr>
          <a:xfrm>
            <a:off x="1097280" y="1792224"/>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Generative illustration is not built; 46 poses are a stand-in for it.</a:t>
            </a:r>
            <a:endParaRPr lang="en-US" sz="1200" dirty="0"/>
          </a:p>
        </p:txBody>
      </p:sp>
      <p:sp>
        <p:nvSpPr>
          <p:cNvPr id="11" name="Shape 8"/>
          <p:cNvSpPr/>
          <p:nvPr/>
        </p:nvSpPr>
        <p:spPr>
          <a:xfrm>
            <a:off x="621792" y="2549347"/>
            <a:ext cx="146304" cy="146304"/>
          </a:xfrm>
          <a:prstGeom prst="ellipse">
            <a:avLst/>
          </a:prstGeom>
          <a:solidFill>
            <a:srgbClr val="E8734A"/>
          </a:solidFill>
          <a:ln w="6350">
            <a:solidFill>
              <a:srgbClr val="E8734A"/>
            </a:solidFill>
            <a:prstDash val="solid"/>
          </a:ln>
        </p:spPr>
      </p:sp>
      <p:sp>
        <p:nvSpPr>
          <p:cNvPr id="12" name="Text 9"/>
          <p:cNvSpPr/>
          <p:nvPr/>
        </p:nvSpPr>
        <p:spPr>
          <a:xfrm>
            <a:off x="1097280" y="2403043"/>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No physiotherapist has reviewed the poses or the tolerances.</a:t>
            </a:r>
            <a:endParaRPr lang="en-US" sz="1500" dirty="0"/>
          </a:p>
        </p:txBody>
      </p:sp>
      <p:sp>
        <p:nvSpPr>
          <p:cNvPr id="13" name="Text 10"/>
          <p:cNvSpPr/>
          <p:nvPr/>
        </p:nvSpPr>
        <p:spPr>
          <a:xfrm>
            <a:off x="1097280" y="2695651"/>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Clinical validation is not done, and neither the pose bank nor the coach thresholds have been checked by a clinician.</a:t>
            </a:r>
            <a:endParaRPr lang="en-US" sz="1200" dirty="0"/>
          </a:p>
        </p:txBody>
      </p:sp>
      <p:sp>
        <p:nvSpPr>
          <p:cNvPr id="14" name="Shape 11"/>
          <p:cNvSpPr/>
          <p:nvPr/>
        </p:nvSpPr>
        <p:spPr>
          <a:xfrm>
            <a:off x="621792" y="3452774"/>
            <a:ext cx="146304" cy="146304"/>
          </a:xfrm>
          <a:prstGeom prst="ellipse">
            <a:avLst/>
          </a:prstGeom>
          <a:solidFill>
            <a:srgbClr val="E8734A"/>
          </a:solidFill>
          <a:ln w="6350">
            <a:solidFill>
              <a:srgbClr val="E8734A"/>
            </a:solidFill>
            <a:prstDash val="solid"/>
          </a:ln>
        </p:spPr>
      </p:sp>
      <p:sp>
        <p:nvSpPr>
          <p:cNvPr id="15" name="Text 12"/>
          <p:cNvSpPr/>
          <p:nvPr/>
        </p:nvSpPr>
        <p:spPr>
          <a:xfrm>
            <a:off x="1097280" y="3306470"/>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The coach has not been used by a child.</a:t>
            </a:r>
            <a:endParaRPr lang="en-US" sz="1500" dirty="0"/>
          </a:p>
        </p:txBody>
      </p:sp>
      <p:sp>
        <p:nvSpPr>
          <p:cNvPr id="16" name="Text 13"/>
          <p:cNvSpPr/>
          <p:nvPr/>
        </p:nvSpPr>
        <p:spPr>
          <a:xfrm>
            <a:off x="1097280" y="3599078"/>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User evaluation is not done. Every judgement about usability is the team's own.</a:t>
            </a:r>
            <a:endParaRPr lang="en-US" sz="1200" dirty="0"/>
          </a:p>
        </p:txBody>
      </p:sp>
      <p:sp>
        <p:nvSpPr>
          <p:cNvPr id="17" name="Shape 14"/>
          <p:cNvSpPr/>
          <p:nvPr/>
        </p:nvSpPr>
        <p:spPr>
          <a:xfrm>
            <a:off x="621792" y="4356202"/>
            <a:ext cx="146304" cy="146304"/>
          </a:xfrm>
          <a:prstGeom prst="ellipse">
            <a:avLst/>
          </a:prstGeom>
          <a:solidFill>
            <a:srgbClr val="E8734A"/>
          </a:solidFill>
          <a:ln w="6350">
            <a:solidFill>
              <a:srgbClr val="E8734A"/>
            </a:solidFill>
            <a:prstDash val="solid"/>
          </a:ln>
        </p:spPr>
      </p:sp>
      <p:sp>
        <p:nvSpPr>
          <p:cNvPr id="18" name="Text 15"/>
          <p:cNvSpPr/>
          <p:nvPr/>
        </p:nvSpPr>
        <p:spPr>
          <a:xfrm>
            <a:off x="1097280" y="4209898"/>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PCA shows 52.3% of variance, not the whole picture.</a:t>
            </a:r>
            <a:endParaRPr lang="en-US" sz="1500" dirty="0"/>
          </a:p>
        </p:txBody>
      </p:sp>
      <p:sp>
        <p:nvSpPr>
          <p:cNvPr id="19" name="Text 16"/>
          <p:cNvSpPr/>
          <p:nvPr/>
        </p:nvSpPr>
        <p:spPr>
          <a:xfrm>
            <a:off x="1097280" y="4502506"/>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Just under half the variance is outside the projection, so the separation shown is partial.</a:t>
            </a:r>
            <a:endParaRPr lang="en-US" sz="1200" dirty="0"/>
          </a:p>
        </p:txBody>
      </p:sp>
      <p:sp>
        <p:nvSpPr>
          <p:cNvPr id="20" name="Shape 17"/>
          <p:cNvSpPr/>
          <p:nvPr/>
        </p:nvSpPr>
        <p:spPr>
          <a:xfrm>
            <a:off x="621792" y="5259629"/>
            <a:ext cx="146304" cy="146304"/>
          </a:xfrm>
          <a:prstGeom prst="ellipse">
            <a:avLst/>
          </a:prstGeom>
          <a:solidFill>
            <a:srgbClr val="E8734A"/>
          </a:solidFill>
          <a:ln w="6350">
            <a:solidFill>
              <a:srgbClr val="E8734A"/>
            </a:solidFill>
            <a:prstDash val="solid"/>
          </a:ln>
        </p:spPr>
      </p:sp>
      <p:sp>
        <p:nvSpPr>
          <p:cNvPr id="21" name="Text 18"/>
          <p:cNvSpPr/>
          <p:nvPr/>
        </p:nvSpPr>
        <p:spPr>
          <a:xfrm>
            <a:off x="1097280" y="5113325"/>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Everything visual rests on synthetic frames.</a:t>
            </a:r>
            <a:endParaRPr lang="en-US" sz="1500" dirty="0"/>
          </a:p>
        </p:txBody>
      </p:sp>
      <p:sp>
        <p:nvSpPr>
          <p:cNvPr id="22" name="Text 19"/>
          <p:cNvSpPr/>
          <p:nvPr/>
        </p:nvSpPr>
        <p:spPr>
          <a:xfrm>
            <a:off x="1097280" y="5405933"/>
            <a:ext cx="10524744" cy="555955"/>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The figures describe the generator, and would need redrawing from recorded data before any external claim.</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4B6072"/>
                </a:solidFill>
                <a:latin typeface="Calibri" pitchFamily="34" charset="0"/>
                <a:ea typeface="Calibri" pitchFamily="34" charset="-122"/>
                <a:cs typeface="Calibri" pitchFamily="34" charset="-120"/>
              </a:rPr>
              <a:t>A60 AI4Mobility  ·  Nandi Reddy Shashidhar Reddy  ·  Team Deepminds</a:t>
            </a:r>
            <a:endParaRPr lang="en-US" sz="900" dirty="0"/>
          </a:p>
        </p:txBody>
      </p:sp>
      <p:sp>
        <p:nvSpPr>
          <p:cNvPr id="3" name="Shape 1"/>
          <p:cNvSpPr/>
          <p:nvPr/>
        </p:nvSpPr>
        <p:spPr>
          <a:xfrm>
            <a:off x="11283696" y="6245352"/>
            <a:ext cx="320040" cy="320040"/>
          </a:xfrm>
          <a:prstGeom prst="ellipse">
            <a:avLst/>
          </a:prstGeom>
          <a:solidFill>
            <a:srgbClr val="E9F0F6"/>
          </a:solidFill>
          <a:ln w="9525">
            <a:solidFill>
              <a:srgbClr val="DDE6EC"/>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2F6690"/>
                </a:solidFill>
                <a:latin typeface="Calibri" pitchFamily="34" charset="0"/>
                <a:ea typeface="Calibri" pitchFamily="34" charset="-122"/>
                <a:cs typeface="Calibri" pitchFamily="34" charset="-120"/>
              </a:rPr>
              <a:t>21</a:t>
            </a:r>
            <a:endParaRPr lang="en-US" sz="1000" dirty="0"/>
          </a:p>
        </p:txBody>
      </p:sp>
      <p:sp>
        <p:nvSpPr>
          <p:cNvPr id="6" name="Text 3"/>
          <p:cNvSpPr/>
          <p:nvPr/>
        </p:nvSpPr>
        <p:spPr>
          <a:xfrm>
            <a:off x="566928" y="384048"/>
            <a:ext cx="11055096" cy="237744"/>
          </a:xfrm>
          <a:prstGeom prst="rect">
            <a:avLst/>
          </a:prstGeom>
          <a:noFill/>
          <a:ln/>
        </p:spPr>
        <p:txBody>
          <a:bodyPr wrap="square" lIns="0" tIns="0" rIns="0" bIns="0" rtlCol="0" anchor="ctr"/>
          <a:lstStyle/>
          <a:p>
            <a:pPr indent="0" marL="0">
              <a:buNone/>
            </a:pPr>
            <a:r>
              <a:rPr lang="en-US" sz="1050" b="1" spc="160" kern="0" dirty="0">
                <a:solidFill>
                  <a:srgbClr val="C85A34"/>
                </a:solidFill>
                <a:latin typeface="Calibri" pitchFamily="34" charset="0"/>
                <a:ea typeface="Calibri" pitchFamily="34" charset="-122"/>
                <a:cs typeface="Calibri" pitchFamily="34" charset="-120"/>
              </a:rPr>
              <a:t>NEXT STEPS</a:t>
            </a:r>
            <a:endParaRPr lang="en-US" sz="1050" dirty="0"/>
          </a:p>
        </p:txBody>
      </p:sp>
      <p:sp>
        <p:nvSpPr>
          <p:cNvPr id="7" name="Text 4"/>
          <p:cNvSpPr/>
          <p:nvPr/>
        </p:nvSpPr>
        <p:spPr>
          <a:xfrm>
            <a:off x="566928" y="658368"/>
            <a:ext cx="11055096" cy="603504"/>
          </a:xfrm>
          <a:prstGeom prst="rect">
            <a:avLst/>
          </a:prstGeom>
          <a:noFill/>
          <a:ln/>
        </p:spPr>
        <p:txBody>
          <a:bodyPr wrap="square" lIns="0" tIns="0" rIns="0" bIns="0" rtlCol="0" anchor="ctr"/>
          <a:lstStyle/>
          <a:p>
            <a:pPr indent="0" marL="0">
              <a:buNone/>
            </a:pPr>
            <a:r>
              <a:rPr lang="en-US" sz="2800" b="1" dirty="0">
                <a:solidFill>
                  <a:srgbClr val="1F4A68"/>
                </a:solidFill>
                <a:latin typeface="Cambria" pitchFamily="34" charset="0"/>
                <a:ea typeface="Cambria" pitchFamily="34" charset="-122"/>
                <a:cs typeface="Cambria" pitchFamily="34" charset="-120"/>
              </a:rPr>
              <a:t>What would strengthen this work</a:t>
            </a:r>
            <a:endParaRPr lang="en-US" sz="2800" dirty="0"/>
          </a:p>
        </p:txBody>
      </p:sp>
      <p:sp>
        <p:nvSpPr>
          <p:cNvPr id="8" name="Text 5"/>
          <p:cNvSpPr/>
          <p:nvPr/>
        </p:nvSpPr>
        <p:spPr>
          <a:xfrm>
            <a:off x="566928" y="1371600"/>
            <a:ext cx="10689336" cy="384048"/>
          </a:xfrm>
          <a:prstGeom prst="rect">
            <a:avLst/>
          </a:prstGeom>
          <a:noFill/>
          <a:ln/>
        </p:spPr>
        <p:txBody>
          <a:bodyPr wrap="square" lIns="0" tIns="0" rIns="0" bIns="0" rtlCol="0" anchor="t"/>
          <a:lstStyle/>
          <a:p>
            <a:pPr indent="0" marL="0">
              <a:buNone/>
            </a:pPr>
            <a:r>
              <a:rPr lang="en-US" sz="1350" dirty="0">
                <a:solidFill>
                  <a:srgbClr val="4B6072"/>
                </a:solidFill>
                <a:latin typeface="Calibri" pitchFamily="34" charset="0"/>
                <a:ea typeface="Calibri" pitchFamily="34" charset="-122"/>
                <a:cs typeface="Calibri" pitchFamily="34" charset="-120"/>
              </a:rPr>
              <a:t>Ordered by how much each one would change what we are allowed to say.</a:t>
            </a:r>
            <a:endParaRPr lang="en-US" sz="1350" dirty="0"/>
          </a:p>
        </p:txBody>
      </p:sp>
      <p:sp>
        <p:nvSpPr>
          <p:cNvPr id="9" name="Shape 6"/>
          <p:cNvSpPr/>
          <p:nvPr/>
        </p:nvSpPr>
        <p:spPr>
          <a:xfrm>
            <a:off x="566928" y="2185416"/>
            <a:ext cx="365760" cy="365760"/>
          </a:xfrm>
          <a:prstGeom prst="ellipse">
            <a:avLst/>
          </a:prstGeom>
          <a:solidFill>
            <a:srgbClr val="2F6690"/>
          </a:solidFill>
          <a:ln w="6350">
            <a:solidFill>
              <a:srgbClr val="2F6690"/>
            </a:solidFill>
            <a:prstDash val="solid"/>
          </a:ln>
        </p:spPr>
      </p:sp>
      <p:sp>
        <p:nvSpPr>
          <p:cNvPr id="10" name="Text 7"/>
          <p:cNvSpPr/>
          <p:nvPr/>
        </p:nvSpPr>
        <p:spPr>
          <a:xfrm>
            <a:off x="566928" y="2185416"/>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1" name="Text 8"/>
          <p:cNvSpPr/>
          <p:nvPr/>
        </p:nvSpPr>
        <p:spPr>
          <a:xfrm>
            <a:off x="1097280" y="2148840"/>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Have a physiotherapist review the pose bank and the tolerances</a:t>
            </a:r>
            <a:endParaRPr lang="en-US" sz="1500" dirty="0"/>
          </a:p>
        </p:txBody>
      </p:sp>
      <p:sp>
        <p:nvSpPr>
          <p:cNvPr id="12" name="Text 9"/>
          <p:cNvSpPr/>
          <p:nvPr/>
        </p:nvSpPr>
        <p:spPr>
          <a:xfrm>
            <a:off x="1097280" y="2441448"/>
            <a:ext cx="10524744" cy="58521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This converts engineering judgement into a reviewed reference, and it improves the coach and the illustrations at once.</a:t>
            </a:r>
            <a:endParaRPr lang="en-US" sz="1200" dirty="0"/>
          </a:p>
        </p:txBody>
      </p:sp>
      <p:sp>
        <p:nvSpPr>
          <p:cNvPr id="13" name="Shape 10"/>
          <p:cNvSpPr/>
          <p:nvPr/>
        </p:nvSpPr>
        <p:spPr>
          <a:xfrm>
            <a:off x="566928" y="3118104"/>
            <a:ext cx="365760" cy="365760"/>
          </a:xfrm>
          <a:prstGeom prst="ellipse">
            <a:avLst/>
          </a:prstGeom>
          <a:solidFill>
            <a:srgbClr val="2F6690"/>
          </a:solidFill>
          <a:ln w="6350">
            <a:solidFill>
              <a:srgbClr val="2F6690"/>
            </a:solidFill>
            <a:prstDash val="solid"/>
          </a:ln>
        </p:spPr>
      </p:sp>
      <p:sp>
        <p:nvSpPr>
          <p:cNvPr id="14" name="Text 11"/>
          <p:cNvSpPr/>
          <p:nvPr/>
        </p:nvSpPr>
        <p:spPr>
          <a:xfrm>
            <a:off x="566928" y="3118104"/>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5" name="Text 12"/>
          <p:cNvSpPr/>
          <p:nvPr/>
        </p:nvSpPr>
        <p:spPr>
          <a:xfrm>
            <a:off x="1097280" y="3081528"/>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Record a small consented dataset</a:t>
            </a:r>
            <a:endParaRPr lang="en-US" sz="1500" dirty="0"/>
          </a:p>
        </p:txBody>
      </p:sp>
      <p:sp>
        <p:nvSpPr>
          <p:cNvPr id="16" name="Text 13"/>
          <p:cNvSpPr/>
          <p:nvPr/>
        </p:nvSpPr>
        <p:spPr>
          <a:xfrm>
            <a:off x="1097280" y="3374136"/>
            <a:ext cx="10524744" cy="58521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Redraw every exploratory figure from real landmarks and see whether the class structure survives.</a:t>
            </a:r>
            <a:endParaRPr lang="en-US" sz="1200" dirty="0"/>
          </a:p>
        </p:txBody>
      </p:sp>
      <p:sp>
        <p:nvSpPr>
          <p:cNvPr id="17" name="Shape 14"/>
          <p:cNvSpPr/>
          <p:nvPr/>
        </p:nvSpPr>
        <p:spPr>
          <a:xfrm>
            <a:off x="566928" y="4050792"/>
            <a:ext cx="365760" cy="365760"/>
          </a:xfrm>
          <a:prstGeom prst="ellipse">
            <a:avLst/>
          </a:prstGeom>
          <a:solidFill>
            <a:srgbClr val="2F6690"/>
          </a:solidFill>
          <a:ln w="6350">
            <a:solidFill>
              <a:srgbClr val="2F6690"/>
            </a:solidFill>
            <a:prstDash val="solid"/>
          </a:ln>
        </p:spPr>
      </p:sp>
      <p:sp>
        <p:nvSpPr>
          <p:cNvPr id="18" name="Text 15"/>
          <p:cNvSpPr/>
          <p:nvPr/>
        </p:nvSpPr>
        <p:spPr>
          <a:xfrm>
            <a:off x="566928" y="405079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9" name="Text 16"/>
          <p:cNvSpPr/>
          <p:nvPr/>
        </p:nvSpPr>
        <p:spPr>
          <a:xfrm>
            <a:off x="1097280" y="4014216"/>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Add temporal features and re-run the projection</a:t>
            </a:r>
            <a:endParaRPr lang="en-US" sz="1500" dirty="0"/>
          </a:p>
        </p:txBody>
      </p:sp>
      <p:sp>
        <p:nvSpPr>
          <p:cNvPr id="20" name="Text 17"/>
          <p:cNvSpPr/>
          <p:nvPr/>
        </p:nvSpPr>
        <p:spPr>
          <a:xfrm>
            <a:off x="1097280" y="4306824"/>
            <a:ext cx="10524744" cy="58521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Movement over time is exactly what separates the classes that currently overlap in the projection.</a:t>
            </a:r>
            <a:endParaRPr lang="en-US" sz="1200" dirty="0"/>
          </a:p>
        </p:txBody>
      </p:sp>
      <p:sp>
        <p:nvSpPr>
          <p:cNvPr id="21" name="Shape 18"/>
          <p:cNvSpPr/>
          <p:nvPr/>
        </p:nvSpPr>
        <p:spPr>
          <a:xfrm>
            <a:off x="566928" y="4983480"/>
            <a:ext cx="365760" cy="365760"/>
          </a:xfrm>
          <a:prstGeom prst="ellipse">
            <a:avLst/>
          </a:prstGeom>
          <a:solidFill>
            <a:srgbClr val="2F6690"/>
          </a:solidFill>
          <a:ln w="6350">
            <a:solidFill>
              <a:srgbClr val="2F6690"/>
            </a:solidFill>
            <a:prstDash val="solid"/>
          </a:ln>
        </p:spPr>
      </p:sp>
      <p:sp>
        <p:nvSpPr>
          <p:cNvPr id="22" name="Text 19"/>
          <p:cNvSpPr/>
          <p:nvPr/>
        </p:nvSpPr>
        <p:spPr>
          <a:xfrm>
            <a:off x="566928" y="498348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3" name="Text 20"/>
          <p:cNvSpPr/>
          <p:nvPr/>
        </p:nvSpPr>
        <p:spPr>
          <a:xfrm>
            <a:off x="1097280" y="4946904"/>
            <a:ext cx="10524744" cy="292608"/>
          </a:xfrm>
          <a:prstGeom prst="rect">
            <a:avLst/>
          </a:prstGeom>
          <a:noFill/>
          <a:ln/>
        </p:spPr>
        <p:txBody>
          <a:bodyPr wrap="square" lIns="0" tIns="0" rIns="0" bIns="0" rtlCol="0" anchor="ctr"/>
          <a:lstStyle/>
          <a:p>
            <a:pPr indent="0" marL="0">
              <a:buNone/>
            </a:pPr>
            <a:r>
              <a:rPr lang="en-US" sz="1500" b="1" dirty="0">
                <a:solidFill>
                  <a:srgbClr val="1C2B3A"/>
                </a:solidFill>
                <a:latin typeface="Calibri" pitchFamily="34" charset="0"/>
                <a:ea typeface="Calibri" pitchFamily="34" charset="-122"/>
                <a:cs typeface="Calibri" pitchFamily="34" charset="-120"/>
              </a:rPr>
              <a:t>Evaluate the coach with families</a:t>
            </a:r>
            <a:endParaRPr lang="en-US" sz="1500" dirty="0"/>
          </a:p>
        </p:txBody>
      </p:sp>
      <p:sp>
        <p:nvSpPr>
          <p:cNvPr id="24" name="Text 21"/>
          <p:cNvSpPr/>
          <p:nvPr/>
        </p:nvSpPr>
        <p:spPr>
          <a:xfrm>
            <a:off x="1097280" y="5239512"/>
            <a:ext cx="10524744" cy="585216"/>
          </a:xfrm>
          <a:prstGeom prst="rect">
            <a:avLst/>
          </a:prstGeom>
          <a:noFill/>
          <a:ln/>
        </p:spPr>
        <p:txBody>
          <a:bodyPr wrap="square" lIns="0" tIns="0" rIns="0" bIns="0" rtlCol="0" anchor="t"/>
          <a:lstStyle/>
          <a:p>
            <a:pPr indent="0" marL="0">
              <a:buNone/>
            </a:pPr>
            <a:r>
              <a:rPr lang="en-US" sz="1200" dirty="0">
                <a:solidFill>
                  <a:srgbClr val="4B6072"/>
                </a:solidFill>
                <a:latin typeface="Calibri" pitchFamily="34" charset="0"/>
                <a:ea typeface="Calibri" pitchFamily="34" charset="-122"/>
                <a:cs typeface="Calibri" pitchFamily="34" charset="-120"/>
              </a:rPr>
              <a:t>Measure whether the cue is understood and acted on, which no figure in this deck can tell us.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4A68"/>
        </a:solidFill>
      </p:bgPr>
    </p:bg>
    <p:spTree>
      <p:nvGrpSpPr>
        <p:cNvPr id="1" name=""/>
        <p:cNvGrpSpPr/>
        <p:nvPr/>
      </p:nvGrpSpPr>
      <p:grpSpPr>
        <a:xfrm>
          <a:off x="0" y="0"/>
          <a:ext cx="0" cy="0"/>
          <a:chOff x="0" y="0"/>
          <a:chExt cx="0" cy="0"/>
        </a:xfrm>
      </p:grpSpPr>
      <p:sp>
        <p:nvSpPr>
          <p:cNvPr id="2" name="Text 0"/>
          <p:cNvSpPr/>
          <p:nvPr/>
        </p:nvSpPr>
        <p:spPr>
          <a:xfrm>
            <a:off x="566928" y="6263640"/>
            <a:ext cx="8595360" cy="274320"/>
          </a:xfrm>
          <a:prstGeom prst="rect">
            <a:avLst/>
          </a:prstGeom>
          <a:noFill/>
          <a:ln/>
        </p:spPr>
        <p:txBody>
          <a:bodyPr wrap="square" lIns="0" tIns="0" rIns="0" bIns="0" rtlCol="0" anchor="ctr"/>
          <a:lstStyle/>
          <a:p>
            <a:pPr indent="0" marL="0">
              <a:buNone/>
            </a:pPr>
            <a:r>
              <a:rPr lang="en-US" sz="900" dirty="0">
                <a:solidFill>
                  <a:srgbClr val="B9CEDD"/>
                </a:solidFill>
                <a:latin typeface="Calibri" pitchFamily="34" charset="0"/>
                <a:ea typeface="Calibri" pitchFamily="34" charset="-122"/>
                <a:cs typeface="Calibri" pitchFamily="34" charset="-120"/>
              </a:rPr>
              <a:t>A60 AI4Mobility  ·  Nandi Reddy Shashidhar Reddy  ·  Team Deepminds</a:t>
            </a:r>
            <a:endParaRPr lang="en-US" sz="900" dirty="0"/>
          </a:p>
        </p:txBody>
      </p:sp>
      <p:sp>
        <p:nvSpPr>
          <p:cNvPr id="3" name="Shape 1"/>
          <p:cNvSpPr/>
          <p:nvPr/>
        </p:nvSpPr>
        <p:spPr>
          <a:xfrm>
            <a:off x="11283696" y="6245352"/>
            <a:ext cx="320040" cy="320040"/>
          </a:xfrm>
          <a:prstGeom prst="ellipse">
            <a:avLst/>
          </a:prstGeom>
          <a:solidFill>
            <a:srgbClr val="E8734A"/>
          </a:solidFill>
          <a:ln w="9525">
            <a:solidFill>
              <a:srgbClr val="E8734A"/>
            </a:solidFill>
            <a:prstDash val="solid"/>
          </a:ln>
        </p:spPr>
      </p:sp>
      <p:sp>
        <p:nvSpPr>
          <p:cNvPr id="4" name="Text 2"/>
          <p:cNvSpPr/>
          <p:nvPr/>
        </p:nvSpPr>
        <p:spPr>
          <a:xfrm>
            <a:off x="11283696" y="6245352"/>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22</a:t>
            </a:r>
            <a:endParaRPr lang="en-US" sz="1000" dirty="0"/>
          </a:p>
        </p:txBody>
      </p:sp>
      <p:sp>
        <p:nvSpPr>
          <p:cNvPr id="6" name="Text 3"/>
          <p:cNvSpPr/>
          <p:nvPr/>
        </p:nvSpPr>
        <p:spPr>
          <a:xfrm>
            <a:off x="566928" y="786384"/>
            <a:ext cx="11055096" cy="274320"/>
          </a:xfrm>
          <a:prstGeom prst="rect">
            <a:avLst/>
          </a:prstGeom>
          <a:noFill/>
          <a:ln/>
        </p:spPr>
        <p:txBody>
          <a:bodyPr wrap="square" lIns="0" tIns="0" rIns="0" bIns="0" rtlCol="0" anchor="ctr"/>
          <a:lstStyle/>
          <a:p>
            <a:pPr indent="0" marL="0">
              <a:buNone/>
            </a:pPr>
            <a:r>
              <a:rPr lang="en-US" sz="1100" b="1" spc="200" kern="0" dirty="0">
                <a:solidFill>
                  <a:srgbClr val="E8734A"/>
                </a:solidFill>
                <a:latin typeface="Calibri" pitchFamily="34" charset="0"/>
                <a:ea typeface="Calibri" pitchFamily="34" charset="-122"/>
                <a:cs typeface="Calibri" pitchFamily="34" charset="-120"/>
              </a:rPr>
              <a:t>IN CLOSING</a:t>
            </a:r>
            <a:endParaRPr lang="en-US" sz="1100" dirty="0"/>
          </a:p>
        </p:txBody>
      </p:sp>
      <p:sp>
        <p:nvSpPr>
          <p:cNvPr id="7" name="Text 4"/>
          <p:cNvSpPr/>
          <p:nvPr/>
        </p:nvSpPr>
        <p:spPr>
          <a:xfrm>
            <a:off x="566928" y="1133856"/>
            <a:ext cx="10607040" cy="9144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One skeleton, one pose bank, one honest set of caveats</a:t>
            </a:r>
            <a:endParaRPr lang="en-US" sz="3200" dirty="0"/>
          </a:p>
        </p:txBody>
      </p:sp>
      <p:sp>
        <p:nvSpPr>
          <p:cNvPr id="8" name="Shape 5"/>
          <p:cNvSpPr/>
          <p:nvPr/>
        </p:nvSpPr>
        <p:spPr>
          <a:xfrm>
            <a:off x="566928" y="2286000"/>
            <a:ext cx="3514344" cy="1773936"/>
          </a:xfrm>
          <a:prstGeom prst="roundRect">
            <a:avLst>
              <a:gd name="adj" fmla="val 3608"/>
            </a:avLst>
          </a:prstGeom>
          <a:solidFill>
            <a:srgbClr val="2F6690"/>
          </a:solidFill>
          <a:ln w="9525">
            <a:solidFill>
              <a:srgbClr val="3C7AA6"/>
            </a:solidFill>
            <a:prstDash val="solid"/>
          </a:ln>
        </p:spPr>
      </p:sp>
      <p:sp>
        <p:nvSpPr>
          <p:cNvPr id="9" name="Text 6"/>
          <p:cNvSpPr/>
          <p:nvPr/>
        </p:nvSpPr>
        <p:spPr>
          <a:xfrm>
            <a:off x="786384" y="2450592"/>
            <a:ext cx="3075432"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Consistent by construction</a:t>
            </a:r>
            <a:endParaRPr lang="en-US" sz="1400" dirty="0"/>
          </a:p>
        </p:txBody>
      </p:sp>
      <p:sp>
        <p:nvSpPr>
          <p:cNvPr id="10" name="Text 7"/>
          <p:cNvSpPr/>
          <p:nvPr/>
        </p:nvSpPr>
        <p:spPr>
          <a:xfrm>
            <a:off x="786384" y="2871216"/>
            <a:ext cx="3075432" cy="1060704"/>
          </a:xfrm>
          <a:prstGeom prst="rect">
            <a:avLst/>
          </a:prstGeom>
          <a:noFill/>
          <a:ln/>
        </p:spPr>
        <p:txBody>
          <a:bodyPr wrap="square" lIns="0" tIns="0" rIns="0" bIns="0" rtlCol="0" anchor="t"/>
          <a:lstStyle/>
          <a:p>
            <a:pPr indent="0" marL="0">
              <a:lnSpc>
                <a:spcPct val="105000"/>
              </a:lnSpc>
              <a:buNone/>
            </a:pPr>
            <a:r>
              <a:rPr lang="en-US" sz="1150" dirty="0">
                <a:solidFill>
                  <a:srgbClr val="E4EEF5"/>
                </a:solidFill>
                <a:latin typeface="Calibri" pitchFamily="34" charset="0"/>
                <a:ea typeface="Calibri" pitchFamily="34" charset="-122"/>
                <a:cs typeface="Calibri" pitchFamily="34" charset="-120"/>
              </a:rPr>
              <a:t>The notebook figures, the 46 illustrations and the live coach all describe the same body using the same connection list.</a:t>
            </a:r>
            <a:endParaRPr lang="en-US" sz="1150" dirty="0"/>
          </a:p>
        </p:txBody>
      </p:sp>
      <p:sp>
        <p:nvSpPr>
          <p:cNvPr id="11" name="Shape 8"/>
          <p:cNvSpPr/>
          <p:nvPr/>
        </p:nvSpPr>
        <p:spPr>
          <a:xfrm>
            <a:off x="4337304" y="2286000"/>
            <a:ext cx="3514344" cy="1773936"/>
          </a:xfrm>
          <a:prstGeom prst="roundRect">
            <a:avLst>
              <a:gd name="adj" fmla="val 3608"/>
            </a:avLst>
          </a:prstGeom>
          <a:solidFill>
            <a:srgbClr val="2F6690"/>
          </a:solidFill>
          <a:ln w="9525">
            <a:solidFill>
              <a:srgbClr val="3C7AA6"/>
            </a:solidFill>
            <a:prstDash val="solid"/>
          </a:ln>
        </p:spPr>
      </p:sp>
      <p:sp>
        <p:nvSpPr>
          <p:cNvPr id="12" name="Text 9"/>
          <p:cNvSpPr/>
          <p:nvPr/>
        </p:nvSpPr>
        <p:spPr>
          <a:xfrm>
            <a:off x="4556760" y="2450592"/>
            <a:ext cx="3075432"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Reviewed by eye, not just by code</a:t>
            </a:r>
            <a:endParaRPr lang="en-US" sz="1400" dirty="0"/>
          </a:p>
        </p:txBody>
      </p:sp>
      <p:sp>
        <p:nvSpPr>
          <p:cNvPr id="13" name="Text 10"/>
          <p:cNvSpPr/>
          <p:nvPr/>
        </p:nvSpPr>
        <p:spPr>
          <a:xfrm>
            <a:off x="4556760" y="2871216"/>
            <a:ext cx="3075432" cy="1060704"/>
          </a:xfrm>
          <a:prstGeom prst="rect">
            <a:avLst/>
          </a:prstGeom>
          <a:noFill/>
          <a:ln/>
        </p:spPr>
        <p:txBody>
          <a:bodyPr wrap="square" lIns="0" tIns="0" rIns="0" bIns="0" rtlCol="0" anchor="t"/>
          <a:lstStyle/>
          <a:p>
            <a:pPr indent="0" marL="0">
              <a:lnSpc>
                <a:spcPct val="105000"/>
              </a:lnSpc>
              <a:buNone/>
            </a:pPr>
            <a:r>
              <a:rPr lang="en-US" sz="1150" dirty="0">
                <a:solidFill>
                  <a:srgbClr val="E4EEF5"/>
                </a:solidFill>
                <a:latin typeface="Calibri" pitchFamily="34" charset="0"/>
                <a:ea typeface="Calibri" pitchFamily="34" charset="-122"/>
                <a:cs typeface="Calibri" pitchFamily="34" charset="-120"/>
              </a:rPr>
              <a:t>The coordinate inversion was only ever going to be caught by looking, and it changed how every later figure is checked.</a:t>
            </a:r>
            <a:endParaRPr lang="en-US" sz="1150" dirty="0"/>
          </a:p>
        </p:txBody>
      </p:sp>
      <p:sp>
        <p:nvSpPr>
          <p:cNvPr id="14" name="Shape 11"/>
          <p:cNvSpPr/>
          <p:nvPr/>
        </p:nvSpPr>
        <p:spPr>
          <a:xfrm>
            <a:off x="8107680" y="2286000"/>
            <a:ext cx="3514344" cy="1773936"/>
          </a:xfrm>
          <a:prstGeom prst="roundRect">
            <a:avLst>
              <a:gd name="adj" fmla="val 3608"/>
            </a:avLst>
          </a:prstGeom>
          <a:solidFill>
            <a:srgbClr val="2F6690"/>
          </a:solidFill>
          <a:ln w="9525">
            <a:solidFill>
              <a:srgbClr val="3C7AA6"/>
            </a:solidFill>
            <a:prstDash val="solid"/>
          </a:ln>
        </p:spPr>
      </p:sp>
      <p:sp>
        <p:nvSpPr>
          <p:cNvPr id="15" name="Text 12"/>
          <p:cNvSpPr/>
          <p:nvPr/>
        </p:nvSpPr>
        <p:spPr>
          <a:xfrm>
            <a:off x="8327136" y="2450592"/>
            <a:ext cx="3075432"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Careful with the claims</a:t>
            </a:r>
            <a:endParaRPr lang="en-US" sz="1400" dirty="0"/>
          </a:p>
        </p:txBody>
      </p:sp>
      <p:sp>
        <p:nvSpPr>
          <p:cNvPr id="16" name="Text 13"/>
          <p:cNvSpPr/>
          <p:nvPr/>
        </p:nvSpPr>
        <p:spPr>
          <a:xfrm>
            <a:off x="8327136" y="2871216"/>
            <a:ext cx="3075432" cy="1060704"/>
          </a:xfrm>
          <a:prstGeom prst="rect">
            <a:avLst/>
          </a:prstGeom>
          <a:noFill/>
          <a:ln/>
        </p:spPr>
        <p:txBody>
          <a:bodyPr wrap="square" lIns="0" tIns="0" rIns="0" bIns="0" rtlCol="0" anchor="t"/>
          <a:lstStyle/>
          <a:p>
            <a:pPr indent="0" marL="0">
              <a:lnSpc>
                <a:spcPct val="105000"/>
              </a:lnSpc>
              <a:buNone/>
            </a:pPr>
            <a:r>
              <a:rPr lang="en-US" sz="1150" dirty="0">
                <a:solidFill>
                  <a:srgbClr val="E4EEF5"/>
                </a:solidFill>
                <a:latin typeface="Calibri" pitchFamily="34" charset="0"/>
                <a:ea typeface="Calibri" pitchFamily="34" charset="-122"/>
                <a:cs typeface="Calibri" pitchFamily="34" charset="-120"/>
              </a:rPr>
              <a:t>52.3% of variance is an indication of separability; 20 to 24 degree tolerances are judgement, not clinical thresholds.</a:t>
            </a:r>
            <a:endParaRPr lang="en-US" sz="1150" dirty="0"/>
          </a:p>
        </p:txBody>
      </p:sp>
      <p:sp>
        <p:nvSpPr>
          <p:cNvPr id="17" name="Text 14"/>
          <p:cNvSpPr/>
          <p:nvPr/>
        </p:nvSpPr>
        <p:spPr>
          <a:xfrm>
            <a:off x="566928" y="4315968"/>
            <a:ext cx="10607040" cy="822960"/>
          </a:xfrm>
          <a:prstGeom prst="rect">
            <a:avLst/>
          </a:prstGeom>
          <a:noFill/>
          <a:ln/>
        </p:spPr>
        <p:txBody>
          <a:bodyPr wrap="square" lIns="0" tIns="0" rIns="0" bIns="0" rtlCol="0" anchor="t"/>
          <a:lstStyle/>
          <a:p>
            <a:pPr indent="0" marL="0">
              <a:lnSpc>
                <a:spcPct val="110000"/>
              </a:lnSpc>
              <a:buNone/>
            </a:pPr>
            <a:r>
              <a:rPr lang="en-US" sz="1700" i="1" dirty="0">
                <a:solidFill>
                  <a:srgbClr val="FFFFFF"/>
                </a:solidFill>
                <a:latin typeface="Cambria" pitchFamily="34" charset="0"/>
                <a:ea typeface="Cambria" pitchFamily="34" charset="-122"/>
                <a:cs typeface="Cambria" pitchFamily="34" charset="-120"/>
              </a:rPr>
              <a:t>A picture that is consistent with the data is useful. A picture that is mistaken for evidence is not.</a:t>
            </a:r>
            <a:endParaRPr lang="en-US" sz="1700" dirty="0"/>
          </a:p>
        </p:txBody>
      </p:sp>
      <p:sp>
        <p:nvSpPr>
          <p:cNvPr id="18" name="Text 15"/>
          <p:cNvSpPr/>
          <p:nvPr/>
        </p:nvSpPr>
        <p:spPr>
          <a:xfrm>
            <a:off x="566928" y="5248656"/>
            <a:ext cx="10607040" cy="731520"/>
          </a:xfrm>
          <a:prstGeom prst="rect">
            <a:avLst/>
          </a:prstGeom>
          <a:noFill/>
          <a:ln/>
        </p:spPr>
        <p:txBody>
          <a:bodyPr wrap="square" lIns="0" tIns="0" rIns="0" bIns="0" rtlCol="0" anchor="t"/>
          <a:lstStyle/>
          <a:p>
            <a:pPr indent="0" marL="0">
              <a:lnSpc>
                <a:spcPct val="110000"/>
              </a:lnSpc>
              <a:buNone/>
            </a:pPr>
            <a:r>
              <a:rPr lang="en-US" sz="1200" dirty="0">
                <a:solidFill>
                  <a:srgbClr val="B9CEDD"/>
                </a:solidFill>
                <a:latin typeface="Calibri" pitchFamily="34" charset="0"/>
                <a:ea typeface="Calibri" pitchFamily="34" charset="-122"/>
                <a:cs typeface="Calibri" pitchFamily="34" charset="-120"/>
              </a:rPr>
              <a:t>Nandi Reddy Shashidhar Reddy  ·  Pose estimation and visualisation lead</a:t>
            </a:r>
            <a:endParaRPr lang="en-US" sz="1200" dirty="0"/>
          </a:p>
          <a:p>
            <a:pPr indent="0" marL="0">
              <a:lnSpc>
                <a:spcPct val="110000"/>
              </a:lnSpc>
              <a:buNone/>
            </a:pPr>
            <a:r>
              <a:rPr lang="en-US" sz="1200" dirty="0">
                <a:solidFill>
                  <a:srgbClr val="B9CEDD"/>
                </a:solidFill>
                <a:latin typeface="Calibri" pitchFamily="34" charset="0"/>
                <a:ea typeface="Calibri" pitchFamily="34" charset="-122"/>
                <a:cs typeface="Calibri" pitchFamily="34" charset="-120"/>
              </a:rPr>
              <a:t>Project A60  ·  Module 55-708252  ·  Sheffield Hallam University  ·  Team Deepminds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Sheffield Hallam University — Team Deepminds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AI4Mobility — pose estimation and visualisation</dc:title>
  <dc:subject>A60 AI4Mobility, module 55-708252</dc:subject>
  <dc:creator>Nandi Reddy Shashidhar Reddy</dc:creator>
  <cp:lastModifiedBy>Nandi Reddy Shashidhar Reddy</cp:lastModifiedBy>
  <cp:revision>1</cp:revision>
  <dcterms:created xsi:type="dcterms:W3CDTF">2026-08-18T00:09:17Z</dcterms:created>
  <dcterms:modified xsi:type="dcterms:W3CDTF">2026-08-18T00:09:17Z</dcterms:modified>
</cp:coreProperties>
</file>